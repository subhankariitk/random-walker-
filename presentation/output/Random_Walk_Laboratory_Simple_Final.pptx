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46B422-0146-4BF1-8E39-0BAC58D433F0}" type="datetimeFigureOut">
              <a:rPr lang="en-IN" smtClean="0"/>
              <a:t>09-10-2026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F20850C-135A-4564-9C45-92AF18437970}" type="slidenum">
              <a:rPr lang="en-IN" smtClean="0"/>
              <a:t>‹#›</a:t>
            </a:fld>
            <a:endParaRPr lang="en-IN"/>
          </a:p>
        </p:txBody>
      </p:sp>
    </p:spTree>
    <p:extLst>
      <p:ext uri="{BB962C8B-B14F-4D97-AF65-F5344CB8AC3E}">
        <p14:creationId xmlns:p14="http://schemas.microsoft.com/office/powerpoint/2010/main" val="3703533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Current project: React and Three.js frontend, FastAPI backend, NumPy simulation engine. Source: frontend/src/App.jsx; backend/main.py; src/simulation/. Cover image: presentation/assets/hero_walks.png.</a:t>
            </a:r>
          </a:p>
        </p:txBody>
      </p:sp>
      <p:sp>
        <p:nvSpPr>
          <p:cNvPr id="4" name="Slide Number Placeholder 3"/>
          <p:cNvSpPr>
            <a:spLocks noGrp="1"/>
          </p:cNvSpPr>
          <p:nvPr>
            <p:ph type="sldNum" sz="quarter" idx="5"/>
          </p:nvPr>
        </p:nvSpPr>
        <p:spPr/>
        <p:txBody>
          <a:bodyPr/>
          <a:lstStyle/>
          <a:p>
            <a:fld id="{4F20850C-135A-4564-9C45-92AF18437970}" type="slidenum">
              <a:rPr lang="en-IN" smtClean="0"/>
              <a:t>1</a:t>
            </a:fld>
            <a:endParaRPr lang="en-IN"/>
          </a:p>
        </p:txBody>
      </p:sp>
    </p:spTree>
    <p:extLst>
      <p:ext uri="{BB962C8B-B14F-4D97-AF65-F5344CB8AC3E}">
        <p14:creationId xmlns:p14="http://schemas.microsoft.com/office/powerpoint/2010/main" val="18893082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src/simulation/random_walk.py, generate_steps and simulate_walk. Code is a shortened equivalent of the existing implementation; names axis and direction replace coord_idx and directions. np.cumsum forms the path after the starting point.</a:t>
            </a:r>
            <a:endParaRPr lang="en-IN"/>
          </a:p>
        </p:txBody>
      </p:sp>
      <p:sp>
        <p:nvSpPr>
          <p:cNvPr id="4" name="Slide Number Placeholder 3"/>
          <p:cNvSpPr>
            <a:spLocks noGrp="1"/>
          </p:cNvSpPr>
          <p:nvPr>
            <p:ph type="sldNum" sz="quarter" idx="5"/>
          </p:nvPr>
        </p:nvSpPr>
        <p:spPr/>
        <p:txBody>
          <a:bodyPr/>
          <a:lstStyle/>
          <a:p>
            <a:fld id="{4F20850C-135A-4564-9C45-92AF18437970}" type="slidenum">
              <a:rPr lang="en-IN" smtClean="0"/>
              <a:t>2</a:t>
            </a:fld>
            <a:endParaRPr lang="en-IN"/>
          </a:p>
        </p:txBody>
      </p:sp>
    </p:spTree>
    <p:extLst>
      <p:ext uri="{BB962C8B-B14F-4D97-AF65-F5344CB8AC3E}">
        <p14:creationId xmlns:p14="http://schemas.microsoft.com/office/powerpoint/2010/main" val="16939988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src/simulation/ensemble.py, simulate_ensemble. Shortened code preserves the chunked array update; t is the local step within a chunk. frontend/src/App.jsx sends separate simulate and ensemble requests. Visual sample paths are not a subset of the statistical ensemble.</a:t>
            </a:r>
            <a:endParaRPr lang="en-IN"/>
          </a:p>
        </p:txBody>
      </p:sp>
      <p:sp>
        <p:nvSpPr>
          <p:cNvPr id="4" name="Slide Number Placeholder 3"/>
          <p:cNvSpPr>
            <a:spLocks noGrp="1"/>
          </p:cNvSpPr>
          <p:nvPr>
            <p:ph type="sldNum" sz="quarter" idx="5"/>
          </p:nvPr>
        </p:nvSpPr>
        <p:spPr/>
        <p:txBody>
          <a:bodyPr/>
          <a:lstStyle/>
          <a:p>
            <a:fld id="{4F20850C-135A-4564-9C45-92AF18437970}" type="slidenum">
              <a:rPr lang="en-IN" smtClean="0"/>
              <a:t>3</a:t>
            </a:fld>
            <a:endParaRPr lang="en-IN"/>
          </a:p>
        </p:txBody>
      </p:sp>
    </p:spTree>
    <p:extLst>
      <p:ext uri="{BB962C8B-B14F-4D97-AF65-F5344CB8AC3E}">
        <p14:creationId xmlns:p14="http://schemas.microsoft.com/office/powerpoint/2010/main" val="20382154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Sources: presentation/assets/trajectories.png; frontend/src/components/WalkerCanvas.jsx; frontend/src/components/Controls.jsx. The asset shows example 1D-3D paths, not a capture of the latest web UI. Current 4D/5D views allow any ordered selection of three distinct coordinates.</a:t>
            </a:r>
          </a:p>
        </p:txBody>
      </p:sp>
      <p:sp>
        <p:nvSpPr>
          <p:cNvPr id="4" name="Slide Number Placeholder 3"/>
          <p:cNvSpPr>
            <a:spLocks noGrp="1"/>
          </p:cNvSpPr>
          <p:nvPr>
            <p:ph type="sldNum" sz="quarter" idx="5"/>
          </p:nvPr>
        </p:nvSpPr>
        <p:spPr/>
        <p:txBody>
          <a:bodyPr/>
          <a:lstStyle/>
          <a:p>
            <a:fld id="{4F20850C-135A-4564-9C45-92AF18437970}" type="slidenum">
              <a:rPr lang="en-IN" smtClean="0"/>
              <a:t>4</a:t>
            </a:fld>
            <a:endParaRPr lang="en-IN"/>
          </a:p>
        </p:txBody>
      </p:sp>
    </p:spTree>
    <p:extLst>
      <p:ext uri="{BB962C8B-B14F-4D97-AF65-F5344CB8AC3E}">
        <p14:creationId xmlns:p14="http://schemas.microsoft.com/office/powerpoint/2010/main" val="40365919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presentation/assets/results.json, msd. Saved experiment: 2,000 walkers, 2,000 steps, dimensions 1-5. Values are rounded for readability. MSD is the mean of the sum of squared endpoint coordinates; the expected value is the step count for this unit lattice walk.</a:t>
            </a:r>
            <a:endParaRPr lang="en-IN"/>
          </a:p>
        </p:txBody>
      </p:sp>
      <p:sp>
        <p:nvSpPr>
          <p:cNvPr id="4" name="Slide Number Placeholder 3"/>
          <p:cNvSpPr>
            <a:spLocks noGrp="1"/>
          </p:cNvSpPr>
          <p:nvPr>
            <p:ph type="sldNum" sz="quarter" idx="5"/>
          </p:nvPr>
        </p:nvSpPr>
        <p:spPr/>
        <p:txBody>
          <a:bodyPr/>
          <a:lstStyle/>
          <a:p>
            <a:fld id="{4F20850C-135A-4564-9C45-92AF18437970}" type="slidenum">
              <a:rPr lang="en-IN" smtClean="0"/>
              <a:t>5</a:t>
            </a:fld>
            <a:endParaRPr lang="en-IN"/>
          </a:p>
        </p:txBody>
      </p:sp>
    </p:spTree>
    <p:extLst>
      <p:ext uri="{BB962C8B-B14F-4D97-AF65-F5344CB8AC3E}">
        <p14:creationId xmlns:p14="http://schemas.microsoft.com/office/powerpoint/2010/main" val="20929794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presentation/assets/distributions.png and results.json, dist. Saved experiment: 1,000 steps and 20,000 walkers. The theoretical curves are continuous large-step approximations, not exact finite-step lattice probabilities. Raw KS test conclusions from the original deck are intentionally omitted.</a:t>
            </a:r>
            <a:endParaRPr lang="en-IN"/>
          </a:p>
        </p:txBody>
      </p:sp>
      <p:sp>
        <p:nvSpPr>
          <p:cNvPr id="4" name="Slide Number Placeholder 3"/>
          <p:cNvSpPr>
            <a:spLocks noGrp="1"/>
          </p:cNvSpPr>
          <p:nvPr>
            <p:ph type="sldNum" sz="quarter" idx="5"/>
          </p:nvPr>
        </p:nvSpPr>
        <p:spPr/>
        <p:txBody>
          <a:bodyPr/>
          <a:lstStyle/>
          <a:p>
            <a:fld id="{4F20850C-135A-4564-9C45-92AF18437970}" type="slidenum">
              <a:rPr lang="en-IN" smtClean="0"/>
              <a:t>6</a:t>
            </a:fld>
            <a:endParaRPr lang="en-IN"/>
          </a:p>
        </p:txBody>
      </p:sp>
    </p:spTree>
    <p:extLst>
      <p:ext uri="{BB962C8B-B14F-4D97-AF65-F5344CB8AC3E}">
        <p14:creationId xmlns:p14="http://schemas.microsoft.com/office/powerpoint/2010/main" val="27002520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presentation/assets/results.json, rec. 3,000 walkers, 10,000 steps per walker. Percentages are finite-run observations of at least one return. They are not proof of infinite-time recurrence. Return detection checks that every coordinate equals zero at a step.</a:t>
            </a:r>
            <a:endParaRPr lang="en-IN"/>
          </a:p>
        </p:txBody>
      </p:sp>
      <p:sp>
        <p:nvSpPr>
          <p:cNvPr id="4" name="Slide Number Placeholder 3"/>
          <p:cNvSpPr>
            <a:spLocks noGrp="1"/>
          </p:cNvSpPr>
          <p:nvPr>
            <p:ph type="sldNum" sz="quarter" idx="5"/>
          </p:nvPr>
        </p:nvSpPr>
        <p:spPr/>
        <p:txBody>
          <a:bodyPr/>
          <a:lstStyle/>
          <a:p>
            <a:fld id="{4F20850C-135A-4564-9C45-92AF18437970}" type="slidenum">
              <a:rPr lang="en-IN" smtClean="0"/>
              <a:t>7</a:t>
            </a:fld>
            <a:endParaRPr lang="en-IN"/>
          </a:p>
        </p:txBody>
      </p:sp>
    </p:spTree>
    <p:extLst>
      <p:ext uri="{BB962C8B-B14F-4D97-AF65-F5344CB8AC3E}">
        <p14:creationId xmlns:p14="http://schemas.microsoft.com/office/powerpoint/2010/main" val="8894736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Sources: src/simulation/ensemble.py, _record; src/analysis/statistics.py, compute_ensemble_statistics; frontend/src/App.jsx; backend/main.py, inspect_ensemble_walker and export_ensemble. Code is a shortened equivalent of the MSD calculation. Full ensemble paths are replayed from the recorded seed for export rather than retained during a normal run.</a:t>
            </a:r>
            <a:endParaRPr lang="en-IN"/>
          </a:p>
        </p:txBody>
      </p:sp>
      <p:sp>
        <p:nvSpPr>
          <p:cNvPr id="4" name="Slide Number Placeholder 3"/>
          <p:cNvSpPr>
            <a:spLocks noGrp="1"/>
          </p:cNvSpPr>
          <p:nvPr>
            <p:ph type="sldNum" sz="quarter" idx="5"/>
          </p:nvPr>
        </p:nvSpPr>
        <p:spPr/>
        <p:txBody>
          <a:bodyPr/>
          <a:lstStyle/>
          <a:p>
            <a:fld id="{4F20850C-135A-4564-9C45-92AF18437970}" type="slidenum">
              <a:rPr lang="en-IN" smtClean="0"/>
              <a:t>8</a:t>
            </a:fld>
            <a:endParaRPr lang="en-IN"/>
          </a:p>
        </p:txBody>
      </p:sp>
    </p:spTree>
    <p:extLst>
      <p:ext uri="{BB962C8B-B14F-4D97-AF65-F5344CB8AC3E}">
        <p14:creationId xmlns:p14="http://schemas.microsoft.com/office/powerpoint/2010/main" val="35159540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New reproducible example generated with backend.main.ensemble: dimension=3, n_steps=2000, n_walkers=2000, seed=42. Values use prefixes of the same completed ensemble, preserving walker-ID order. Raw values are saved in presentation/.build/simple-deck/demo-results.json. UI implementation: frontend/src/components/ConvergencePanel.jsx and lib/ensemble.js. Uncertainty is estimated by sample standard error; the normal interval is approximate.</a:t>
            </a:r>
          </a:p>
        </p:txBody>
      </p:sp>
      <p:sp>
        <p:nvSpPr>
          <p:cNvPr id="4" name="Slide Number Placeholder 3"/>
          <p:cNvSpPr>
            <a:spLocks noGrp="1"/>
          </p:cNvSpPr>
          <p:nvPr>
            <p:ph type="sldNum" sz="quarter" idx="5"/>
          </p:nvPr>
        </p:nvSpPr>
        <p:spPr/>
        <p:txBody>
          <a:bodyPr/>
          <a:lstStyle/>
          <a:p>
            <a:fld id="{4F20850C-135A-4564-9C45-92AF18437970}" type="slidenum">
              <a:rPr lang="en-IN" smtClean="0"/>
              <a:t>9</a:t>
            </a:fld>
            <a:endParaRPr lang="en-IN"/>
          </a:p>
        </p:txBody>
      </p:sp>
    </p:spTree>
    <p:extLst>
      <p:ext uri="{BB962C8B-B14F-4D97-AF65-F5344CB8AC3E}">
        <p14:creationId xmlns:p14="http://schemas.microsoft.com/office/powerpoint/2010/main" val="21519015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Sources: frontend/src/components/LiveDistributionPanel.jsx; EnsembleCountControls.jsx; lib/ensemble.js, prefixHistogram. Distributions use endpoint prefixes at a fixed final time; they do not advance individual walker trajectories in time. Counts use fixed backend histogram edges and density normalization by count times bin width. Endpoint cloud, distributions and convergence share the included walker count. CSV export includes bin boundaries, counts, densities and included count.</a:t>
            </a:r>
            <a:endParaRPr lang="en-IN"/>
          </a:p>
        </p:txBody>
      </p:sp>
      <p:sp>
        <p:nvSpPr>
          <p:cNvPr id="4" name="Slide Number Placeholder 3"/>
          <p:cNvSpPr>
            <a:spLocks noGrp="1"/>
          </p:cNvSpPr>
          <p:nvPr>
            <p:ph type="sldNum" sz="quarter" idx="5"/>
          </p:nvPr>
        </p:nvSpPr>
        <p:spPr/>
        <p:txBody>
          <a:bodyPr/>
          <a:lstStyle/>
          <a:p>
            <a:fld id="{4F20850C-135A-4564-9C45-92AF18437970}" type="slidenum">
              <a:rPr lang="en-IN" smtClean="0"/>
              <a:t>10</a:t>
            </a:fld>
            <a:endParaRPr lang="en-IN"/>
          </a:p>
        </p:txBody>
      </p:sp>
    </p:spTree>
    <p:extLst>
      <p:ext uri="{BB962C8B-B14F-4D97-AF65-F5344CB8AC3E}">
        <p14:creationId xmlns:p14="http://schemas.microsoft.com/office/powerpoint/2010/main" val="9940203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47A3B-2DDF-CF04-2383-18AD69FE323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6443862-9608-5E83-05CF-874186627DE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DE20E79-6F6F-6D12-E542-1A46E483037B}"/>
              </a:ext>
            </a:extLst>
          </p:cNvPr>
          <p:cNvSpPr>
            <a:spLocks noGrp="1"/>
          </p:cNvSpPr>
          <p:nvPr>
            <p:ph type="dt" sz="half" idx="10"/>
          </p:nvPr>
        </p:nvSpPr>
        <p:spPr/>
        <p:txBody>
          <a:bodyPr/>
          <a:lstStyle/>
          <a:p>
            <a:fld id="{27B1FD67-6680-48CE-B461-C1A5AD96990C}" type="datetimeFigureOut">
              <a:rPr lang="en-IN" smtClean="0"/>
              <a:t>09-10-2026</a:t>
            </a:fld>
            <a:endParaRPr lang="en-IN"/>
          </a:p>
        </p:txBody>
      </p:sp>
      <p:sp>
        <p:nvSpPr>
          <p:cNvPr id="5" name="Footer Placeholder 4">
            <a:extLst>
              <a:ext uri="{FF2B5EF4-FFF2-40B4-BE49-F238E27FC236}">
                <a16:creationId xmlns:a16="http://schemas.microsoft.com/office/drawing/2014/main" id="{01B502A0-E3D0-F73D-4194-A627931E731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3106544-EB4A-B017-453A-A110F7CE862D}"/>
              </a:ext>
            </a:extLst>
          </p:cNvPr>
          <p:cNvSpPr>
            <a:spLocks noGrp="1"/>
          </p:cNvSpPr>
          <p:nvPr>
            <p:ph type="sldNum" sz="quarter" idx="12"/>
          </p:nvPr>
        </p:nvSpPr>
        <p:spPr/>
        <p:txBody>
          <a:bodyPr/>
          <a:lstStyle/>
          <a:p>
            <a:fld id="{612EDB9E-6519-4D4C-8FB0-9684C4619D55}" type="slidenum">
              <a:rPr lang="en-IN" smtClean="0"/>
              <a:t>‹#›</a:t>
            </a:fld>
            <a:endParaRPr lang="en-IN"/>
          </a:p>
        </p:txBody>
      </p:sp>
    </p:spTree>
    <p:extLst>
      <p:ext uri="{BB962C8B-B14F-4D97-AF65-F5344CB8AC3E}">
        <p14:creationId xmlns:p14="http://schemas.microsoft.com/office/powerpoint/2010/main" val="35997215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14D03-5D1A-ABFA-9F46-4CA28F73DF9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0E9CAAD-736B-95D5-6900-F6FB2182D2F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06FB2FA-A756-6028-A073-0698AC1D6383}"/>
              </a:ext>
            </a:extLst>
          </p:cNvPr>
          <p:cNvSpPr>
            <a:spLocks noGrp="1"/>
          </p:cNvSpPr>
          <p:nvPr>
            <p:ph type="dt" sz="half" idx="10"/>
          </p:nvPr>
        </p:nvSpPr>
        <p:spPr/>
        <p:txBody>
          <a:bodyPr/>
          <a:lstStyle/>
          <a:p>
            <a:fld id="{27B1FD67-6680-48CE-B461-C1A5AD96990C}" type="datetimeFigureOut">
              <a:rPr lang="en-IN" smtClean="0"/>
              <a:t>09-10-2026</a:t>
            </a:fld>
            <a:endParaRPr lang="en-IN"/>
          </a:p>
        </p:txBody>
      </p:sp>
      <p:sp>
        <p:nvSpPr>
          <p:cNvPr id="5" name="Footer Placeholder 4">
            <a:extLst>
              <a:ext uri="{FF2B5EF4-FFF2-40B4-BE49-F238E27FC236}">
                <a16:creationId xmlns:a16="http://schemas.microsoft.com/office/drawing/2014/main" id="{514C8B4D-C773-61F1-4078-896E1E49046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452A0B6-AEF8-78BB-C49A-9E84768E5E76}"/>
              </a:ext>
            </a:extLst>
          </p:cNvPr>
          <p:cNvSpPr>
            <a:spLocks noGrp="1"/>
          </p:cNvSpPr>
          <p:nvPr>
            <p:ph type="sldNum" sz="quarter" idx="12"/>
          </p:nvPr>
        </p:nvSpPr>
        <p:spPr/>
        <p:txBody>
          <a:bodyPr/>
          <a:lstStyle/>
          <a:p>
            <a:fld id="{612EDB9E-6519-4D4C-8FB0-9684C4619D55}" type="slidenum">
              <a:rPr lang="en-IN" smtClean="0"/>
              <a:t>‹#›</a:t>
            </a:fld>
            <a:endParaRPr lang="en-IN"/>
          </a:p>
        </p:txBody>
      </p:sp>
    </p:spTree>
    <p:extLst>
      <p:ext uri="{BB962C8B-B14F-4D97-AF65-F5344CB8AC3E}">
        <p14:creationId xmlns:p14="http://schemas.microsoft.com/office/powerpoint/2010/main" val="36695998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BAAB6-DC9E-1635-FC46-1B42A6436AC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E363F97-4F00-8699-A13A-A54520C30B2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AF5A166-D633-13D3-AAB2-EA94007592CB}"/>
              </a:ext>
            </a:extLst>
          </p:cNvPr>
          <p:cNvSpPr>
            <a:spLocks noGrp="1"/>
          </p:cNvSpPr>
          <p:nvPr>
            <p:ph type="dt" sz="half" idx="10"/>
          </p:nvPr>
        </p:nvSpPr>
        <p:spPr/>
        <p:txBody>
          <a:bodyPr/>
          <a:lstStyle/>
          <a:p>
            <a:fld id="{27B1FD67-6680-48CE-B461-C1A5AD96990C}" type="datetimeFigureOut">
              <a:rPr lang="en-IN" smtClean="0"/>
              <a:t>09-10-2026</a:t>
            </a:fld>
            <a:endParaRPr lang="en-IN"/>
          </a:p>
        </p:txBody>
      </p:sp>
      <p:sp>
        <p:nvSpPr>
          <p:cNvPr id="5" name="Footer Placeholder 4">
            <a:extLst>
              <a:ext uri="{FF2B5EF4-FFF2-40B4-BE49-F238E27FC236}">
                <a16:creationId xmlns:a16="http://schemas.microsoft.com/office/drawing/2014/main" id="{AA1A367C-F5D3-1208-20B7-8D2AC376358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A654C9C-4813-9915-0D5B-40739949A440}"/>
              </a:ext>
            </a:extLst>
          </p:cNvPr>
          <p:cNvSpPr>
            <a:spLocks noGrp="1"/>
          </p:cNvSpPr>
          <p:nvPr>
            <p:ph type="sldNum" sz="quarter" idx="12"/>
          </p:nvPr>
        </p:nvSpPr>
        <p:spPr/>
        <p:txBody>
          <a:bodyPr/>
          <a:lstStyle/>
          <a:p>
            <a:fld id="{612EDB9E-6519-4D4C-8FB0-9684C4619D55}" type="slidenum">
              <a:rPr lang="en-IN" smtClean="0"/>
              <a:t>‹#›</a:t>
            </a:fld>
            <a:endParaRPr lang="en-IN"/>
          </a:p>
        </p:txBody>
      </p:sp>
    </p:spTree>
    <p:extLst>
      <p:ext uri="{BB962C8B-B14F-4D97-AF65-F5344CB8AC3E}">
        <p14:creationId xmlns:p14="http://schemas.microsoft.com/office/powerpoint/2010/main" val="14876248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E87D3-EE92-5A19-B40A-BB2C5948641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B96E108-123F-E77D-9C8F-5A2139985A5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7F5B234-74FC-13E1-F8A5-F956B27AB7F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BA2473D-5CFC-72A9-AB33-5FF7E31C6967}"/>
              </a:ext>
            </a:extLst>
          </p:cNvPr>
          <p:cNvSpPr>
            <a:spLocks noGrp="1"/>
          </p:cNvSpPr>
          <p:nvPr>
            <p:ph type="dt" sz="half" idx="10"/>
          </p:nvPr>
        </p:nvSpPr>
        <p:spPr/>
        <p:txBody>
          <a:bodyPr/>
          <a:lstStyle/>
          <a:p>
            <a:fld id="{27B1FD67-6680-48CE-B461-C1A5AD96990C}" type="datetimeFigureOut">
              <a:rPr lang="en-IN" smtClean="0"/>
              <a:t>09-10-2026</a:t>
            </a:fld>
            <a:endParaRPr lang="en-IN"/>
          </a:p>
        </p:txBody>
      </p:sp>
      <p:sp>
        <p:nvSpPr>
          <p:cNvPr id="6" name="Footer Placeholder 5">
            <a:extLst>
              <a:ext uri="{FF2B5EF4-FFF2-40B4-BE49-F238E27FC236}">
                <a16:creationId xmlns:a16="http://schemas.microsoft.com/office/drawing/2014/main" id="{B4AF971E-03C9-A4B1-FAAB-8D32B9A49F3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E55F6BA-6BD9-0FBB-A1DC-8C8877C6507B}"/>
              </a:ext>
            </a:extLst>
          </p:cNvPr>
          <p:cNvSpPr>
            <a:spLocks noGrp="1"/>
          </p:cNvSpPr>
          <p:nvPr>
            <p:ph type="sldNum" sz="quarter" idx="12"/>
          </p:nvPr>
        </p:nvSpPr>
        <p:spPr/>
        <p:txBody>
          <a:bodyPr/>
          <a:lstStyle/>
          <a:p>
            <a:fld id="{612EDB9E-6519-4D4C-8FB0-9684C4619D55}" type="slidenum">
              <a:rPr lang="en-IN" smtClean="0"/>
              <a:t>‹#›</a:t>
            </a:fld>
            <a:endParaRPr lang="en-IN"/>
          </a:p>
        </p:txBody>
      </p:sp>
    </p:spTree>
    <p:extLst>
      <p:ext uri="{BB962C8B-B14F-4D97-AF65-F5344CB8AC3E}">
        <p14:creationId xmlns:p14="http://schemas.microsoft.com/office/powerpoint/2010/main" val="2942814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D34E7-6A6D-E217-D06F-0ED52D22ED6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394A57A-209D-5592-6FE8-C0A13FEF245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2017412-6F70-97F2-5F8C-B07BF6E04A8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06A24AE-674C-45DB-06D3-04C7B3F6B33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607EE47-0CCE-4F81-13C4-5E4A10AFC4D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B77A2D6-A5F1-87A7-0D51-2C91D8D15C6D}"/>
              </a:ext>
            </a:extLst>
          </p:cNvPr>
          <p:cNvSpPr>
            <a:spLocks noGrp="1"/>
          </p:cNvSpPr>
          <p:nvPr>
            <p:ph type="dt" sz="half" idx="10"/>
          </p:nvPr>
        </p:nvSpPr>
        <p:spPr/>
        <p:txBody>
          <a:bodyPr/>
          <a:lstStyle/>
          <a:p>
            <a:fld id="{27B1FD67-6680-48CE-B461-C1A5AD96990C}" type="datetimeFigureOut">
              <a:rPr lang="en-IN" smtClean="0"/>
              <a:t>09-10-2026</a:t>
            </a:fld>
            <a:endParaRPr lang="en-IN"/>
          </a:p>
        </p:txBody>
      </p:sp>
      <p:sp>
        <p:nvSpPr>
          <p:cNvPr id="8" name="Footer Placeholder 7">
            <a:extLst>
              <a:ext uri="{FF2B5EF4-FFF2-40B4-BE49-F238E27FC236}">
                <a16:creationId xmlns:a16="http://schemas.microsoft.com/office/drawing/2014/main" id="{E7E9581F-C2E5-6D51-EDC0-F1EAE0CFD0E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FA3DC96-1A23-7493-D674-89FE85027CCB}"/>
              </a:ext>
            </a:extLst>
          </p:cNvPr>
          <p:cNvSpPr>
            <a:spLocks noGrp="1"/>
          </p:cNvSpPr>
          <p:nvPr>
            <p:ph type="sldNum" sz="quarter" idx="12"/>
          </p:nvPr>
        </p:nvSpPr>
        <p:spPr/>
        <p:txBody>
          <a:bodyPr/>
          <a:lstStyle/>
          <a:p>
            <a:fld id="{612EDB9E-6519-4D4C-8FB0-9684C4619D55}" type="slidenum">
              <a:rPr lang="en-IN" smtClean="0"/>
              <a:t>‹#›</a:t>
            </a:fld>
            <a:endParaRPr lang="en-IN"/>
          </a:p>
        </p:txBody>
      </p:sp>
    </p:spTree>
    <p:extLst>
      <p:ext uri="{BB962C8B-B14F-4D97-AF65-F5344CB8AC3E}">
        <p14:creationId xmlns:p14="http://schemas.microsoft.com/office/powerpoint/2010/main" val="29905056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463FD-8A31-8034-6C79-3AF93E6FF09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EDD5A76-2A1E-F585-C2B8-AE6AFE69594F}"/>
              </a:ext>
            </a:extLst>
          </p:cNvPr>
          <p:cNvSpPr>
            <a:spLocks noGrp="1"/>
          </p:cNvSpPr>
          <p:nvPr>
            <p:ph type="dt" sz="half" idx="10"/>
          </p:nvPr>
        </p:nvSpPr>
        <p:spPr/>
        <p:txBody>
          <a:bodyPr/>
          <a:lstStyle/>
          <a:p>
            <a:fld id="{27B1FD67-6680-48CE-B461-C1A5AD96990C}" type="datetimeFigureOut">
              <a:rPr lang="en-IN" smtClean="0"/>
              <a:t>09-10-2026</a:t>
            </a:fld>
            <a:endParaRPr lang="en-IN"/>
          </a:p>
        </p:txBody>
      </p:sp>
      <p:sp>
        <p:nvSpPr>
          <p:cNvPr id="4" name="Footer Placeholder 3">
            <a:extLst>
              <a:ext uri="{FF2B5EF4-FFF2-40B4-BE49-F238E27FC236}">
                <a16:creationId xmlns:a16="http://schemas.microsoft.com/office/drawing/2014/main" id="{EAA90DDF-CD39-D695-2FF5-E7A19D41080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307AE97-C929-54B0-F7B8-829A27F7FB42}"/>
              </a:ext>
            </a:extLst>
          </p:cNvPr>
          <p:cNvSpPr>
            <a:spLocks noGrp="1"/>
          </p:cNvSpPr>
          <p:nvPr>
            <p:ph type="sldNum" sz="quarter" idx="12"/>
          </p:nvPr>
        </p:nvSpPr>
        <p:spPr/>
        <p:txBody>
          <a:bodyPr/>
          <a:lstStyle/>
          <a:p>
            <a:fld id="{612EDB9E-6519-4D4C-8FB0-9684C4619D55}" type="slidenum">
              <a:rPr lang="en-IN" smtClean="0"/>
              <a:t>‹#›</a:t>
            </a:fld>
            <a:endParaRPr lang="en-IN"/>
          </a:p>
        </p:txBody>
      </p:sp>
    </p:spTree>
    <p:extLst>
      <p:ext uri="{BB962C8B-B14F-4D97-AF65-F5344CB8AC3E}">
        <p14:creationId xmlns:p14="http://schemas.microsoft.com/office/powerpoint/2010/main" val="11723834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9ACC99-B0F7-F825-8F46-A404029B92ED}"/>
              </a:ext>
            </a:extLst>
          </p:cNvPr>
          <p:cNvSpPr>
            <a:spLocks noGrp="1"/>
          </p:cNvSpPr>
          <p:nvPr>
            <p:ph type="dt" sz="half" idx="10"/>
          </p:nvPr>
        </p:nvSpPr>
        <p:spPr/>
        <p:txBody>
          <a:bodyPr/>
          <a:lstStyle/>
          <a:p>
            <a:fld id="{27B1FD67-6680-48CE-B461-C1A5AD96990C}" type="datetimeFigureOut">
              <a:rPr lang="en-IN" smtClean="0"/>
              <a:t>09-10-2026</a:t>
            </a:fld>
            <a:endParaRPr lang="en-IN"/>
          </a:p>
        </p:txBody>
      </p:sp>
      <p:sp>
        <p:nvSpPr>
          <p:cNvPr id="3" name="Footer Placeholder 2">
            <a:extLst>
              <a:ext uri="{FF2B5EF4-FFF2-40B4-BE49-F238E27FC236}">
                <a16:creationId xmlns:a16="http://schemas.microsoft.com/office/drawing/2014/main" id="{11CCB56D-FCC7-8982-5A30-A91EC132032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F8C85C0-C84B-1064-1A0F-D5497788BC5C}"/>
              </a:ext>
            </a:extLst>
          </p:cNvPr>
          <p:cNvSpPr>
            <a:spLocks noGrp="1"/>
          </p:cNvSpPr>
          <p:nvPr>
            <p:ph type="sldNum" sz="quarter" idx="12"/>
          </p:nvPr>
        </p:nvSpPr>
        <p:spPr/>
        <p:txBody>
          <a:bodyPr/>
          <a:lstStyle/>
          <a:p>
            <a:fld id="{612EDB9E-6519-4D4C-8FB0-9684C4619D55}" type="slidenum">
              <a:rPr lang="en-IN" smtClean="0"/>
              <a:t>‹#›</a:t>
            </a:fld>
            <a:endParaRPr lang="en-IN"/>
          </a:p>
        </p:txBody>
      </p:sp>
    </p:spTree>
    <p:extLst>
      <p:ext uri="{BB962C8B-B14F-4D97-AF65-F5344CB8AC3E}">
        <p14:creationId xmlns:p14="http://schemas.microsoft.com/office/powerpoint/2010/main" val="40437326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0E3AC-00AE-8C40-2BB0-9280675F6D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A5445C8-0DF8-9862-265B-D3BBF12655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2265E51-5294-FE03-A5C6-5B556EA4B5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E3F2E14-B468-F117-DF2E-434D16B42AB8}"/>
              </a:ext>
            </a:extLst>
          </p:cNvPr>
          <p:cNvSpPr>
            <a:spLocks noGrp="1"/>
          </p:cNvSpPr>
          <p:nvPr>
            <p:ph type="dt" sz="half" idx="10"/>
          </p:nvPr>
        </p:nvSpPr>
        <p:spPr/>
        <p:txBody>
          <a:bodyPr/>
          <a:lstStyle/>
          <a:p>
            <a:fld id="{27B1FD67-6680-48CE-B461-C1A5AD96990C}" type="datetimeFigureOut">
              <a:rPr lang="en-IN" smtClean="0"/>
              <a:t>09-10-2026</a:t>
            </a:fld>
            <a:endParaRPr lang="en-IN"/>
          </a:p>
        </p:txBody>
      </p:sp>
      <p:sp>
        <p:nvSpPr>
          <p:cNvPr id="6" name="Footer Placeholder 5">
            <a:extLst>
              <a:ext uri="{FF2B5EF4-FFF2-40B4-BE49-F238E27FC236}">
                <a16:creationId xmlns:a16="http://schemas.microsoft.com/office/drawing/2014/main" id="{5B5A2A81-5E6E-B0EE-5464-D52EF6B51A3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0133817-AE32-E583-0459-95B3DA459DCA}"/>
              </a:ext>
            </a:extLst>
          </p:cNvPr>
          <p:cNvSpPr>
            <a:spLocks noGrp="1"/>
          </p:cNvSpPr>
          <p:nvPr>
            <p:ph type="sldNum" sz="quarter" idx="12"/>
          </p:nvPr>
        </p:nvSpPr>
        <p:spPr/>
        <p:txBody>
          <a:bodyPr/>
          <a:lstStyle/>
          <a:p>
            <a:fld id="{612EDB9E-6519-4D4C-8FB0-9684C4619D55}" type="slidenum">
              <a:rPr lang="en-IN" smtClean="0"/>
              <a:t>‹#›</a:t>
            </a:fld>
            <a:endParaRPr lang="en-IN"/>
          </a:p>
        </p:txBody>
      </p:sp>
    </p:spTree>
    <p:extLst>
      <p:ext uri="{BB962C8B-B14F-4D97-AF65-F5344CB8AC3E}">
        <p14:creationId xmlns:p14="http://schemas.microsoft.com/office/powerpoint/2010/main" val="3808581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76002-7ADD-8A8A-FA44-A634C35F2F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5281BE4-66EB-2842-8CFF-008ACAE67476}"/>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35B325A-9A9F-8729-6731-CB529AA884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A3BF24-52C8-AEE5-20EF-92498218D095}"/>
              </a:ext>
            </a:extLst>
          </p:cNvPr>
          <p:cNvSpPr>
            <a:spLocks noGrp="1"/>
          </p:cNvSpPr>
          <p:nvPr>
            <p:ph type="dt" sz="half" idx="10"/>
          </p:nvPr>
        </p:nvSpPr>
        <p:spPr/>
        <p:txBody>
          <a:bodyPr/>
          <a:lstStyle/>
          <a:p>
            <a:fld id="{27B1FD67-6680-48CE-B461-C1A5AD96990C}" type="datetimeFigureOut">
              <a:rPr lang="en-IN" smtClean="0"/>
              <a:t>09-10-2026</a:t>
            </a:fld>
            <a:endParaRPr lang="en-IN"/>
          </a:p>
        </p:txBody>
      </p:sp>
      <p:sp>
        <p:nvSpPr>
          <p:cNvPr id="6" name="Footer Placeholder 5">
            <a:extLst>
              <a:ext uri="{FF2B5EF4-FFF2-40B4-BE49-F238E27FC236}">
                <a16:creationId xmlns:a16="http://schemas.microsoft.com/office/drawing/2014/main" id="{8EE6802B-70B0-87D9-0CD2-B9062FEDA4D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287379D-8889-97CC-97D0-CF40A1478DB6}"/>
              </a:ext>
            </a:extLst>
          </p:cNvPr>
          <p:cNvSpPr>
            <a:spLocks noGrp="1"/>
          </p:cNvSpPr>
          <p:nvPr>
            <p:ph type="sldNum" sz="quarter" idx="12"/>
          </p:nvPr>
        </p:nvSpPr>
        <p:spPr/>
        <p:txBody>
          <a:bodyPr/>
          <a:lstStyle/>
          <a:p>
            <a:fld id="{612EDB9E-6519-4D4C-8FB0-9684C4619D55}" type="slidenum">
              <a:rPr lang="en-IN" smtClean="0"/>
              <a:t>‹#›</a:t>
            </a:fld>
            <a:endParaRPr lang="en-IN"/>
          </a:p>
        </p:txBody>
      </p:sp>
    </p:spTree>
    <p:extLst>
      <p:ext uri="{BB962C8B-B14F-4D97-AF65-F5344CB8AC3E}">
        <p14:creationId xmlns:p14="http://schemas.microsoft.com/office/powerpoint/2010/main" val="39858522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00255-0BB9-EC6D-FE43-3A487F79DA9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0514C70-D032-8453-46C9-55E35E7E1FD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527095A-787C-E4F1-EEE7-ACEE42FD22E2}"/>
              </a:ext>
            </a:extLst>
          </p:cNvPr>
          <p:cNvSpPr>
            <a:spLocks noGrp="1"/>
          </p:cNvSpPr>
          <p:nvPr>
            <p:ph type="dt" sz="half" idx="10"/>
          </p:nvPr>
        </p:nvSpPr>
        <p:spPr/>
        <p:txBody>
          <a:bodyPr/>
          <a:lstStyle/>
          <a:p>
            <a:fld id="{27B1FD67-6680-48CE-B461-C1A5AD96990C}" type="datetimeFigureOut">
              <a:rPr lang="en-IN" smtClean="0"/>
              <a:t>09-10-2026</a:t>
            </a:fld>
            <a:endParaRPr lang="en-IN"/>
          </a:p>
        </p:txBody>
      </p:sp>
      <p:sp>
        <p:nvSpPr>
          <p:cNvPr id="5" name="Footer Placeholder 4">
            <a:extLst>
              <a:ext uri="{FF2B5EF4-FFF2-40B4-BE49-F238E27FC236}">
                <a16:creationId xmlns:a16="http://schemas.microsoft.com/office/drawing/2014/main" id="{41595ABF-7C94-0334-CD94-9AD32101D21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0AE58F2-3C35-AAA5-9DAE-5E0BAC18EA6B}"/>
              </a:ext>
            </a:extLst>
          </p:cNvPr>
          <p:cNvSpPr>
            <a:spLocks noGrp="1"/>
          </p:cNvSpPr>
          <p:nvPr>
            <p:ph type="sldNum" sz="quarter" idx="12"/>
          </p:nvPr>
        </p:nvSpPr>
        <p:spPr/>
        <p:txBody>
          <a:bodyPr/>
          <a:lstStyle/>
          <a:p>
            <a:fld id="{612EDB9E-6519-4D4C-8FB0-9684C4619D55}" type="slidenum">
              <a:rPr lang="en-IN" smtClean="0"/>
              <a:t>‹#›</a:t>
            </a:fld>
            <a:endParaRPr lang="en-IN"/>
          </a:p>
        </p:txBody>
      </p:sp>
    </p:spTree>
    <p:extLst>
      <p:ext uri="{BB962C8B-B14F-4D97-AF65-F5344CB8AC3E}">
        <p14:creationId xmlns:p14="http://schemas.microsoft.com/office/powerpoint/2010/main" val="23263098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8E8034C-D53A-5236-2AC5-CF6B3B7B89F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30F6983-F515-68E7-40B3-3A82123FE24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FE88780-E2C6-04E8-EC97-11F7F48F6E27}"/>
              </a:ext>
            </a:extLst>
          </p:cNvPr>
          <p:cNvSpPr>
            <a:spLocks noGrp="1"/>
          </p:cNvSpPr>
          <p:nvPr>
            <p:ph type="dt" sz="half" idx="10"/>
          </p:nvPr>
        </p:nvSpPr>
        <p:spPr/>
        <p:txBody>
          <a:bodyPr/>
          <a:lstStyle/>
          <a:p>
            <a:fld id="{27B1FD67-6680-48CE-B461-C1A5AD96990C}" type="datetimeFigureOut">
              <a:rPr lang="en-IN" smtClean="0"/>
              <a:t>09-10-2026</a:t>
            </a:fld>
            <a:endParaRPr lang="en-IN"/>
          </a:p>
        </p:txBody>
      </p:sp>
      <p:sp>
        <p:nvSpPr>
          <p:cNvPr id="5" name="Footer Placeholder 4">
            <a:extLst>
              <a:ext uri="{FF2B5EF4-FFF2-40B4-BE49-F238E27FC236}">
                <a16:creationId xmlns:a16="http://schemas.microsoft.com/office/drawing/2014/main" id="{62A86571-8F63-DF18-3421-AC5A6093027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1D7A1EE-ADCB-4384-6E6C-CD727CA30705}"/>
              </a:ext>
            </a:extLst>
          </p:cNvPr>
          <p:cNvSpPr>
            <a:spLocks noGrp="1"/>
          </p:cNvSpPr>
          <p:nvPr>
            <p:ph type="sldNum" sz="quarter" idx="12"/>
          </p:nvPr>
        </p:nvSpPr>
        <p:spPr/>
        <p:txBody>
          <a:bodyPr/>
          <a:lstStyle/>
          <a:p>
            <a:fld id="{612EDB9E-6519-4D4C-8FB0-9684C4619D55}" type="slidenum">
              <a:rPr lang="en-IN" smtClean="0"/>
              <a:t>‹#›</a:t>
            </a:fld>
            <a:endParaRPr lang="en-IN"/>
          </a:p>
        </p:txBody>
      </p:sp>
    </p:spTree>
    <p:extLst>
      <p:ext uri="{BB962C8B-B14F-4D97-AF65-F5344CB8AC3E}">
        <p14:creationId xmlns:p14="http://schemas.microsoft.com/office/powerpoint/2010/main" val="2455079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7D6E6E3-D65E-5285-3753-83983830FF0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0A90351-26FB-A5B3-C7BE-9BC21B398CA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B3EF66C-5C11-5826-8A69-88F6F3DDA88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7B1FD67-6680-48CE-B461-C1A5AD96990C}" type="datetimeFigureOut">
              <a:rPr lang="en-IN" smtClean="0"/>
              <a:t>09-10-2026</a:t>
            </a:fld>
            <a:endParaRPr lang="en-IN"/>
          </a:p>
        </p:txBody>
      </p:sp>
      <p:sp>
        <p:nvSpPr>
          <p:cNvPr id="5" name="Footer Placeholder 4">
            <a:extLst>
              <a:ext uri="{FF2B5EF4-FFF2-40B4-BE49-F238E27FC236}">
                <a16:creationId xmlns:a16="http://schemas.microsoft.com/office/drawing/2014/main" id="{8DE0E89E-9E4A-5D8D-75A6-C03A4054FC9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CB119CA-1B35-253B-8467-71EEC16E2EA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2EDB9E-6519-4D4C-8FB0-9684C4619D55}" type="slidenum">
              <a:rPr lang="en-IN" smtClean="0"/>
              <a:t>‹#›</a:t>
            </a:fld>
            <a:endParaRPr lang="en-IN"/>
          </a:p>
        </p:txBody>
      </p:sp>
    </p:spTree>
    <p:extLst>
      <p:ext uri="{BB962C8B-B14F-4D97-AF65-F5344CB8AC3E}">
        <p14:creationId xmlns:p14="http://schemas.microsoft.com/office/powerpoint/2010/main" val="4111166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80C1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DED96F5-1D76-861C-15B1-A242401DE75A}"/>
              </a:ext>
            </a:extLst>
          </p:cNvPr>
          <p:cNvSpPr txBox="1"/>
          <p:nvPr/>
        </p:nvSpPr>
        <p:spPr>
          <a:xfrm>
            <a:off x="10795000" y="6426200"/>
            <a:ext cx="838200" cy="254000"/>
          </a:xfrm>
          <a:prstGeom prst="rect">
            <a:avLst/>
          </a:prstGeom>
          <a:noFill/>
        </p:spPr>
        <p:txBody>
          <a:bodyPr vert="horz" wrap="square" lIns="0" tIns="0" rIns="0" bIns="0" rtlCol="0">
            <a:noAutofit/>
          </a:bodyPr>
          <a:lstStyle/>
          <a:p>
            <a:pPr>
              <a:spcAft>
                <a:spcPts val="1000"/>
              </a:spcAft>
            </a:pPr>
            <a:r>
              <a:rPr lang="en-IN" sz="1100">
                <a:solidFill>
                  <a:srgbClr val="B1BCD0"/>
                </a:solidFill>
                <a:latin typeface="Arial" panose="020B0604020202020204" pitchFamily="34" charset="0"/>
              </a:rPr>
              <a:t>1 / 10</a:t>
            </a:r>
          </a:p>
        </p:txBody>
      </p:sp>
      <p:sp>
        <p:nvSpPr>
          <p:cNvPr id="3" name="TextBox 2">
            <a:extLst>
              <a:ext uri="{FF2B5EF4-FFF2-40B4-BE49-F238E27FC236}">
                <a16:creationId xmlns:a16="http://schemas.microsoft.com/office/drawing/2014/main" id="{6E38934B-DBDB-E0EA-77E5-F55D35A1E81B}"/>
              </a:ext>
            </a:extLst>
          </p:cNvPr>
          <p:cNvSpPr txBox="1"/>
          <p:nvPr/>
        </p:nvSpPr>
        <p:spPr>
          <a:xfrm>
            <a:off x="635000" y="1523999"/>
            <a:ext cx="6477000" cy="1841500"/>
          </a:xfrm>
          <a:prstGeom prst="rect">
            <a:avLst/>
          </a:prstGeom>
          <a:noFill/>
        </p:spPr>
        <p:txBody>
          <a:bodyPr vert="horz" wrap="square" lIns="0" tIns="0" rIns="0" bIns="0" rtlCol="0">
            <a:noAutofit/>
          </a:bodyPr>
          <a:lstStyle/>
          <a:p>
            <a:pPr>
              <a:spcAft>
                <a:spcPts val="1000"/>
              </a:spcAft>
            </a:pPr>
            <a:r>
              <a:rPr lang="en-IN" sz="4800" b="1">
                <a:solidFill>
                  <a:srgbClr val="E8EDF7"/>
                </a:solidFill>
                <a:latin typeface="Arial" panose="020B0604020202020204" pitchFamily="34" charset="0"/>
              </a:rPr>
              <a:t>Random Walk
Laboratory</a:t>
            </a:r>
          </a:p>
        </p:txBody>
      </p:sp>
      <p:sp>
        <p:nvSpPr>
          <p:cNvPr id="4" name="TextBox 3">
            <a:extLst>
              <a:ext uri="{FF2B5EF4-FFF2-40B4-BE49-F238E27FC236}">
                <a16:creationId xmlns:a16="http://schemas.microsoft.com/office/drawing/2014/main" id="{38FFE08B-32AF-BEC9-D040-AF887EFE5AAF}"/>
              </a:ext>
            </a:extLst>
          </p:cNvPr>
          <p:cNvSpPr txBox="1"/>
          <p:nvPr/>
        </p:nvSpPr>
        <p:spPr>
          <a:xfrm>
            <a:off x="660400" y="3644899"/>
            <a:ext cx="5842000" cy="889000"/>
          </a:xfrm>
          <a:prstGeom prst="rect">
            <a:avLst/>
          </a:prstGeom>
          <a:noFill/>
        </p:spPr>
        <p:txBody>
          <a:bodyPr vert="horz" wrap="square" lIns="0" tIns="0" rIns="0" bIns="0" rtlCol="0">
            <a:noAutofit/>
          </a:bodyPr>
          <a:lstStyle/>
          <a:p>
            <a:pPr>
              <a:spcAft>
                <a:spcPts val="1000"/>
              </a:spcAft>
            </a:pPr>
            <a:r>
              <a:rPr lang="en-US" sz="2400">
                <a:solidFill>
                  <a:srgbClr val="38D2E8"/>
                </a:solidFill>
                <a:latin typeface="Arial" panose="020B0604020202020204" pitchFamily="34" charset="0"/>
              </a:rPr>
              <a:t>Simulation, results and implemented features</a:t>
            </a:r>
            <a:endParaRPr lang="en-IN" sz="2400">
              <a:solidFill>
                <a:srgbClr val="38D2E8"/>
              </a:solidFill>
              <a:latin typeface="Arial" panose="020B0604020202020204" pitchFamily="34" charset="0"/>
            </a:endParaRPr>
          </a:p>
        </p:txBody>
      </p:sp>
      <p:sp>
        <p:nvSpPr>
          <p:cNvPr id="5" name="TextBox 4">
            <a:extLst>
              <a:ext uri="{FF2B5EF4-FFF2-40B4-BE49-F238E27FC236}">
                <a16:creationId xmlns:a16="http://schemas.microsoft.com/office/drawing/2014/main" id="{C4397CC5-30D8-082E-2B54-733E8B3AE101}"/>
              </a:ext>
            </a:extLst>
          </p:cNvPr>
          <p:cNvSpPr txBox="1"/>
          <p:nvPr/>
        </p:nvSpPr>
        <p:spPr>
          <a:xfrm>
            <a:off x="660400" y="5587999"/>
            <a:ext cx="7366000" cy="381000"/>
          </a:xfrm>
          <a:prstGeom prst="rect">
            <a:avLst/>
          </a:prstGeom>
          <a:noFill/>
        </p:spPr>
        <p:txBody>
          <a:bodyPr vert="horz" wrap="square" lIns="0" tIns="0" rIns="0" bIns="0" rtlCol="0">
            <a:noAutofit/>
          </a:bodyPr>
          <a:lstStyle/>
          <a:p>
            <a:pPr>
              <a:spcAft>
                <a:spcPts val="1000"/>
              </a:spcAft>
            </a:pPr>
            <a:r>
              <a:rPr lang="en-IN" sz="2000">
                <a:solidFill>
                  <a:srgbClr val="B1BCD0"/>
                </a:solidFill>
                <a:latin typeface="Arial" panose="020B0604020202020204" pitchFamily="34" charset="0"/>
              </a:rPr>
              <a:t>Subhankar | IDC612 | IIT Kanpur</a:t>
            </a:r>
          </a:p>
        </p:txBody>
      </p:sp>
      <p:pic>
        <p:nvPicPr>
          <p:cNvPr id="7" name="Picture 6">
            <a:extLst>
              <a:ext uri="{FF2B5EF4-FFF2-40B4-BE49-F238E27FC236}">
                <a16:creationId xmlns:a16="http://schemas.microsoft.com/office/drawing/2014/main" id="{E1A353BF-6C1C-2E95-9784-CFD552F3D01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858000" y="1447800"/>
            <a:ext cx="4381500" cy="4381500"/>
          </a:xfrm>
          <a:prstGeom prst="rect">
            <a:avLst/>
          </a:prstGeom>
        </p:spPr>
      </p:pic>
    </p:spTree>
    <p:extLst>
      <p:ext uri="{BB962C8B-B14F-4D97-AF65-F5344CB8AC3E}">
        <p14:creationId xmlns:p14="http://schemas.microsoft.com/office/powerpoint/2010/main" val="21468427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80C1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CA7D7CC-FBED-4312-871C-6A45A3FD6169}"/>
              </a:ext>
            </a:extLst>
          </p:cNvPr>
          <p:cNvSpPr txBox="1"/>
          <p:nvPr/>
        </p:nvSpPr>
        <p:spPr>
          <a:xfrm>
            <a:off x="558800" y="482599"/>
            <a:ext cx="11074400" cy="812800"/>
          </a:xfrm>
          <a:prstGeom prst="rect">
            <a:avLst/>
          </a:prstGeom>
          <a:noFill/>
        </p:spPr>
        <p:txBody>
          <a:bodyPr vert="horz" wrap="square" lIns="0" tIns="0" rIns="0" bIns="0" rtlCol="0">
            <a:noAutofit/>
          </a:bodyPr>
          <a:lstStyle/>
          <a:p>
            <a:pPr>
              <a:spcAft>
                <a:spcPts val="1000"/>
              </a:spcAft>
            </a:pPr>
            <a:r>
              <a:rPr lang="en-US" sz="3200" b="1">
                <a:solidFill>
                  <a:srgbClr val="E8EDF7"/>
                </a:solidFill>
                <a:latin typeface="Arial" panose="020B0604020202020204" pitchFamily="34" charset="0"/>
              </a:rPr>
              <a:t>How one walk is generated</a:t>
            </a:r>
            <a:endParaRPr lang="en-IN" sz="3200" b="1">
              <a:solidFill>
                <a:srgbClr val="E8EDF7"/>
              </a:solidFill>
              <a:latin typeface="Arial" panose="020B0604020202020204" pitchFamily="34" charset="0"/>
            </a:endParaRPr>
          </a:p>
        </p:txBody>
      </p:sp>
      <p:sp>
        <p:nvSpPr>
          <p:cNvPr id="3" name="TextBox 2">
            <a:extLst>
              <a:ext uri="{FF2B5EF4-FFF2-40B4-BE49-F238E27FC236}">
                <a16:creationId xmlns:a16="http://schemas.microsoft.com/office/drawing/2014/main" id="{418B4CE9-EA5C-8D76-CA0E-6457BCE4776C}"/>
              </a:ext>
            </a:extLst>
          </p:cNvPr>
          <p:cNvSpPr txBox="1"/>
          <p:nvPr/>
        </p:nvSpPr>
        <p:spPr>
          <a:xfrm>
            <a:off x="10795000" y="6426200"/>
            <a:ext cx="838200" cy="254000"/>
          </a:xfrm>
          <a:prstGeom prst="rect">
            <a:avLst/>
          </a:prstGeom>
          <a:noFill/>
        </p:spPr>
        <p:txBody>
          <a:bodyPr vert="horz" wrap="square" lIns="0" tIns="0" rIns="0" bIns="0" rtlCol="0">
            <a:noAutofit/>
          </a:bodyPr>
          <a:lstStyle/>
          <a:p>
            <a:pPr>
              <a:spcAft>
                <a:spcPts val="1000"/>
              </a:spcAft>
            </a:pPr>
            <a:r>
              <a:rPr lang="en-IN" sz="1100">
                <a:solidFill>
                  <a:srgbClr val="B1BCD0"/>
                </a:solidFill>
                <a:latin typeface="Arial" panose="020B0604020202020204" pitchFamily="34" charset="0"/>
              </a:rPr>
              <a:t>2 / 10</a:t>
            </a:r>
          </a:p>
        </p:txBody>
      </p:sp>
      <p:sp>
        <p:nvSpPr>
          <p:cNvPr id="4" name="TextBox 3">
            <a:extLst>
              <a:ext uri="{FF2B5EF4-FFF2-40B4-BE49-F238E27FC236}">
                <a16:creationId xmlns:a16="http://schemas.microsoft.com/office/drawing/2014/main" id="{9F1CFDA7-852D-05EA-E13B-E3B77CD6C97F}"/>
              </a:ext>
            </a:extLst>
          </p:cNvPr>
          <p:cNvSpPr txBox="1"/>
          <p:nvPr/>
        </p:nvSpPr>
        <p:spPr>
          <a:xfrm>
            <a:off x="609600" y="1485899"/>
            <a:ext cx="10795000" cy="863600"/>
          </a:xfrm>
          <a:prstGeom prst="rect">
            <a:avLst/>
          </a:prstGeom>
          <a:noFill/>
        </p:spPr>
        <p:txBody>
          <a:bodyPr vert="horz" wrap="square" lIns="0" tIns="0" rIns="0" bIns="0" rtlCol="0">
            <a:noAutofit/>
          </a:bodyPr>
          <a:lstStyle/>
          <a:p>
            <a:pPr>
              <a:spcAft>
                <a:spcPts val="1000"/>
              </a:spcAft>
            </a:pPr>
            <a:r>
              <a:rPr lang="en-US" sz="2300">
                <a:solidFill>
                  <a:srgbClr val="E8EDF7"/>
                </a:solidFill>
                <a:latin typeface="Arial" panose="020B0604020202020204" pitchFamily="34" charset="0"/>
              </a:rPr>
              <a:t>Start at zero. At each step, choose one axis and move +1 or -1.</a:t>
            </a:r>
            <a:endParaRPr lang="en-IN" sz="2300">
              <a:solidFill>
                <a:srgbClr val="E8EDF7"/>
              </a:solidFill>
              <a:latin typeface="Arial" panose="020B0604020202020204" pitchFamily="34" charset="0"/>
            </a:endParaRPr>
          </a:p>
        </p:txBody>
      </p:sp>
      <p:sp>
        <p:nvSpPr>
          <p:cNvPr id="5" name="TextBox 4">
            <a:extLst>
              <a:ext uri="{FF2B5EF4-FFF2-40B4-BE49-F238E27FC236}">
                <a16:creationId xmlns:a16="http://schemas.microsoft.com/office/drawing/2014/main" id="{99886DF3-05A1-83CD-4E29-7319ACDFDE44}"/>
              </a:ext>
            </a:extLst>
          </p:cNvPr>
          <p:cNvSpPr txBox="1"/>
          <p:nvPr/>
        </p:nvSpPr>
        <p:spPr>
          <a:xfrm>
            <a:off x="635000" y="2400300"/>
            <a:ext cx="10795000" cy="254000"/>
          </a:xfrm>
          <a:prstGeom prst="rect">
            <a:avLst/>
          </a:prstGeom>
          <a:noFill/>
        </p:spPr>
        <p:txBody>
          <a:bodyPr vert="horz" wrap="square" lIns="0" tIns="0" rIns="0" bIns="0" rtlCol="0">
            <a:noAutofit/>
          </a:bodyPr>
          <a:lstStyle/>
          <a:p>
            <a:pPr>
              <a:spcAft>
                <a:spcPts val="1000"/>
              </a:spcAft>
            </a:pPr>
            <a:r>
              <a:rPr lang="en-US" sz="1600">
                <a:solidFill>
                  <a:srgbClr val="B1BCD0"/>
                </a:solidFill>
                <a:latin typeface="Arial" panose="020B0604020202020204" pitchFamily="34" charset="0"/>
              </a:rPr>
              <a:t>d: number of dimensions | rng: random-number generator</a:t>
            </a:r>
            <a:endParaRPr lang="en-IN" sz="1600">
              <a:solidFill>
                <a:srgbClr val="B1BCD0"/>
              </a:solidFill>
              <a:latin typeface="Arial" panose="020B0604020202020204" pitchFamily="34" charset="0"/>
            </a:endParaRPr>
          </a:p>
        </p:txBody>
      </p:sp>
      <p:sp>
        <p:nvSpPr>
          <p:cNvPr id="6" name="TextBox 5">
            <a:extLst>
              <a:ext uri="{FF2B5EF4-FFF2-40B4-BE49-F238E27FC236}">
                <a16:creationId xmlns:a16="http://schemas.microsoft.com/office/drawing/2014/main" id="{BBBAAC69-933F-A7D9-88B9-84891A09FC6A}"/>
              </a:ext>
            </a:extLst>
          </p:cNvPr>
          <p:cNvSpPr txBox="1"/>
          <p:nvPr/>
        </p:nvSpPr>
        <p:spPr>
          <a:xfrm>
            <a:off x="635000" y="2743199"/>
            <a:ext cx="10922000" cy="2159000"/>
          </a:xfrm>
          <a:prstGeom prst="rect">
            <a:avLst/>
          </a:prstGeom>
          <a:noFill/>
        </p:spPr>
        <p:txBody>
          <a:bodyPr vert="horz" wrap="square" lIns="0" tIns="0" rIns="0" bIns="0" rtlCol="0">
            <a:noAutofit/>
          </a:bodyPr>
          <a:lstStyle/>
          <a:p>
            <a:pPr>
              <a:spcAft>
                <a:spcPts val="1000"/>
              </a:spcAft>
            </a:pPr>
            <a:r>
              <a:rPr lang="en-IN" sz="1900">
                <a:solidFill>
                  <a:srgbClr val="38D2E8"/>
                </a:solidFill>
                <a:latin typeface="Consolas" panose="020B0609020204030204" pitchFamily="49" charset="0"/>
              </a:rPr>
              <a:t>axis = rng.integers(0, d, size=n_steps)
direction = rng.choice([1, -1], size=n_steps)
steps = np.zeros((n_steps, d))
steps[np.arange(n_steps), axis] = direction
path = np.cumsum(steps, axis=0)</a:t>
            </a:r>
          </a:p>
        </p:txBody>
      </p:sp>
      <p:sp>
        <p:nvSpPr>
          <p:cNvPr id="7" name="TextBox 6">
            <a:extLst>
              <a:ext uri="{FF2B5EF4-FFF2-40B4-BE49-F238E27FC236}">
                <a16:creationId xmlns:a16="http://schemas.microsoft.com/office/drawing/2014/main" id="{3923984F-2369-9D62-A57A-32B31489DDFA}"/>
              </a:ext>
            </a:extLst>
          </p:cNvPr>
          <p:cNvSpPr txBox="1"/>
          <p:nvPr/>
        </p:nvSpPr>
        <p:spPr>
          <a:xfrm>
            <a:off x="609600" y="5422899"/>
            <a:ext cx="10795000" cy="736600"/>
          </a:xfrm>
          <a:prstGeom prst="rect">
            <a:avLst/>
          </a:prstGeom>
          <a:noFill/>
        </p:spPr>
        <p:txBody>
          <a:bodyPr vert="horz" wrap="square" lIns="0" tIns="0" rIns="0" bIns="0" rtlCol="0">
            <a:noAutofit/>
          </a:bodyPr>
          <a:lstStyle/>
          <a:p>
            <a:pPr>
              <a:spcAft>
                <a:spcPts val="1000"/>
              </a:spcAft>
            </a:pPr>
            <a:r>
              <a:rPr lang="en-US" sz="2100">
                <a:solidFill>
                  <a:srgbClr val="E8EDF7"/>
                </a:solidFill>
                <a:latin typeface="Arial" panose="020B0604020202020204" pitchFamily="34" charset="0"/>
              </a:rPr>
              <a:t>Only one coordinate changes per step. The same rule works from 1D to 5D.</a:t>
            </a:r>
            <a:endParaRPr lang="en-IN" sz="2100">
              <a:solidFill>
                <a:srgbClr val="E8EDF7"/>
              </a:solidFill>
              <a:latin typeface="Arial" panose="020B0604020202020204" pitchFamily="34" charset="0"/>
            </a:endParaRPr>
          </a:p>
        </p:txBody>
      </p:sp>
    </p:spTree>
    <p:extLst>
      <p:ext uri="{BB962C8B-B14F-4D97-AF65-F5344CB8AC3E}">
        <p14:creationId xmlns:p14="http://schemas.microsoft.com/office/powerpoint/2010/main" val="2687597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80C1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496F98E-32DF-5967-1743-BC64FCA212F3}"/>
              </a:ext>
            </a:extLst>
          </p:cNvPr>
          <p:cNvSpPr txBox="1"/>
          <p:nvPr/>
        </p:nvSpPr>
        <p:spPr>
          <a:xfrm>
            <a:off x="558800" y="482599"/>
            <a:ext cx="11074400" cy="812800"/>
          </a:xfrm>
          <a:prstGeom prst="rect">
            <a:avLst/>
          </a:prstGeom>
          <a:noFill/>
        </p:spPr>
        <p:txBody>
          <a:bodyPr vert="horz" wrap="square" lIns="0" tIns="0" rIns="0" bIns="0" rtlCol="0">
            <a:noAutofit/>
          </a:bodyPr>
          <a:lstStyle/>
          <a:p>
            <a:pPr>
              <a:spcAft>
                <a:spcPts val="1000"/>
              </a:spcAft>
            </a:pPr>
            <a:r>
              <a:rPr lang="en-US" sz="3200" b="1">
                <a:solidFill>
                  <a:srgbClr val="E8EDF7"/>
                </a:solidFill>
                <a:latin typeface="Arial" panose="020B0604020202020204" pitchFamily="34" charset="0"/>
              </a:rPr>
              <a:t>All ensemble walkers are calculated</a:t>
            </a:r>
            <a:endParaRPr lang="en-IN" sz="3200" b="1">
              <a:solidFill>
                <a:srgbClr val="E8EDF7"/>
              </a:solidFill>
              <a:latin typeface="Arial" panose="020B0604020202020204" pitchFamily="34" charset="0"/>
            </a:endParaRPr>
          </a:p>
        </p:txBody>
      </p:sp>
      <p:sp>
        <p:nvSpPr>
          <p:cNvPr id="3" name="TextBox 2">
            <a:extLst>
              <a:ext uri="{FF2B5EF4-FFF2-40B4-BE49-F238E27FC236}">
                <a16:creationId xmlns:a16="http://schemas.microsoft.com/office/drawing/2014/main" id="{8E4EFFEB-5DF5-3416-A6B9-BE340DC9E159}"/>
              </a:ext>
            </a:extLst>
          </p:cNvPr>
          <p:cNvSpPr txBox="1"/>
          <p:nvPr/>
        </p:nvSpPr>
        <p:spPr>
          <a:xfrm>
            <a:off x="10795000" y="6426200"/>
            <a:ext cx="838200" cy="254000"/>
          </a:xfrm>
          <a:prstGeom prst="rect">
            <a:avLst/>
          </a:prstGeom>
          <a:noFill/>
        </p:spPr>
        <p:txBody>
          <a:bodyPr vert="horz" wrap="square" lIns="0" tIns="0" rIns="0" bIns="0" rtlCol="0">
            <a:noAutofit/>
          </a:bodyPr>
          <a:lstStyle/>
          <a:p>
            <a:pPr>
              <a:spcAft>
                <a:spcPts val="1000"/>
              </a:spcAft>
            </a:pPr>
            <a:r>
              <a:rPr lang="en-IN" sz="1100">
                <a:solidFill>
                  <a:srgbClr val="B1BCD0"/>
                </a:solidFill>
                <a:latin typeface="Arial" panose="020B0604020202020204" pitchFamily="34" charset="0"/>
              </a:rPr>
              <a:t>3 / 10</a:t>
            </a:r>
          </a:p>
        </p:txBody>
      </p:sp>
      <p:sp>
        <p:nvSpPr>
          <p:cNvPr id="4" name="TextBox 3">
            <a:extLst>
              <a:ext uri="{FF2B5EF4-FFF2-40B4-BE49-F238E27FC236}">
                <a16:creationId xmlns:a16="http://schemas.microsoft.com/office/drawing/2014/main" id="{A2377C3F-F719-34EF-8DCA-AE5147A3B140}"/>
              </a:ext>
            </a:extLst>
          </p:cNvPr>
          <p:cNvSpPr txBox="1"/>
          <p:nvPr/>
        </p:nvSpPr>
        <p:spPr>
          <a:xfrm>
            <a:off x="609600" y="1485899"/>
            <a:ext cx="10922000" cy="825500"/>
          </a:xfrm>
          <a:prstGeom prst="rect">
            <a:avLst/>
          </a:prstGeom>
          <a:noFill/>
        </p:spPr>
        <p:txBody>
          <a:bodyPr vert="horz" wrap="square" lIns="0" tIns="0" rIns="0" bIns="0" rtlCol="0">
            <a:noAutofit/>
          </a:bodyPr>
          <a:lstStyle/>
          <a:p>
            <a:pPr>
              <a:spcAft>
                <a:spcPts val="1000"/>
              </a:spcAft>
            </a:pPr>
            <a:r>
              <a:rPr lang="en-US" sz="2300">
                <a:solidFill>
                  <a:srgbClr val="E8EDF7"/>
                </a:solidFill>
                <a:latin typeface="Arial" panose="020B0604020202020204" pitchFamily="34" charset="0"/>
              </a:rPr>
              <a:t>Each row of positions belongs to one walker. Every row is updated at every step.</a:t>
            </a:r>
            <a:endParaRPr lang="en-IN" sz="2300">
              <a:solidFill>
                <a:srgbClr val="E8EDF7"/>
              </a:solidFill>
              <a:latin typeface="Arial" panose="020B0604020202020204" pitchFamily="34" charset="0"/>
            </a:endParaRPr>
          </a:p>
        </p:txBody>
      </p:sp>
      <p:sp>
        <p:nvSpPr>
          <p:cNvPr id="5" name="TextBox 4">
            <a:extLst>
              <a:ext uri="{FF2B5EF4-FFF2-40B4-BE49-F238E27FC236}">
                <a16:creationId xmlns:a16="http://schemas.microsoft.com/office/drawing/2014/main" id="{031A3CFF-FD32-C4D4-0279-19A288631FF3}"/>
              </a:ext>
            </a:extLst>
          </p:cNvPr>
          <p:cNvSpPr txBox="1"/>
          <p:nvPr/>
        </p:nvSpPr>
        <p:spPr>
          <a:xfrm>
            <a:off x="635000" y="2387600"/>
            <a:ext cx="10795000" cy="254000"/>
          </a:xfrm>
          <a:prstGeom prst="rect">
            <a:avLst/>
          </a:prstGeom>
          <a:noFill/>
        </p:spPr>
        <p:txBody>
          <a:bodyPr vert="horz" wrap="square" lIns="0" tIns="0" rIns="0" bIns="0" rtlCol="0">
            <a:noAutofit/>
          </a:bodyPr>
          <a:lstStyle/>
          <a:p>
            <a:pPr>
              <a:spcAft>
                <a:spcPts val="1000"/>
              </a:spcAft>
            </a:pPr>
            <a:r>
              <a:rPr lang="en-US" sz="1600">
                <a:solidFill>
                  <a:srgbClr val="B1BCD0"/>
                </a:solidFill>
                <a:latin typeface="Arial" panose="020B0604020202020204" pitchFamily="34" charset="0"/>
              </a:rPr>
              <a:t>N: number of walkers | chunk: steps processed together</a:t>
            </a:r>
            <a:endParaRPr lang="en-IN" sz="1600">
              <a:solidFill>
                <a:srgbClr val="B1BCD0"/>
              </a:solidFill>
              <a:latin typeface="Arial" panose="020B0604020202020204" pitchFamily="34" charset="0"/>
            </a:endParaRPr>
          </a:p>
        </p:txBody>
      </p:sp>
      <p:sp>
        <p:nvSpPr>
          <p:cNvPr id="6" name="TextBox 5">
            <a:extLst>
              <a:ext uri="{FF2B5EF4-FFF2-40B4-BE49-F238E27FC236}">
                <a16:creationId xmlns:a16="http://schemas.microsoft.com/office/drawing/2014/main" id="{3242B604-BAA1-85FF-332A-7318691631A5}"/>
              </a:ext>
            </a:extLst>
          </p:cNvPr>
          <p:cNvSpPr txBox="1"/>
          <p:nvPr/>
        </p:nvSpPr>
        <p:spPr>
          <a:xfrm>
            <a:off x="635000" y="2717799"/>
            <a:ext cx="10947400" cy="1625600"/>
          </a:xfrm>
          <a:prstGeom prst="rect">
            <a:avLst/>
          </a:prstGeom>
          <a:noFill/>
        </p:spPr>
        <p:txBody>
          <a:bodyPr vert="horz" wrap="square" lIns="0" tIns="0" rIns="0" bIns="0" rtlCol="0">
            <a:noAutofit/>
          </a:bodyPr>
          <a:lstStyle/>
          <a:p>
            <a:pPr>
              <a:spcAft>
                <a:spcPts val="1000"/>
              </a:spcAft>
            </a:pPr>
            <a:r>
              <a:rPr lang="en-IN" sz="1900">
                <a:solidFill>
                  <a:srgbClr val="38D2E8"/>
                </a:solidFill>
                <a:latin typeface="Consolas" panose="020B0609020204030204" pitchFamily="49" charset="0"/>
              </a:rPr>
              <a:t>axis = rng.integers(0, d, size=(chunk, N))
direction = rng.integers(0, 2, size=(chunk, N)) * 2 - 1
positions[np.arange(N), axis[t]] += direction[t]</a:t>
            </a:r>
          </a:p>
        </p:txBody>
      </p:sp>
      <p:sp>
        <p:nvSpPr>
          <p:cNvPr id="7" name="TextBox 6">
            <a:extLst>
              <a:ext uri="{FF2B5EF4-FFF2-40B4-BE49-F238E27FC236}">
                <a16:creationId xmlns:a16="http://schemas.microsoft.com/office/drawing/2014/main" id="{8D891B8D-7475-1231-9A8A-2A814BC480F6}"/>
              </a:ext>
            </a:extLst>
          </p:cNvPr>
          <p:cNvSpPr txBox="1"/>
          <p:nvPr/>
        </p:nvSpPr>
        <p:spPr>
          <a:xfrm>
            <a:off x="609600" y="4610099"/>
            <a:ext cx="10795000" cy="1016000"/>
          </a:xfrm>
          <a:prstGeom prst="rect">
            <a:avLst/>
          </a:prstGeom>
          <a:noFill/>
        </p:spPr>
        <p:txBody>
          <a:bodyPr vert="horz" wrap="square" lIns="0" tIns="0" rIns="0" bIns="0" rtlCol="0">
            <a:noAutofit/>
          </a:bodyPr>
          <a:lstStyle/>
          <a:p>
            <a:pPr>
              <a:spcAft>
                <a:spcPts val="1000"/>
              </a:spcAft>
            </a:pPr>
            <a:r>
              <a:rPr lang="en-US" sz="2100">
                <a:solidFill>
                  <a:srgbClr val="E8EDF7"/>
                </a:solidFill>
                <a:latin typeface="Arial" panose="020B0604020202020204" pitchFamily="34" charset="0"/>
              </a:rPr>
              <a:t>Python + NumPy calculate positions and statistics.
React + Three.js display the results and selected paths.</a:t>
            </a:r>
            <a:endParaRPr lang="en-IN" sz="2100">
              <a:solidFill>
                <a:srgbClr val="E8EDF7"/>
              </a:solidFill>
              <a:latin typeface="Arial" panose="020B0604020202020204" pitchFamily="34" charset="0"/>
            </a:endParaRPr>
          </a:p>
        </p:txBody>
      </p:sp>
      <p:sp>
        <p:nvSpPr>
          <p:cNvPr id="8" name="TextBox 7">
            <a:extLst>
              <a:ext uri="{FF2B5EF4-FFF2-40B4-BE49-F238E27FC236}">
                <a16:creationId xmlns:a16="http://schemas.microsoft.com/office/drawing/2014/main" id="{75C851B6-FD17-D877-47E6-42B68C3F810E}"/>
              </a:ext>
            </a:extLst>
          </p:cNvPr>
          <p:cNvSpPr txBox="1"/>
          <p:nvPr/>
        </p:nvSpPr>
        <p:spPr>
          <a:xfrm>
            <a:off x="609600" y="5918199"/>
            <a:ext cx="10795000" cy="368300"/>
          </a:xfrm>
          <a:prstGeom prst="rect">
            <a:avLst/>
          </a:prstGeom>
          <a:noFill/>
        </p:spPr>
        <p:txBody>
          <a:bodyPr vert="horz" wrap="square" lIns="0" tIns="0" rIns="0" bIns="0" rtlCol="0">
            <a:noAutofit/>
          </a:bodyPr>
          <a:lstStyle/>
          <a:p>
            <a:pPr>
              <a:spcAft>
                <a:spcPts val="1000"/>
              </a:spcAft>
            </a:pPr>
            <a:r>
              <a:rPr lang="en-US">
                <a:solidFill>
                  <a:srgbClr val="B1BCD0"/>
                </a:solidFill>
                <a:latin typeface="Arial" panose="020B0604020202020204" pitchFamily="34" charset="0"/>
              </a:rPr>
              <a:t>Displayed sample walkers are generated separately from the ensemble.</a:t>
            </a:r>
            <a:endParaRPr lang="en-IN">
              <a:solidFill>
                <a:srgbClr val="B1BCD0"/>
              </a:solidFill>
              <a:latin typeface="Arial" panose="020B0604020202020204" pitchFamily="34" charset="0"/>
            </a:endParaRPr>
          </a:p>
        </p:txBody>
      </p:sp>
    </p:spTree>
    <p:extLst>
      <p:ext uri="{BB962C8B-B14F-4D97-AF65-F5344CB8AC3E}">
        <p14:creationId xmlns:p14="http://schemas.microsoft.com/office/powerpoint/2010/main" val="259077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80C1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3F2C5F-3E1B-09B8-820D-B63A17EB1826}"/>
              </a:ext>
            </a:extLst>
          </p:cNvPr>
          <p:cNvSpPr txBox="1"/>
          <p:nvPr/>
        </p:nvSpPr>
        <p:spPr>
          <a:xfrm>
            <a:off x="558800" y="482599"/>
            <a:ext cx="11074400" cy="812800"/>
          </a:xfrm>
          <a:prstGeom prst="rect">
            <a:avLst/>
          </a:prstGeom>
          <a:noFill/>
        </p:spPr>
        <p:txBody>
          <a:bodyPr vert="horz" wrap="square" lIns="0" tIns="0" rIns="0" bIns="0" rtlCol="0">
            <a:noAutofit/>
          </a:bodyPr>
          <a:lstStyle/>
          <a:p>
            <a:pPr>
              <a:spcAft>
                <a:spcPts val="1000"/>
              </a:spcAft>
            </a:pPr>
            <a:r>
              <a:rPr lang="en-IN" sz="3200" b="1">
                <a:solidFill>
                  <a:srgbClr val="E8EDF7"/>
                </a:solidFill>
                <a:latin typeface="Arial" panose="020B0604020202020204" pitchFamily="34" charset="0"/>
              </a:rPr>
              <a:t>Paths and coordinate views</a:t>
            </a:r>
          </a:p>
        </p:txBody>
      </p:sp>
      <p:sp>
        <p:nvSpPr>
          <p:cNvPr id="3" name="TextBox 2">
            <a:extLst>
              <a:ext uri="{FF2B5EF4-FFF2-40B4-BE49-F238E27FC236}">
                <a16:creationId xmlns:a16="http://schemas.microsoft.com/office/drawing/2014/main" id="{8F95E51C-33FC-26AA-55EA-856C45FBFE2A}"/>
              </a:ext>
            </a:extLst>
          </p:cNvPr>
          <p:cNvSpPr txBox="1"/>
          <p:nvPr/>
        </p:nvSpPr>
        <p:spPr>
          <a:xfrm>
            <a:off x="10795000" y="6426200"/>
            <a:ext cx="838200" cy="254000"/>
          </a:xfrm>
          <a:prstGeom prst="rect">
            <a:avLst/>
          </a:prstGeom>
          <a:noFill/>
        </p:spPr>
        <p:txBody>
          <a:bodyPr vert="horz" wrap="square" lIns="0" tIns="0" rIns="0" bIns="0" rtlCol="0">
            <a:noAutofit/>
          </a:bodyPr>
          <a:lstStyle/>
          <a:p>
            <a:pPr>
              <a:spcAft>
                <a:spcPts val="1000"/>
              </a:spcAft>
            </a:pPr>
            <a:r>
              <a:rPr lang="en-IN" sz="1100">
                <a:solidFill>
                  <a:srgbClr val="B1BCD0"/>
                </a:solidFill>
                <a:latin typeface="Arial" panose="020B0604020202020204" pitchFamily="34" charset="0"/>
              </a:rPr>
              <a:t>4 / 10</a:t>
            </a:r>
          </a:p>
        </p:txBody>
      </p:sp>
      <p:pic>
        <p:nvPicPr>
          <p:cNvPr id="5" name="Picture 4">
            <a:extLst>
              <a:ext uri="{FF2B5EF4-FFF2-40B4-BE49-F238E27FC236}">
                <a16:creationId xmlns:a16="http://schemas.microsoft.com/office/drawing/2014/main" id="{6B14B64E-AB33-C7E8-0DBE-6FC4CB078A5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71500" y="1562100"/>
            <a:ext cx="11049000" cy="3741039"/>
          </a:xfrm>
          <a:prstGeom prst="rect">
            <a:avLst/>
          </a:prstGeom>
        </p:spPr>
      </p:pic>
      <p:sp>
        <p:nvSpPr>
          <p:cNvPr id="6" name="TextBox 5">
            <a:extLst>
              <a:ext uri="{FF2B5EF4-FFF2-40B4-BE49-F238E27FC236}">
                <a16:creationId xmlns:a16="http://schemas.microsoft.com/office/drawing/2014/main" id="{0478D1DC-C0B3-D618-ED9E-415E1745CEB5}"/>
              </a:ext>
            </a:extLst>
          </p:cNvPr>
          <p:cNvSpPr txBox="1"/>
          <p:nvPr/>
        </p:nvSpPr>
        <p:spPr>
          <a:xfrm>
            <a:off x="609600" y="5524499"/>
            <a:ext cx="10795000" cy="431800"/>
          </a:xfrm>
          <a:prstGeom prst="rect">
            <a:avLst/>
          </a:prstGeom>
          <a:noFill/>
        </p:spPr>
        <p:txBody>
          <a:bodyPr vert="horz" wrap="square" lIns="0" tIns="0" rIns="0" bIns="0" rtlCol="0">
            <a:noAutofit/>
          </a:bodyPr>
          <a:lstStyle/>
          <a:p>
            <a:pPr>
              <a:spcAft>
                <a:spcPts val="1000"/>
              </a:spcAft>
            </a:pPr>
            <a:r>
              <a:rPr lang="en-US" sz="2100">
                <a:solidFill>
                  <a:srgbClr val="E8EDF7"/>
                </a:solidFill>
                <a:latin typeface="Arial" panose="020B0604020202020204" pitchFamily="34" charset="0"/>
              </a:rPr>
              <a:t>For 4D and 5D, choose any three coordinates for the 3D view.</a:t>
            </a:r>
            <a:endParaRPr lang="en-IN" sz="2100">
              <a:solidFill>
                <a:srgbClr val="E8EDF7"/>
              </a:solidFill>
              <a:latin typeface="Arial" panose="020B0604020202020204" pitchFamily="34" charset="0"/>
            </a:endParaRPr>
          </a:p>
        </p:txBody>
      </p:sp>
      <p:sp>
        <p:nvSpPr>
          <p:cNvPr id="7" name="TextBox 6">
            <a:extLst>
              <a:ext uri="{FF2B5EF4-FFF2-40B4-BE49-F238E27FC236}">
                <a16:creationId xmlns:a16="http://schemas.microsoft.com/office/drawing/2014/main" id="{E26A4764-E522-102C-E2C1-BAEE134D7BE2}"/>
              </a:ext>
            </a:extLst>
          </p:cNvPr>
          <p:cNvSpPr txBox="1"/>
          <p:nvPr/>
        </p:nvSpPr>
        <p:spPr>
          <a:xfrm>
            <a:off x="609600" y="6032499"/>
            <a:ext cx="10795000" cy="355600"/>
          </a:xfrm>
          <a:prstGeom prst="rect">
            <a:avLst/>
          </a:prstGeom>
          <a:noFill/>
        </p:spPr>
        <p:txBody>
          <a:bodyPr vert="horz" wrap="square" lIns="0" tIns="0" rIns="0" bIns="0" rtlCol="0">
            <a:noAutofit/>
          </a:bodyPr>
          <a:lstStyle/>
          <a:p>
            <a:pPr>
              <a:spcAft>
                <a:spcPts val="1000"/>
              </a:spcAft>
            </a:pPr>
            <a:r>
              <a:rPr lang="en-US">
                <a:solidFill>
                  <a:srgbClr val="B1BCD0"/>
                </a:solidFill>
                <a:latin typeface="Arial" panose="020B0604020202020204" pitchFamily="34" charset="0"/>
              </a:rPr>
              <a:t>All coordinates still contribute to distance and statistics.</a:t>
            </a:r>
            <a:endParaRPr lang="en-IN">
              <a:solidFill>
                <a:srgbClr val="B1BCD0"/>
              </a:solidFill>
              <a:latin typeface="Arial" panose="020B0604020202020204" pitchFamily="34" charset="0"/>
            </a:endParaRPr>
          </a:p>
        </p:txBody>
      </p:sp>
    </p:spTree>
    <p:extLst>
      <p:ext uri="{BB962C8B-B14F-4D97-AF65-F5344CB8AC3E}">
        <p14:creationId xmlns:p14="http://schemas.microsoft.com/office/powerpoint/2010/main" val="19095701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80C1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88A8CF5-9608-8051-E822-8D01394BA255}"/>
              </a:ext>
            </a:extLst>
          </p:cNvPr>
          <p:cNvSpPr txBox="1"/>
          <p:nvPr/>
        </p:nvSpPr>
        <p:spPr>
          <a:xfrm>
            <a:off x="558800" y="482599"/>
            <a:ext cx="11074400" cy="812800"/>
          </a:xfrm>
          <a:prstGeom prst="rect">
            <a:avLst/>
          </a:prstGeom>
          <a:noFill/>
        </p:spPr>
        <p:txBody>
          <a:bodyPr vert="horz" wrap="square" lIns="0" tIns="0" rIns="0" bIns="0" rtlCol="0">
            <a:noAutofit/>
          </a:bodyPr>
          <a:lstStyle/>
          <a:p>
            <a:pPr>
              <a:spcAft>
                <a:spcPts val="1000"/>
              </a:spcAft>
            </a:pPr>
            <a:r>
              <a:rPr lang="en-IN" sz="3200" b="1">
                <a:solidFill>
                  <a:srgbClr val="E8EDF7"/>
                </a:solidFill>
                <a:latin typeface="Arial" panose="020B0604020202020204" pitchFamily="34" charset="0"/>
              </a:rPr>
              <a:t>Mean squared displacement results</a:t>
            </a:r>
          </a:p>
        </p:txBody>
      </p:sp>
      <p:sp>
        <p:nvSpPr>
          <p:cNvPr id="3" name="TextBox 2">
            <a:extLst>
              <a:ext uri="{FF2B5EF4-FFF2-40B4-BE49-F238E27FC236}">
                <a16:creationId xmlns:a16="http://schemas.microsoft.com/office/drawing/2014/main" id="{90C1563B-85C3-EA52-1674-2547761EE790}"/>
              </a:ext>
            </a:extLst>
          </p:cNvPr>
          <p:cNvSpPr txBox="1"/>
          <p:nvPr/>
        </p:nvSpPr>
        <p:spPr>
          <a:xfrm>
            <a:off x="10795000" y="6426200"/>
            <a:ext cx="838200" cy="254000"/>
          </a:xfrm>
          <a:prstGeom prst="rect">
            <a:avLst/>
          </a:prstGeom>
          <a:noFill/>
        </p:spPr>
        <p:txBody>
          <a:bodyPr vert="horz" wrap="square" lIns="0" tIns="0" rIns="0" bIns="0" rtlCol="0">
            <a:noAutofit/>
          </a:bodyPr>
          <a:lstStyle/>
          <a:p>
            <a:pPr>
              <a:spcAft>
                <a:spcPts val="1000"/>
              </a:spcAft>
            </a:pPr>
            <a:r>
              <a:rPr lang="en-IN" sz="1100">
                <a:solidFill>
                  <a:srgbClr val="B1BCD0"/>
                </a:solidFill>
                <a:latin typeface="Arial" panose="020B0604020202020204" pitchFamily="34" charset="0"/>
              </a:rPr>
              <a:t>5 / 10</a:t>
            </a:r>
          </a:p>
        </p:txBody>
      </p:sp>
      <p:sp>
        <p:nvSpPr>
          <p:cNvPr id="4" name="TextBox 3">
            <a:extLst>
              <a:ext uri="{FF2B5EF4-FFF2-40B4-BE49-F238E27FC236}">
                <a16:creationId xmlns:a16="http://schemas.microsoft.com/office/drawing/2014/main" id="{CA5F5079-B2EC-F223-107B-1CA7553A1270}"/>
              </a:ext>
            </a:extLst>
          </p:cNvPr>
          <p:cNvSpPr txBox="1"/>
          <p:nvPr/>
        </p:nvSpPr>
        <p:spPr>
          <a:xfrm>
            <a:off x="609600" y="1435099"/>
            <a:ext cx="10795000" cy="406400"/>
          </a:xfrm>
          <a:prstGeom prst="rect">
            <a:avLst/>
          </a:prstGeom>
          <a:noFill/>
        </p:spPr>
        <p:txBody>
          <a:bodyPr vert="horz" wrap="square" lIns="0" tIns="0" rIns="0" bIns="0" rtlCol="0">
            <a:noAutofit/>
          </a:bodyPr>
          <a:lstStyle/>
          <a:p>
            <a:pPr>
              <a:spcAft>
                <a:spcPts val="1000"/>
              </a:spcAft>
            </a:pPr>
            <a:r>
              <a:rPr lang="en-US" sz="2300">
                <a:solidFill>
                  <a:srgbClr val="E8EDF7"/>
                </a:solidFill>
                <a:latin typeface="Arial" panose="020B0604020202020204" pitchFamily="34" charset="0"/>
              </a:rPr>
              <a:t>MSD = average squared distance from the starting point.</a:t>
            </a:r>
            <a:endParaRPr lang="en-IN" sz="2300">
              <a:solidFill>
                <a:srgbClr val="E8EDF7"/>
              </a:solidFill>
              <a:latin typeface="Arial" panose="020B0604020202020204" pitchFamily="34" charset="0"/>
            </a:endParaRPr>
          </a:p>
        </p:txBody>
      </p:sp>
      <p:sp>
        <p:nvSpPr>
          <p:cNvPr id="5" name="TextBox 4">
            <a:extLst>
              <a:ext uri="{FF2B5EF4-FFF2-40B4-BE49-F238E27FC236}">
                <a16:creationId xmlns:a16="http://schemas.microsoft.com/office/drawing/2014/main" id="{23929790-DFE7-A449-1345-A701F6A15269}"/>
              </a:ext>
            </a:extLst>
          </p:cNvPr>
          <p:cNvSpPr txBox="1"/>
          <p:nvPr/>
        </p:nvSpPr>
        <p:spPr>
          <a:xfrm>
            <a:off x="609600" y="2057399"/>
            <a:ext cx="10795000" cy="381000"/>
          </a:xfrm>
          <a:prstGeom prst="rect">
            <a:avLst/>
          </a:prstGeom>
          <a:noFill/>
        </p:spPr>
        <p:txBody>
          <a:bodyPr vert="horz" wrap="square" lIns="0" tIns="0" rIns="0" bIns="0" rtlCol="0">
            <a:noAutofit/>
          </a:bodyPr>
          <a:lstStyle/>
          <a:p>
            <a:pPr>
              <a:spcAft>
                <a:spcPts val="1000"/>
              </a:spcAft>
            </a:pPr>
            <a:r>
              <a:rPr lang="en-US" sz="2000">
                <a:solidFill>
                  <a:srgbClr val="B1BCD0"/>
                </a:solidFill>
                <a:latin typeface="Arial" panose="020B0604020202020204" pitchFamily="34" charset="0"/>
              </a:rPr>
              <a:t>Saved run | 2,000 steps | 2,000 walkers | Expected MSD: 2,000</a:t>
            </a:r>
            <a:endParaRPr lang="en-IN" sz="2000">
              <a:solidFill>
                <a:srgbClr val="B1BCD0"/>
              </a:solidFill>
              <a:latin typeface="Arial" panose="020B0604020202020204" pitchFamily="34" charset="0"/>
            </a:endParaRPr>
          </a:p>
        </p:txBody>
      </p:sp>
      <p:graphicFrame>
        <p:nvGraphicFramePr>
          <p:cNvPr id="6" name="Table 5">
            <a:extLst>
              <a:ext uri="{FF2B5EF4-FFF2-40B4-BE49-F238E27FC236}">
                <a16:creationId xmlns:a16="http://schemas.microsoft.com/office/drawing/2014/main" id="{854D4555-1619-13C3-2B28-908B8EE620AE}"/>
              </a:ext>
            </a:extLst>
          </p:cNvPr>
          <p:cNvGraphicFramePr>
            <a:graphicFrameLocks noGrp="1"/>
          </p:cNvGraphicFramePr>
          <p:nvPr>
            <p:extLst>
              <p:ext uri="{D42A27DB-BD31-4B8C-83A1-F6EECF244321}">
                <p14:modId xmlns:p14="http://schemas.microsoft.com/office/powerpoint/2010/main" val="3441956791"/>
              </p:ext>
            </p:extLst>
          </p:nvPr>
        </p:nvGraphicFramePr>
        <p:xfrm>
          <a:off x="609600" y="2755900"/>
          <a:ext cx="10972800" cy="2857500"/>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3898038068"/>
                    </a:ext>
                  </a:extLst>
                </a:gridCol>
                <a:gridCol w="3657600">
                  <a:extLst>
                    <a:ext uri="{9D8B030D-6E8A-4147-A177-3AD203B41FA5}">
                      <a16:colId xmlns:a16="http://schemas.microsoft.com/office/drawing/2014/main" val="3796758562"/>
                    </a:ext>
                  </a:extLst>
                </a:gridCol>
                <a:gridCol w="3657600">
                  <a:extLst>
                    <a:ext uri="{9D8B030D-6E8A-4147-A177-3AD203B41FA5}">
                      <a16:colId xmlns:a16="http://schemas.microsoft.com/office/drawing/2014/main" val="2930489664"/>
                    </a:ext>
                  </a:extLst>
                </a:gridCol>
              </a:tblGrid>
              <a:tr h="476250">
                <a:tc>
                  <a:txBody>
                    <a:bodyPr/>
                    <a:lstStyle/>
                    <a:p>
                      <a:r>
                        <a:rPr lang="en-IN" sz="2000" b="1">
                          <a:solidFill>
                            <a:srgbClr val="38D2E8"/>
                          </a:solidFill>
                          <a:latin typeface="Arial" panose="020B0604020202020204" pitchFamily="34" charset="0"/>
                        </a:rPr>
                        <a:t>Dimension</a:t>
                      </a:r>
                    </a:p>
                  </a:txBody>
                  <a:tcPr marL="152400" marR="152400" marT="50800" marB="50800" anchor="ctr">
                    <a:lnL w="6350" cmpd="sng">
                      <a:solidFill>
                        <a:srgbClr val="26314B"/>
                      </a:solidFill>
                    </a:lnL>
                    <a:lnR w="6350" cmpd="sng">
                      <a:solidFill>
                        <a:srgbClr val="26314B"/>
                      </a:solidFill>
                    </a:lnR>
                    <a:lnT w="6350" cmpd="sng">
                      <a:solidFill>
                        <a:srgbClr val="26314B"/>
                      </a:solidFill>
                    </a:lnT>
                    <a:lnB w="6350" cmpd="sng">
                      <a:solidFill>
                        <a:srgbClr val="26314B"/>
                      </a:solidFill>
                    </a:lnB>
                    <a:solidFill>
                      <a:srgbClr val="080C1B"/>
                    </a:solidFill>
                  </a:tcPr>
                </a:tc>
                <a:tc>
                  <a:txBody>
                    <a:bodyPr/>
                    <a:lstStyle/>
                    <a:p>
                      <a:r>
                        <a:rPr lang="en-IN" sz="2000" b="1">
                          <a:solidFill>
                            <a:srgbClr val="38D2E8"/>
                          </a:solidFill>
                          <a:latin typeface="Arial" panose="020B0604020202020204" pitchFamily="34" charset="0"/>
                        </a:rPr>
                        <a:t>Measured MSD</a:t>
                      </a:r>
                    </a:p>
                  </a:txBody>
                  <a:tcPr marL="152400" marR="152400" marT="50800" marB="50800" anchor="ctr">
                    <a:lnL w="6350" cmpd="sng">
                      <a:solidFill>
                        <a:srgbClr val="26314B"/>
                      </a:solidFill>
                    </a:lnL>
                    <a:lnR w="6350" cmpd="sng">
                      <a:solidFill>
                        <a:srgbClr val="26314B"/>
                      </a:solidFill>
                    </a:lnR>
                    <a:lnT w="6350" cmpd="sng">
                      <a:solidFill>
                        <a:srgbClr val="26314B"/>
                      </a:solidFill>
                    </a:lnT>
                    <a:lnB w="6350" cmpd="sng">
                      <a:solidFill>
                        <a:srgbClr val="26314B"/>
                      </a:solidFill>
                    </a:lnB>
                    <a:solidFill>
                      <a:srgbClr val="080C1B"/>
                    </a:solidFill>
                  </a:tcPr>
                </a:tc>
                <a:tc>
                  <a:txBody>
                    <a:bodyPr/>
                    <a:lstStyle/>
                    <a:p>
                      <a:r>
                        <a:rPr lang="en-IN" sz="2000" b="1">
                          <a:solidFill>
                            <a:srgbClr val="38D2E8"/>
                          </a:solidFill>
                          <a:latin typeface="Arial" panose="020B0604020202020204" pitchFamily="34" charset="0"/>
                        </a:rPr>
                        <a:t>Error</a:t>
                      </a:r>
                    </a:p>
                  </a:txBody>
                  <a:tcPr marL="152400" marR="152400" marT="50800" marB="50800" anchor="ctr">
                    <a:lnL w="6350" cmpd="sng">
                      <a:solidFill>
                        <a:srgbClr val="26314B"/>
                      </a:solidFill>
                    </a:lnL>
                    <a:lnR w="6350" cmpd="sng">
                      <a:solidFill>
                        <a:srgbClr val="26314B"/>
                      </a:solidFill>
                    </a:lnR>
                    <a:lnT w="6350" cmpd="sng">
                      <a:solidFill>
                        <a:srgbClr val="26314B"/>
                      </a:solidFill>
                    </a:lnT>
                    <a:lnB w="6350" cmpd="sng">
                      <a:solidFill>
                        <a:srgbClr val="26314B"/>
                      </a:solidFill>
                    </a:lnB>
                    <a:solidFill>
                      <a:srgbClr val="080C1B"/>
                    </a:solidFill>
                  </a:tcPr>
                </a:tc>
                <a:extLst>
                  <a:ext uri="{0D108BD9-81ED-4DB2-BD59-A6C34878D82A}">
                    <a16:rowId xmlns:a16="http://schemas.microsoft.com/office/drawing/2014/main" val="3514539394"/>
                  </a:ext>
                </a:extLst>
              </a:tr>
              <a:tr h="476250">
                <a:tc>
                  <a:txBody>
                    <a:bodyPr/>
                    <a:lstStyle/>
                    <a:p>
                      <a:r>
                        <a:rPr lang="en-IN" sz="2000" b="0">
                          <a:solidFill>
                            <a:srgbClr val="E8EDF7"/>
                          </a:solidFill>
                          <a:latin typeface="Arial" panose="020B0604020202020204" pitchFamily="34" charset="0"/>
                        </a:rPr>
                        <a:t>1D</a:t>
                      </a:r>
                    </a:p>
                  </a:txBody>
                  <a:tcPr marL="152400" marR="152400" marT="50800" marB="50800" anchor="ctr">
                    <a:lnL w="6350" cmpd="sng">
                      <a:solidFill>
                        <a:srgbClr val="26314B"/>
                      </a:solidFill>
                    </a:lnL>
                    <a:lnR w="6350" cmpd="sng">
                      <a:solidFill>
                        <a:srgbClr val="26314B"/>
                      </a:solidFill>
                    </a:lnR>
                    <a:lnT w="6350" cmpd="sng">
                      <a:solidFill>
                        <a:srgbClr val="26314B"/>
                      </a:solidFill>
                    </a:lnT>
                    <a:lnB w="6350" cmpd="sng">
                      <a:solidFill>
                        <a:srgbClr val="26314B"/>
                      </a:solidFill>
                    </a:lnB>
                    <a:solidFill>
                      <a:srgbClr val="080C1B"/>
                    </a:solidFill>
                  </a:tcPr>
                </a:tc>
                <a:tc>
                  <a:txBody>
                    <a:bodyPr/>
                    <a:lstStyle/>
                    <a:p>
                      <a:r>
                        <a:rPr lang="en-IN" sz="2000" b="0">
                          <a:solidFill>
                            <a:srgbClr val="E8EDF7"/>
                          </a:solidFill>
                          <a:latin typeface="Arial" panose="020B0604020202020204" pitchFamily="34" charset="0"/>
                        </a:rPr>
                        <a:t>1,968</a:t>
                      </a:r>
                    </a:p>
                  </a:txBody>
                  <a:tcPr marL="152400" marR="152400" marT="50800" marB="50800" anchor="ctr">
                    <a:lnL w="6350" cmpd="sng">
                      <a:solidFill>
                        <a:srgbClr val="26314B"/>
                      </a:solidFill>
                    </a:lnL>
                    <a:lnR w="6350" cmpd="sng">
                      <a:solidFill>
                        <a:srgbClr val="26314B"/>
                      </a:solidFill>
                    </a:lnR>
                    <a:lnT w="6350" cmpd="sng">
                      <a:solidFill>
                        <a:srgbClr val="26314B"/>
                      </a:solidFill>
                    </a:lnT>
                    <a:lnB w="6350" cmpd="sng">
                      <a:solidFill>
                        <a:srgbClr val="26314B"/>
                      </a:solidFill>
                    </a:lnB>
                    <a:solidFill>
                      <a:srgbClr val="080C1B"/>
                    </a:solidFill>
                  </a:tcPr>
                </a:tc>
                <a:tc>
                  <a:txBody>
                    <a:bodyPr/>
                    <a:lstStyle/>
                    <a:p>
                      <a:r>
                        <a:rPr lang="en-IN" sz="2000" b="0">
                          <a:solidFill>
                            <a:srgbClr val="E8EDF7"/>
                          </a:solidFill>
                          <a:latin typeface="Arial" panose="020B0604020202020204" pitchFamily="34" charset="0"/>
                        </a:rPr>
                        <a:t>1.6%</a:t>
                      </a:r>
                    </a:p>
                  </a:txBody>
                  <a:tcPr marL="152400" marR="152400" marT="50800" marB="50800" anchor="ctr">
                    <a:lnL w="6350" cmpd="sng">
                      <a:solidFill>
                        <a:srgbClr val="26314B"/>
                      </a:solidFill>
                    </a:lnL>
                    <a:lnR w="6350" cmpd="sng">
                      <a:solidFill>
                        <a:srgbClr val="26314B"/>
                      </a:solidFill>
                    </a:lnR>
                    <a:lnT w="6350" cmpd="sng">
                      <a:solidFill>
                        <a:srgbClr val="26314B"/>
                      </a:solidFill>
                    </a:lnT>
                    <a:lnB w="6350" cmpd="sng">
                      <a:solidFill>
                        <a:srgbClr val="26314B"/>
                      </a:solidFill>
                    </a:lnB>
                    <a:solidFill>
                      <a:srgbClr val="080C1B"/>
                    </a:solidFill>
                  </a:tcPr>
                </a:tc>
                <a:extLst>
                  <a:ext uri="{0D108BD9-81ED-4DB2-BD59-A6C34878D82A}">
                    <a16:rowId xmlns:a16="http://schemas.microsoft.com/office/drawing/2014/main" val="3501770853"/>
                  </a:ext>
                </a:extLst>
              </a:tr>
              <a:tr h="476250">
                <a:tc>
                  <a:txBody>
                    <a:bodyPr/>
                    <a:lstStyle/>
                    <a:p>
                      <a:r>
                        <a:rPr lang="en-IN" sz="2000" b="0">
                          <a:solidFill>
                            <a:srgbClr val="E8EDF7"/>
                          </a:solidFill>
                          <a:latin typeface="Arial" panose="020B0604020202020204" pitchFamily="34" charset="0"/>
                        </a:rPr>
                        <a:t>2D</a:t>
                      </a:r>
                    </a:p>
                  </a:txBody>
                  <a:tcPr marL="152400" marR="152400" marT="50800" marB="50800" anchor="ctr">
                    <a:lnL w="6350" cmpd="sng">
                      <a:solidFill>
                        <a:srgbClr val="26314B"/>
                      </a:solidFill>
                    </a:lnL>
                    <a:lnR w="6350" cmpd="sng">
                      <a:solidFill>
                        <a:srgbClr val="26314B"/>
                      </a:solidFill>
                    </a:lnR>
                    <a:lnT w="6350" cmpd="sng">
                      <a:solidFill>
                        <a:srgbClr val="26314B"/>
                      </a:solidFill>
                    </a:lnT>
                    <a:lnB w="6350" cmpd="sng">
                      <a:solidFill>
                        <a:srgbClr val="26314B"/>
                      </a:solidFill>
                    </a:lnB>
                    <a:solidFill>
                      <a:srgbClr val="080C1B"/>
                    </a:solidFill>
                  </a:tcPr>
                </a:tc>
                <a:tc>
                  <a:txBody>
                    <a:bodyPr/>
                    <a:lstStyle/>
                    <a:p>
                      <a:r>
                        <a:rPr lang="en-IN" sz="2000" b="0">
                          <a:solidFill>
                            <a:srgbClr val="E8EDF7"/>
                          </a:solidFill>
                          <a:latin typeface="Arial" panose="020B0604020202020204" pitchFamily="34" charset="0"/>
                        </a:rPr>
                        <a:t>1,989</a:t>
                      </a:r>
                    </a:p>
                  </a:txBody>
                  <a:tcPr marL="152400" marR="152400" marT="50800" marB="50800" anchor="ctr">
                    <a:lnL w="6350" cmpd="sng">
                      <a:solidFill>
                        <a:srgbClr val="26314B"/>
                      </a:solidFill>
                    </a:lnL>
                    <a:lnR w="6350" cmpd="sng">
                      <a:solidFill>
                        <a:srgbClr val="26314B"/>
                      </a:solidFill>
                    </a:lnR>
                    <a:lnT w="6350" cmpd="sng">
                      <a:solidFill>
                        <a:srgbClr val="26314B"/>
                      </a:solidFill>
                    </a:lnT>
                    <a:lnB w="6350" cmpd="sng">
                      <a:solidFill>
                        <a:srgbClr val="26314B"/>
                      </a:solidFill>
                    </a:lnB>
                    <a:solidFill>
                      <a:srgbClr val="080C1B"/>
                    </a:solidFill>
                  </a:tcPr>
                </a:tc>
                <a:tc>
                  <a:txBody>
                    <a:bodyPr/>
                    <a:lstStyle/>
                    <a:p>
                      <a:r>
                        <a:rPr lang="en-IN" sz="2000" b="0">
                          <a:solidFill>
                            <a:srgbClr val="E8EDF7"/>
                          </a:solidFill>
                          <a:latin typeface="Arial" panose="020B0604020202020204" pitchFamily="34" charset="0"/>
                        </a:rPr>
                        <a:t>0.5%</a:t>
                      </a:r>
                    </a:p>
                  </a:txBody>
                  <a:tcPr marL="152400" marR="152400" marT="50800" marB="50800" anchor="ctr">
                    <a:lnL w="6350" cmpd="sng">
                      <a:solidFill>
                        <a:srgbClr val="26314B"/>
                      </a:solidFill>
                    </a:lnL>
                    <a:lnR w="6350" cmpd="sng">
                      <a:solidFill>
                        <a:srgbClr val="26314B"/>
                      </a:solidFill>
                    </a:lnR>
                    <a:lnT w="6350" cmpd="sng">
                      <a:solidFill>
                        <a:srgbClr val="26314B"/>
                      </a:solidFill>
                    </a:lnT>
                    <a:lnB w="6350" cmpd="sng">
                      <a:solidFill>
                        <a:srgbClr val="26314B"/>
                      </a:solidFill>
                    </a:lnB>
                    <a:solidFill>
                      <a:srgbClr val="080C1B"/>
                    </a:solidFill>
                  </a:tcPr>
                </a:tc>
                <a:extLst>
                  <a:ext uri="{0D108BD9-81ED-4DB2-BD59-A6C34878D82A}">
                    <a16:rowId xmlns:a16="http://schemas.microsoft.com/office/drawing/2014/main" val="674307930"/>
                  </a:ext>
                </a:extLst>
              </a:tr>
              <a:tr h="476250">
                <a:tc>
                  <a:txBody>
                    <a:bodyPr/>
                    <a:lstStyle/>
                    <a:p>
                      <a:r>
                        <a:rPr lang="en-IN" sz="2000" b="0">
                          <a:solidFill>
                            <a:srgbClr val="E8EDF7"/>
                          </a:solidFill>
                          <a:latin typeface="Arial" panose="020B0604020202020204" pitchFamily="34" charset="0"/>
                        </a:rPr>
                        <a:t>3D</a:t>
                      </a:r>
                    </a:p>
                  </a:txBody>
                  <a:tcPr marL="152400" marR="152400" marT="50800" marB="50800" anchor="ctr">
                    <a:lnL w="6350" cmpd="sng">
                      <a:solidFill>
                        <a:srgbClr val="26314B"/>
                      </a:solidFill>
                    </a:lnL>
                    <a:lnR w="6350" cmpd="sng">
                      <a:solidFill>
                        <a:srgbClr val="26314B"/>
                      </a:solidFill>
                    </a:lnR>
                    <a:lnT w="6350" cmpd="sng">
                      <a:solidFill>
                        <a:srgbClr val="26314B"/>
                      </a:solidFill>
                    </a:lnT>
                    <a:lnB w="6350" cmpd="sng">
                      <a:solidFill>
                        <a:srgbClr val="26314B"/>
                      </a:solidFill>
                    </a:lnB>
                    <a:solidFill>
                      <a:srgbClr val="080C1B"/>
                    </a:solidFill>
                  </a:tcPr>
                </a:tc>
                <a:tc>
                  <a:txBody>
                    <a:bodyPr/>
                    <a:lstStyle/>
                    <a:p>
                      <a:r>
                        <a:rPr lang="en-IN" sz="2000" b="0">
                          <a:solidFill>
                            <a:srgbClr val="E8EDF7"/>
                          </a:solidFill>
                          <a:latin typeface="Arial" panose="020B0604020202020204" pitchFamily="34" charset="0"/>
                        </a:rPr>
                        <a:t>1,995</a:t>
                      </a:r>
                    </a:p>
                  </a:txBody>
                  <a:tcPr marL="152400" marR="152400" marT="50800" marB="50800" anchor="ctr">
                    <a:lnL w="6350" cmpd="sng">
                      <a:solidFill>
                        <a:srgbClr val="26314B"/>
                      </a:solidFill>
                    </a:lnL>
                    <a:lnR w="6350" cmpd="sng">
                      <a:solidFill>
                        <a:srgbClr val="26314B"/>
                      </a:solidFill>
                    </a:lnR>
                    <a:lnT w="6350" cmpd="sng">
                      <a:solidFill>
                        <a:srgbClr val="26314B"/>
                      </a:solidFill>
                    </a:lnT>
                    <a:lnB w="6350" cmpd="sng">
                      <a:solidFill>
                        <a:srgbClr val="26314B"/>
                      </a:solidFill>
                    </a:lnB>
                    <a:solidFill>
                      <a:srgbClr val="080C1B"/>
                    </a:solidFill>
                  </a:tcPr>
                </a:tc>
                <a:tc>
                  <a:txBody>
                    <a:bodyPr/>
                    <a:lstStyle/>
                    <a:p>
                      <a:r>
                        <a:rPr lang="en-IN" sz="2000" b="0">
                          <a:solidFill>
                            <a:srgbClr val="E8EDF7"/>
                          </a:solidFill>
                          <a:latin typeface="Arial" panose="020B0604020202020204" pitchFamily="34" charset="0"/>
                        </a:rPr>
                        <a:t>0.2%</a:t>
                      </a:r>
                    </a:p>
                  </a:txBody>
                  <a:tcPr marL="152400" marR="152400" marT="50800" marB="50800" anchor="ctr">
                    <a:lnL w="6350" cmpd="sng">
                      <a:solidFill>
                        <a:srgbClr val="26314B"/>
                      </a:solidFill>
                    </a:lnL>
                    <a:lnR w="6350" cmpd="sng">
                      <a:solidFill>
                        <a:srgbClr val="26314B"/>
                      </a:solidFill>
                    </a:lnR>
                    <a:lnT w="6350" cmpd="sng">
                      <a:solidFill>
                        <a:srgbClr val="26314B"/>
                      </a:solidFill>
                    </a:lnT>
                    <a:lnB w="6350" cmpd="sng">
                      <a:solidFill>
                        <a:srgbClr val="26314B"/>
                      </a:solidFill>
                    </a:lnB>
                    <a:solidFill>
                      <a:srgbClr val="080C1B"/>
                    </a:solidFill>
                  </a:tcPr>
                </a:tc>
                <a:extLst>
                  <a:ext uri="{0D108BD9-81ED-4DB2-BD59-A6C34878D82A}">
                    <a16:rowId xmlns:a16="http://schemas.microsoft.com/office/drawing/2014/main" val="1491976433"/>
                  </a:ext>
                </a:extLst>
              </a:tr>
              <a:tr h="476250">
                <a:tc>
                  <a:txBody>
                    <a:bodyPr/>
                    <a:lstStyle/>
                    <a:p>
                      <a:r>
                        <a:rPr lang="en-IN" sz="2000" b="0">
                          <a:solidFill>
                            <a:srgbClr val="E8EDF7"/>
                          </a:solidFill>
                          <a:latin typeface="Arial" panose="020B0604020202020204" pitchFamily="34" charset="0"/>
                        </a:rPr>
                        <a:t>4D</a:t>
                      </a:r>
                    </a:p>
                  </a:txBody>
                  <a:tcPr marL="152400" marR="152400" marT="50800" marB="50800" anchor="ctr">
                    <a:lnL w="6350" cmpd="sng">
                      <a:solidFill>
                        <a:srgbClr val="26314B"/>
                      </a:solidFill>
                    </a:lnL>
                    <a:lnR w="6350" cmpd="sng">
                      <a:solidFill>
                        <a:srgbClr val="26314B"/>
                      </a:solidFill>
                    </a:lnR>
                    <a:lnT w="6350" cmpd="sng">
                      <a:solidFill>
                        <a:srgbClr val="26314B"/>
                      </a:solidFill>
                    </a:lnT>
                    <a:lnB w="6350" cmpd="sng">
                      <a:solidFill>
                        <a:srgbClr val="26314B"/>
                      </a:solidFill>
                    </a:lnB>
                    <a:solidFill>
                      <a:srgbClr val="080C1B"/>
                    </a:solidFill>
                  </a:tcPr>
                </a:tc>
                <a:tc>
                  <a:txBody>
                    <a:bodyPr/>
                    <a:lstStyle/>
                    <a:p>
                      <a:r>
                        <a:rPr lang="en-IN" sz="2000" b="0">
                          <a:solidFill>
                            <a:srgbClr val="E8EDF7"/>
                          </a:solidFill>
                          <a:latin typeface="Arial" panose="020B0604020202020204" pitchFamily="34" charset="0"/>
                        </a:rPr>
                        <a:t>1,970</a:t>
                      </a:r>
                    </a:p>
                  </a:txBody>
                  <a:tcPr marL="152400" marR="152400" marT="50800" marB="50800" anchor="ctr">
                    <a:lnL w="6350" cmpd="sng">
                      <a:solidFill>
                        <a:srgbClr val="26314B"/>
                      </a:solidFill>
                    </a:lnL>
                    <a:lnR w="6350" cmpd="sng">
                      <a:solidFill>
                        <a:srgbClr val="26314B"/>
                      </a:solidFill>
                    </a:lnR>
                    <a:lnT w="6350" cmpd="sng">
                      <a:solidFill>
                        <a:srgbClr val="26314B"/>
                      </a:solidFill>
                    </a:lnT>
                    <a:lnB w="6350" cmpd="sng">
                      <a:solidFill>
                        <a:srgbClr val="26314B"/>
                      </a:solidFill>
                    </a:lnB>
                    <a:solidFill>
                      <a:srgbClr val="080C1B"/>
                    </a:solidFill>
                  </a:tcPr>
                </a:tc>
                <a:tc>
                  <a:txBody>
                    <a:bodyPr/>
                    <a:lstStyle/>
                    <a:p>
                      <a:r>
                        <a:rPr lang="en-IN" sz="2000" b="0">
                          <a:solidFill>
                            <a:srgbClr val="E8EDF7"/>
                          </a:solidFill>
                          <a:latin typeface="Arial" panose="020B0604020202020204" pitchFamily="34" charset="0"/>
                        </a:rPr>
                        <a:t>1.5%</a:t>
                      </a:r>
                    </a:p>
                  </a:txBody>
                  <a:tcPr marL="152400" marR="152400" marT="50800" marB="50800" anchor="ctr">
                    <a:lnL w="6350" cmpd="sng">
                      <a:solidFill>
                        <a:srgbClr val="26314B"/>
                      </a:solidFill>
                    </a:lnL>
                    <a:lnR w="6350" cmpd="sng">
                      <a:solidFill>
                        <a:srgbClr val="26314B"/>
                      </a:solidFill>
                    </a:lnR>
                    <a:lnT w="6350" cmpd="sng">
                      <a:solidFill>
                        <a:srgbClr val="26314B"/>
                      </a:solidFill>
                    </a:lnT>
                    <a:lnB w="6350" cmpd="sng">
                      <a:solidFill>
                        <a:srgbClr val="26314B"/>
                      </a:solidFill>
                    </a:lnB>
                    <a:solidFill>
                      <a:srgbClr val="080C1B"/>
                    </a:solidFill>
                  </a:tcPr>
                </a:tc>
                <a:extLst>
                  <a:ext uri="{0D108BD9-81ED-4DB2-BD59-A6C34878D82A}">
                    <a16:rowId xmlns:a16="http://schemas.microsoft.com/office/drawing/2014/main" val="1167039900"/>
                  </a:ext>
                </a:extLst>
              </a:tr>
              <a:tr h="476250">
                <a:tc>
                  <a:txBody>
                    <a:bodyPr/>
                    <a:lstStyle/>
                    <a:p>
                      <a:r>
                        <a:rPr lang="en-IN" sz="2000" b="0">
                          <a:solidFill>
                            <a:srgbClr val="E8EDF7"/>
                          </a:solidFill>
                          <a:latin typeface="Arial" panose="020B0604020202020204" pitchFamily="34" charset="0"/>
                        </a:rPr>
                        <a:t>5D</a:t>
                      </a:r>
                    </a:p>
                  </a:txBody>
                  <a:tcPr marL="152400" marR="152400" marT="50800" marB="50800" anchor="ctr">
                    <a:lnL w="6350" cmpd="sng">
                      <a:solidFill>
                        <a:srgbClr val="26314B"/>
                      </a:solidFill>
                    </a:lnL>
                    <a:lnR w="6350" cmpd="sng">
                      <a:solidFill>
                        <a:srgbClr val="26314B"/>
                      </a:solidFill>
                    </a:lnR>
                    <a:lnT w="6350" cmpd="sng">
                      <a:solidFill>
                        <a:srgbClr val="26314B"/>
                      </a:solidFill>
                    </a:lnT>
                    <a:lnB w="6350" cmpd="sng">
                      <a:solidFill>
                        <a:srgbClr val="26314B"/>
                      </a:solidFill>
                    </a:lnB>
                    <a:solidFill>
                      <a:srgbClr val="080C1B"/>
                    </a:solidFill>
                  </a:tcPr>
                </a:tc>
                <a:tc>
                  <a:txBody>
                    <a:bodyPr/>
                    <a:lstStyle/>
                    <a:p>
                      <a:r>
                        <a:rPr lang="en-IN" sz="2000" b="0">
                          <a:solidFill>
                            <a:srgbClr val="E8EDF7"/>
                          </a:solidFill>
                          <a:latin typeface="Arial" panose="020B0604020202020204" pitchFamily="34" charset="0"/>
                        </a:rPr>
                        <a:t>1,967</a:t>
                      </a:r>
                    </a:p>
                  </a:txBody>
                  <a:tcPr marL="152400" marR="152400" marT="50800" marB="50800" anchor="ctr">
                    <a:lnL w="6350" cmpd="sng">
                      <a:solidFill>
                        <a:srgbClr val="26314B"/>
                      </a:solidFill>
                    </a:lnL>
                    <a:lnR w="6350" cmpd="sng">
                      <a:solidFill>
                        <a:srgbClr val="26314B"/>
                      </a:solidFill>
                    </a:lnR>
                    <a:lnT w="6350" cmpd="sng">
                      <a:solidFill>
                        <a:srgbClr val="26314B"/>
                      </a:solidFill>
                    </a:lnT>
                    <a:lnB w="6350" cmpd="sng">
                      <a:solidFill>
                        <a:srgbClr val="26314B"/>
                      </a:solidFill>
                    </a:lnB>
                    <a:solidFill>
                      <a:srgbClr val="080C1B"/>
                    </a:solidFill>
                  </a:tcPr>
                </a:tc>
                <a:tc>
                  <a:txBody>
                    <a:bodyPr/>
                    <a:lstStyle/>
                    <a:p>
                      <a:r>
                        <a:rPr lang="en-IN" sz="2000" b="0">
                          <a:solidFill>
                            <a:srgbClr val="E8EDF7"/>
                          </a:solidFill>
                          <a:latin typeface="Arial" panose="020B0604020202020204" pitchFamily="34" charset="0"/>
                        </a:rPr>
                        <a:t>1.7%</a:t>
                      </a:r>
                    </a:p>
                  </a:txBody>
                  <a:tcPr marL="152400" marR="152400" marT="50800" marB="50800" anchor="ctr">
                    <a:lnL w="6350" cmpd="sng">
                      <a:solidFill>
                        <a:srgbClr val="26314B"/>
                      </a:solidFill>
                    </a:lnL>
                    <a:lnR w="6350" cmpd="sng">
                      <a:solidFill>
                        <a:srgbClr val="26314B"/>
                      </a:solidFill>
                    </a:lnR>
                    <a:lnT w="6350" cmpd="sng">
                      <a:solidFill>
                        <a:srgbClr val="26314B"/>
                      </a:solidFill>
                    </a:lnT>
                    <a:lnB w="6350" cmpd="sng">
                      <a:solidFill>
                        <a:srgbClr val="26314B"/>
                      </a:solidFill>
                    </a:lnB>
                    <a:solidFill>
                      <a:srgbClr val="080C1B"/>
                    </a:solidFill>
                  </a:tcPr>
                </a:tc>
                <a:extLst>
                  <a:ext uri="{0D108BD9-81ED-4DB2-BD59-A6C34878D82A}">
                    <a16:rowId xmlns:a16="http://schemas.microsoft.com/office/drawing/2014/main" val="2278264190"/>
                  </a:ext>
                </a:extLst>
              </a:tr>
            </a:tbl>
          </a:graphicData>
        </a:graphic>
      </p:graphicFrame>
      <p:sp>
        <p:nvSpPr>
          <p:cNvPr id="7" name="TextBox 6">
            <a:extLst>
              <a:ext uri="{FF2B5EF4-FFF2-40B4-BE49-F238E27FC236}">
                <a16:creationId xmlns:a16="http://schemas.microsoft.com/office/drawing/2014/main" id="{2F8A85DC-EE09-2164-7EE7-469F3E52C919}"/>
              </a:ext>
            </a:extLst>
          </p:cNvPr>
          <p:cNvSpPr txBox="1"/>
          <p:nvPr/>
        </p:nvSpPr>
        <p:spPr>
          <a:xfrm>
            <a:off x="609600" y="5867399"/>
            <a:ext cx="10795000" cy="469900"/>
          </a:xfrm>
          <a:prstGeom prst="rect">
            <a:avLst/>
          </a:prstGeom>
          <a:noFill/>
        </p:spPr>
        <p:txBody>
          <a:bodyPr vert="horz" wrap="square" lIns="0" tIns="0" rIns="0" bIns="0" rtlCol="0">
            <a:noAutofit/>
          </a:bodyPr>
          <a:lstStyle/>
          <a:p>
            <a:pPr>
              <a:spcAft>
                <a:spcPts val="1000"/>
              </a:spcAft>
            </a:pPr>
            <a:r>
              <a:rPr lang="en-US" sz="2100">
                <a:solidFill>
                  <a:srgbClr val="38D2E8"/>
                </a:solidFill>
                <a:latin typeface="Arial" panose="020B0604020202020204" pitchFamily="34" charset="0"/>
              </a:rPr>
              <a:t>The measured values were close to the expected value in all five dimensions.</a:t>
            </a:r>
            <a:endParaRPr lang="en-IN" sz="2100">
              <a:solidFill>
                <a:srgbClr val="38D2E8"/>
              </a:solidFill>
              <a:latin typeface="Arial" panose="020B0604020202020204" pitchFamily="34" charset="0"/>
            </a:endParaRPr>
          </a:p>
        </p:txBody>
      </p:sp>
    </p:spTree>
    <p:extLst>
      <p:ext uri="{BB962C8B-B14F-4D97-AF65-F5344CB8AC3E}">
        <p14:creationId xmlns:p14="http://schemas.microsoft.com/office/powerpoint/2010/main" val="28042602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80C1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EED6150-6C68-00A6-F3E0-5652DEB7EBDF}"/>
              </a:ext>
            </a:extLst>
          </p:cNvPr>
          <p:cNvSpPr txBox="1"/>
          <p:nvPr/>
        </p:nvSpPr>
        <p:spPr>
          <a:xfrm>
            <a:off x="558800" y="482599"/>
            <a:ext cx="11074400" cy="812800"/>
          </a:xfrm>
          <a:prstGeom prst="rect">
            <a:avLst/>
          </a:prstGeom>
          <a:noFill/>
        </p:spPr>
        <p:txBody>
          <a:bodyPr vert="horz" wrap="square" lIns="0" tIns="0" rIns="0" bIns="0" rtlCol="0">
            <a:noAutofit/>
          </a:bodyPr>
          <a:lstStyle/>
          <a:p>
            <a:pPr>
              <a:spcAft>
                <a:spcPts val="1000"/>
              </a:spcAft>
            </a:pPr>
            <a:r>
              <a:rPr lang="en-IN" sz="3200" b="1">
                <a:solidFill>
                  <a:srgbClr val="E8EDF7"/>
                </a:solidFill>
                <a:latin typeface="Arial" panose="020B0604020202020204" pitchFamily="34" charset="0"/>
              </a:rPr>
              <a:t>Distributions of final positions</a:t>
            </a:r>
          </a:p>
        </p:txBody>
      </p:sp>
      <p:sp>
        <p:nvSpPr>
          <p:cNvPr id="3" name="TextBox 2">
            <a:extLst>
              <a:ext uri="{FF2B5EF4-FFF2-40B4-BE49-F238E27FC236}">
                <a16:creationId xmlns:a16="http://schemas.microsoft.com/office/drawing/2014/main" id="{96FFD350-75E0-0593-2945-7906AD1CF01F}"/>
              </a:ext>
            </a:extLst>
          </p:cNvPr>
          <p:cNvSpPr txBox="1"/>
          <p:nvPr/>
        </p:nvSpPr>
        <p:spPr>
          <a:xfrm>
            <a:off x="10795000" y="6426200"/>
            <a:ext cx="838200" cy="254000"/>
          </a:xfrm>
          <a:prstGeom prst="rect">
            <a:avLst/>
          </a:prstGeom>
          <a:noFill/>
        </p:spPr>
        <p:txBody>
          <a:bodyPr vert="horz" wrap="square" lIns="0" tIns="0" rIns="0" bIns="0" rtlCol="0">
            <a:noAutofit/>
          </a:bodyPr>
          <a:lstStyle/>
          <a:p>
            <a:pPr>
              <a:spcAft>
                <a:spcPts val="1000"/>
              </a:spcAft>
            </a:pPr>
            <a:r>
              <a:rPr lang="en-IN" sz="1100">
                <a:solidFill>
                  <a:srgbClr val="B1BCD0"/>
                </a:solidFill>
                <a:latin typeface="Arial" panose="020B0604020202020204" pitchFamily="34" charset="0"/>
              </a:rPr>
              <a:t>6 / 10</a:t>
            </a:r>
          </a:p>
        </p:txBody>
      </p:sp>
      <p:sp>
        <p:nvSpPr>
          <p:cNvPr id="4" name="TextBox 3">
            <a:extLst>
              <a:ext uri="{FF2B5EF4-FFF2-40B4-BE49-F238E27FC236}">
                <a16:creationId xmlns:a16="http://schemas.microsoft.com/office/drawing/2014/main" id="{67A224B5-13AB-3E0A-717F-68B8942666C4}"/>
              </a:ext>
            </a:extLst>
          </p:cNvPr>
          <p:cNvSpPr txBox="1"/>
          <p:nvPr/>
        </p:nvSpPr>
        <p:spPr>
          <a:xfrm>
            <a:off x="609600" y="1447799"/>
            <a:ext cx="10795000" cy="431800"/>
          </a:xfrm>
          <a:prstGeom prst="rect">
            <a:avLst/>
          </a:prstGeom>
          <a:noFill/>
        </p:spPr>
        <p:txBody>
          <a:bodyPr vert="horz" wrap="square" lIns="0" tIns="0" rIns="0" bIns="0" rtlCol="0">
            <a:noAutofit/>
          </a:bodyPr>
          <a:lstStyle/>
          <a:p>
            <a:pPr>
              <a:spcAft>
                <a:spcPts val="1000"/>
              </a:spcAft>
            </a:pPr>
            <a:r>
              <a:rPr lang="en-US" sz="2300">
                <a:solidFill>
                  <a:srgbClr val="E8EDF7"/>
                </a:solidFill>
                <a:latin typeface="Arial" panose="020B0604020202020204" pitchFamily="34" charset="0"/>
              </a:rPr>
              <a:t>Each histogram uses the final positions of all ensemble walkers.</a:t>
            </a:r>
            <a:endParaRPr lang="en-IN" sz="2300">
              <a:solidFill>
                <a:srgbClr val="E8EDF7"/>
              </a:solidFill>
              <a:latin typeface="Arial" panose="020B0604020202020204" pitchFamily="34" charset="0"/>
            </a:endParaRPr>
          </a:p>
        </p:txBody>
      </p:sp>
      <p:pic>
        <p:nvPicPr>
          <p:cNvPr id="6" name="Picture 5">
            <a:extLst>
              <a:ext uri="{FF2B5EF4-FFF2-40B4-BE49-F238E27FC236}">
                <a16:creationId xmlns:a16="http://schemas.microsoft.com/office/drawing/2014/main" id="{03555F4A-8917-AA3D-5D85-3CF89154693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59000"/>
            <a:ext cx="11176000" cy="2671318"/>
          </a:xfrm>
          <a:prstGeom prst="rect">
            <a:avLst/>
          </a:prstGeom>
        </p:spPr>
      </p:pic>
      <p:sp>
        <p:nvSpPr>
          <p:cNvPr id="7" name="TextBox 6">
            <a:extLst>
              <a:ext uri="{FF2B5EF4-FFF2-40B4-BE49-F238E27FC236}">
                <a16:creationId xmlns:a16="http://schemas.microsoft.com/office/drawing/2014/main" id="{9479C217-FB58-5414-5F4B-81F2A017DA29}"/>
              </a:ext>
            </a:extLst>
          </p:cNvPr>
          <p:cNvSpPr txBox="1"/>
          <p:nvPr/>
        </p:nvSpPr>
        <p:spPr>
          <a:xfrm>
            <a:off x="609600" y="5168899"/>
            <a:ext cx="10795000" cy="787400"/>
          </a:xfrm>
          <a:prstGeom prst="rect">
            <a:avLst/>
          </a:prstGeom>
          <a:noFill/>
        </p:spPr>
        <p:txBody>
          <a:bodyPr vert="horz" wrap="square" lIns="0" tIns="0" rIns="0" bIns="0" rtlCol="0">
            <a:noAutofit/>
          </a:bodyPr>
          <a:lstStyle/>
          <a:p>
            <a:pPr>
              <a:spcAft>
                <a:spcPts val="1000"/>
              </a:spcAft>
            </a:pPr>
            <a:r>
              <a:rPr lang="en-US" sz="2100">
                <a:solidFill>
                  <a:srgbClr val="E8EDF7"/>
                </a:solidFill>
                <a:latin typeface="Arial" panose="020B0604020202020204" pitchFamily="34" charset="0"/>
              </a:rPr>
              <a:t>Coordinate values cluster around zero. Distance from the origin is always non-negative.</a:t>
            </a:r>
            <a:endParaRPr lang="en-IN" sz="2100">
              <a:solidFill>
                <a:srgbClr val="E8EDF7"/>
              </a:solidFill>
              <a:latin typeface="Arial" panose="020B0604020202020204" pitchFamily="34" charset="0"/>
            </a:endParaRPr>
          </a:p>
        </p:txBody>
      </p:sp>
      <p:sp>
        <p:nvSpPr>
          <p:cNvPr id="8" name="TextBox 7">
            <a:extLst>
              <a:ext uri="{FF2B5EF4-FFF2-40B4-BE49-F238E27FC236}">
                <a16:creationId xmlns:a16="http://schemas.microsoft.com/office/drawing/2014/main" id="{D1C15B9C-001C-1752-BEE3-107A6928BC3D}"/>
              </a:ext>
            </a:extLst>
          </p:cNvPr>
          <p:cNvSpPr txBox="1"/>
          <p:nvPr/>
        </p:nvSpPr>
        <p:spPr>
          <a:xfrm>
            <a:off x="609600" y="6045199"/>
            <a:ext cx="10795000" cy="330200"/>
          </a:xfrm>
          <a:prstGeom prst="rect">
            <a:avLst/>
          </a:prstGeom>
          <a:noFill/>
        </p:spPr>
        <p:txBody>
          <a:bodyPr vert="horz" wrap="square" lIns="0" tIns="0" rIns="0" bIns="0" rtlCol="0">
            <a:noAutofit/>
          </a:bodyPr>
          <a:lstStyle/>
          <a:p>
            <a:pPr>
              <a:spcAft>
                <a:spcPts val="1000"/>
              </a:spcAft>
            </a:pPr>
            <a:r>
              <a:rPr lang="en-US" sz="1700">
                <a:solidFill>
                  <a:srgbClr val="B1BCD0"/>
                </a:solidFill>
                <a:latin typeface="Arial" panose="020B0604020202020204" pitchFamily="34" charset="0"/>
              </a:rPr>
              <a:t>Saved run | 1,000 steps | 20,000 walkers | Curves: theoretical approximations</a:t>
            </a:r>
            <a:endParaRPr lang="en-IN" sz="1700">
              <a:solidFill>
                <a:srgbClr val="B1BCD0"/>
              </a:solidFill>
              <a:latin typeface="Arial" panose="020B0604020202020204" pitchFamily="34" charset="0"/>
            </a:endParaRPr>
          </a:p>
        </p:txBody>
      </p:sp>
    </p:spTree>
    <p:extLst>
      <p:ext uri="{BB962C8B-B14F-4D97-AF65-F5344CB8AC3E}">
        <p14:creationId xmlns:p14="http://schemas.microsoft.com/office/powerpoint/2010/main" val="30493650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80C1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F48BC2D-04A9-CB3B-2AF7-B0BE5BEC825C}"/>
              </a:ext>
            </a:extLst>
          </p:cNvPr>
          <p:cNvSpPr txBox="1"/>
          <p:nvPr/>
        </p:nvSpPr>
        <p:spPr>
          <a:xfrm>
            <a:off x="558800" y="482599"/>
            <a:ext cx="11074400" cy="812800"/>
          </a:xfrm>
          <a:prstGeom prst="rect">
            <a:avLst/>
          </a:prstGeom>
          <a:noFill/>
        </p:spPr>
        <p:txBody>
          <a:bodyPr vert="horz" wrap="square" lIns="0" tIns="0" rIns="0" bIns="0" rtlCol="0">
            <a:noAutofit/>
          </a:bodyPr>
          <a:lstStyle/>
          <a:p>
            <a:pPr>
              <a:spcAft>
                <a:spcPts val="1000"/>
              </a:spcAft>
            </a:pPr>
            <a:r>
              <a:rPr lang="en-US" sz="3200" b="1">
                <a:solidFill>
                  <a:srgbClr val="E8EDF7"/>
                </a:solidFill>
                <a:latin typeface="Arial" panose="020B0604020202020204" pitchFamily="34" charset="0"/>
              </a:rPr>
              <a:t>Returns to the starting point</a:t>
            </a:r>
            <a:endParaRPr lang="en-IN" sz="3200" b="1">
              <a:solidFill>
                <a:srgbClr val="E8EDF7"/>
              </a:solidFill>
              <a:latin typeface="Arial" panose="020B0604020202020204" pitchFamily="34" charset="0"/>
            </a:endParaRPr>
          </a:p>
        </p:txBody>
      </p:sp>
      <p:sp>
        <p:nvSpPr>
          <p:cNvPr id="3" name="TextBox 2">
            <a:extLst>
              <a:ext uri="{FF2B5EF4-FFF2-40B4-BE49-F238E27FC236}">
                <a16:creationId xmlns:a16="http://schemas.microsoft.com/office/drawing/2014/main" id="{DECCE886-F2FF-7BAB-784A-4C8722BEBDEE}"/>
              </a:ext>
            </a:extLst>
          </p:cNvPr>
          <p:cNvSpPr txBox="1"/>
          <p:nvPr/>
        </p:nvSpPr>
        <p:spPr>
          <a:xfrm>
            <a:off x="10795000" y="6426200"/>
            <a:ext cx="838200" cy="254000"/>
          </a:xfrm>
          <a:prstGeom prst="rect">
            <a:avLst/>
          </a:prstGeom>
          <a:noFill/>
        </p:spPr>
        <p:txBody>
          <a:bodyPr vert="horz" wrap="square" lIns="0" tIns="0" rIns="0" bIns="0" rtlCol="0">
            <a:noAutofit/>
          </a:bodyPr>
          <a:lstStyle/>
          <a:p>
            <a:pPr>
              <a:spcAft>
                <a:spcPts val="1000"/>
              </a:spcAft>
            </a:pPr>
            <a:r>
              <a:rPr lang="en-IN" sz="1100">
                <a:solidFill>
                  <a:srgbClr val="B1BCD0"/>
                </a:solidFill>
                <a:latin typeface="Arial" panose="020B0604020202020204" pitchFamily="34" charset="0"/>
              </a:rPr>
              <a:t>7 / 10</a:t>
            </a:r>
          </a:p>
        </p:txBody>
      </p:sp>
      <p:sp>
        <p:nvSpPr>
          <p:cNvPr id="4" name="TextBox 3">
            <a:extLst>
              <a:ext uri="{FF2B5EF4-FFF2-40B4-BE49-F238E27FC236}">
                <a16:creationId xmlns:a16="http://schemas.microsoft.com/office/drawing/2014/main" id="{99AABDFD-470F-8BC6-A884-F27391FA9462}"/>
              </a:ext>
            </a:extLst>
          </p:cNvPr>
          <p:cNvSpPr txBox="1"/>
          <p:nvPr/>
        </p:nvSpPr>
        <p:spPr>
          <a:xfrm>
            <a:off x="609600" y="1473199"/>
            <a:ext cx="10795000" cy="444500"/>
          </a:xfrm>
          <a:prstGeom prst="rect">
            <a:avLst/>
          </a:prstGeom>
          <a:noFill/>
        </p:spPr>
        <p:txBody>
          <a:bodyPr vert="horz" wrap="square" lIns="0" tIns="0" rIns="0" bIns="0" rtlCol="0">
            <a:noAutofit/>
          </a:bodyPr>
          <a:lstStyle/>
          <a:p>
            <a:pPr>
              <a:spcAft>
                <a:spcPts val="1000"/>
              </a:spcAft>
            </a:pPr>
            <a:r>
              <a:rPr lang="en-US" sz="2300">
                <a:solidFill>
                  <a:srgbClr val="E8EDF7"/>
                </a:solidFill>
                <a:latin typeface="Arial" panose="020B0604020202020204" pitchFamily="34" charset="0"/>
              </a:rPr>
              <a:t>Count a return when every coordinate becomes zero again.</a:t>
            </a:r>
            <a:endParaRPr lang="en-IN" sz="2300">
              <a:solidFill>
                <a:srgbClr val="E8EDF7"/>
              </a:solidFill>
              <a:latin typeface="Arial" panose="020B0604020202020204" pitchFamily="34" charset="0"/>
            </a:endParaRPr>
          </a:p>
        </p:txBody>
      </p:sp>
      <p:sp>
        <p:nvSpPr>
          <p:cNvPr id="5" name="TextBox 4">
            <a:extLst>
              <a:ext uri="{FF2B5EF4-FFF2-40B4-BE49-F238E27FC236}">
                <a16:creationId xmlns:a16="http://schemas.microsoft.com/office/drawing/2014/main" id="{ADE0D9F8-1903-1AE9-6CC5-DD314A55BF8F}"/>
              </a:ext>
            </a:extLst>
          </p:cNvPr>
          <p:cNvSpPr txBox="1"/>
          <p:nvPr/>
        </p:nvSpPr>
        <p:spPr>
          <a:xfrm>
            <a:off x="609600" y="2095499"/>
            <a:ext cx="10795000" cy="355600"/>
          </a:xfrm>
          <a:prstGeom prst="rect">
            <a:avLst/>
          </a:prstGeom>
          <a:noFill/>
        </p:spPr>
        <p:txBody>
          <a:bodyPr vert="horz" wrap="square" lIns="0" tIns="0" rIns="0" bIns="0" rtlCol="0">
            <a:noAutofit/>
          </a:bodyPr>
          <a:lstStyle/>
          <a:p>
            <a:pPr>
              <a:spcAft>
                <a:spcPts val="1000"/>
              </a:spcAft>
            </a:pPr>
            <a:r>
              <a:rPr lang="en-US" sz="2000">
                <a:solidFill>
                  <a:srgbClr val="B1BCD0"/>
                </a:solidFill>
                <a:latin typeface="Arial" panose="020B0604020202020204" pitchFamily="34" charset="0"/>
              </a:rPr>
              <a:t>3,000 walkers | 10,000 steps per walker</a:t>
            </a:r>
            <a:endParaRPr lang="en-IN" sz="2000">
              <a:solidFill>
                <a:srgbClr val="B1BCD0"/>
              </a:solidFill>
              <a:latin typeface="Arial" panose="020B0604020202020204" pitchFamily="34" charset="0"/>
            </a:endParaRPr>
          </a:p>
        </p:txBody>
      </p:sp>
      <p:graphicFrame>
        <p:nvGraphicFramePr>
          <p:cNvPr id="6" name="Table 5">
            <a:extLst>
              <a:ext uri="{FF2B5EF4-FFF2-40B4-BE49-F238E27FC236}">
                <a16:creationId xmlns:a16="http://schemas.microsoft.com/office/drawing/2014/main" id="{46CB0EB5-51F5-115D-61AD-65BCDA94B31C}"/>
              </a:ext>
            </a:extLst>
          </p:cNvPr>
          <p:cNvGraphicFramePr>
            <a:graphicFrameLocks noGrp="1"/>
          </p:cNvGraphicFramePr>
          <p:nvPr>
            <p:extLst>
              <p:ext uri="{D42A27DB-BD31-4B8C-83A1-F6EECF244321}">
                <p14:modId xmlns:p14="http://schemas.microsoft.com/office/powerpoint/2010/main" val="371464588"/>
              </p:ext>
            </p:extLst>
          </p:nvPr>
        </p:nvGraphicFramePr>
        <p:xfrm>
          <a:off x="609600" y="2743200"/>
          <a:ext cx="10972800" cy="2857500"/>
        </p:xfrm>
        <a:graphic>
          <a:graphicData uri="http://schemas.openxmlformats.org/drawingml/2006/table">
            <a:tbl>
              <a:tblPr firstRow="1" bandRow="1">
                <a:tableStyleId>{5C22544A-7EE6-4342-B048-85BDC9FD1C3A}</a:tableStyleId>
              </a:tblPr>
              <a:tblGrid>
                <a:gridCol w="5486400">
                  <a:extLst>
                    <a:ext uri="{9D8B030D-6E8A-4147-A177-3AD203B41FA5}">
                      <a16:colId xmlns:a16="http://schemas.microsoft.com/office/drawing/2014/main" val="316744076"/>
                    </a:ext>
                  </a:extLst>
                </a:gridCol>
                <a:gridCol w="5486400">
                  <a:extLst>
                    <a:ext uri="{9D8B030D-6E8A-4147-A177-3AD203B41FA5}">
                      <a16:colId xmlns:a16="http://schemas.microsoft.com/office/drawing/2014/main" val="1874793541"/>
                    </a:ext>
                  </a:extLst>
                </a:gridCol>
              </a:tblGrid>
              <a:tr h="476250">
                <a:tc>
                  <a:txBody>
                    <a:bodyPr/>
                    <a:lstStyle/>
                    <a:p>
                      <a:r>
                        <a:rPr lang="en-IN" sz="2000" b="1">
                          <a:solidFill>
                            <a:srgbClr val="38D2E8"/>
                          </a:solidFill>
                          <a:latin typeface="Arial" panose="020B0604020202020204" pitchFamily="34" charset="0"/>
                        </a:rPr>
                        <a:t>Dimension</a:t>
                      </a:r>
                    </a:p>
                  </a:txBody>
                  <a:tcPr marL="152400" marR="152400" marT="50800" marB="50800" anchor="ctr">
                    <a:lnL w="6350" cmpd="sng">
                      <a:solidFill>
                        <a:srgbClr val="26314B"/>
                      </a:solidFill>
                    </a:lnL>
                    <a:lnR w="6350" cmpd="sng">
                      <a:solidFill>
                        <a:srgbClr val="26314B"/>
                      </a:solidFill>
                    </a:lnR>
                    <a:lnT w="6350" cmpd="sng">
                      <a:solidFill>
                        <a:srgbClr val="26314B"/>
                      </a:solidFill>
                    </a:lnT>
                    <a:lnB w="6350" cmpd="sng">
                      <a:solidFill>
                        <a:srgbClr val="26314B"/>
                      </a:solidFill>
                    </a:lnB>
                    <a:solidFill>
                      <a:srgbClr val="080C1B"/>
                    </a:solidFill>
                  </a:tcPr>
                </a:tc>
                <a:tc>
                  <a:txBody>
                    <a:bodyPr/>
                    <a:lstStyle/>
                    <a:p>
                      <a:r>
                        <a:rPr lang="en-US" sz="2000" b="1">
                          <a:solidFill>
                            <a:srgbClr val="38D2E8"/>
                          </a:solidFill>
                          <a:latin typeface="Arial" panose="020B0604020202020204" pitchFamily="34" charset="0"/>
                        </a:rPr>
                        <a:t>Walkers that returned at least once</a:t>
                      </a:r>
                      <a:endParaRPr lang="en-IN" sz="2000" b="1">
                        <a:solidFill>
                          <a:srgbClr val="38D2E8"/>
                        </a:solidFill>
                        <a:latin typeface="Arial" panose="020B0604020202020204" pitchFamily="34" charset="0"/>
                      </a:endParaRPr>
                    </a:p>
                  </a:txBody>
                  <a:tcPr marL="152400" marR="152400" marT="50800" marB="50800" anchor="ctr">
                    <a:lnL w="6350" cmpd="sng">
                      <a:solidFill>
                        <a:srgbClr val="26314B"/>
                      </a:solidFill>
                    </a:lnL>
                    <a:lnR w="6350" cmpd="sng">
                      <a:solidFill>
                        <a:srgbClr val="26314B"/>
                      </a:solidFill>
                    </a:lnR>
                    <a:lnT w="6350" cmpd="sng">
                      <a:solidFill>
                        <a:srgbClr val="26314B"/>
                      </a:solidFill>
                    </a:lnT>
                    <a:lnB w="6350" cmpd="sng">
                      <a:solidFill>
                        <a:srgbClr val="26314B"/>
                      </a:solidFill>
                    </a:lnB>
                    <a:solidFill>
                      <a:srgbClr val="080C1B"/>
                    </a:solidFill>
                  </a:tcPr>
                </a:tc>
                <a:extLst>
                  <a:ext uri="{0D108BD9-81ED-4DB2-BD59-A6C34878D82A}">
                    <a16:rowId xmlns:a16="http://schemas.microsoft.com/office/drawing/2014/main" val="2362929235"/>
                  </a:ext>
                </a:extLst>
              </a:tr>
              <a:tr h="476250">
                <a:tc>
                  <a:txBody>
                    <a:bodyPr/>
                    <a:lstStyle/>
                    <a:p>
                      <a:r>
                        <a:rPr lang="en-IN" sz="2000" b="0">
                          <a:solidFill>
                            <a:srgbClr val="E8EDF7"/>
                          </a:solidFill>
                          <a:latin typeface="Arial" panose="020B0604020202020204" pitchFamily="34" charset="0"/>
                        </a:rPr>
                        <a:t>1D</a:t>
                      </a:r>
                    </a:p>
                  </a:txBody>
                  <a:tcPr marL="152400" marR="152400" marT="50800" marB="50800" anchor="ctr">
                    <a:lnL w="6350" cmpd="sng">
                      <a:solidFill>
                        <a:srgbClr val="26314B"/>
                      </a:solidFill>
                    </a:lnL>
                    <a:lnR w="6350" cmpd="sng">
                      <a:solidFill>
                        <a:srgbClr val="26314B"/>
                      </a:solidFill>
                    </a:lnR>
                    <a:lnT w="6350" cmpd="sng">
                      <a:solidFill>
                        <a:srgbClr val="26314B"/>
                      </a:solidFill>
                    </a:lnT>
                    <a:lnB w="6350" cmpd="sng">
                      <a:solidFill>
                        <a:srgbClr val="26314B"/>
                      </a:solidFill>
                    </a:lnB>
                    <a:solidFill>
                      <a:srgbClr val="080C1B"/>
                    </a:solidFill>
                  </a:tcPr>
                </a:tc>
                <a:tc>
                  <a:txBody>
                    <a:bodyPr/>
                    <a:lstStyle/>
                    <a:p>
                      <a:r>
                        <a:rPr lang="en-IN" sz="2000" b="0">
                          <a:solidFill>
                            <a:srgbClr val="E8EDF7"/>
                          </a:solidFill>
                          <a:latin typeface="Arial" panose="020B0604020202020204" pitchFamily="34" charset="0"/>
                        </a:rPr>
                        <a:t>99.0%</a:t>
                      </a:r>
                    </a:p>
                  </a:txBody>
                  <a:tcPr marL="152400" marR="152400" marT="50800" marB="50800" anchor="ctr">
                    <a:lnL w="6350" cmpd="sng">
                      <a:solidFill>
                        <a:srgbClr val="26314B"/>
                      </a:solidFill>
                    </a:lnL>
                    <a:lnR w="6350" cmpd="sng">
                      <a:solidFill>
                        <a:srgbClr val="26314B"/>
                      </a:solidFill>
                    </a:lnR>
                    <a:lnT w="6350" cmpd="sng">
                      <a:solidFill>
                        <a:srgbClr val="26314B"/>
                      </a:solidFill>
                    </a:lnT>
                    <a:lnB w="6350" cmpd="sng">
                      <a:solidFill>
                        <a:srgbClr val="26314B"/>
                      </a:solidFill>
                    </a:lnB>
                    <a:solidFill>
                      <a:srgbClr val="080C1B"/>
                    </a:solidFill>
                  </a:tcPr>
                </a:tc>
                <a:extLst>
                  <a:ext uri="{0D108BD9-81ED-4DB2-BD59-A6C34878D82A}">
                    <a16:rowId xmlns:a16="http://schemas.microsoft.com/office/drawing/2014/main" val="500183287"/>
                  </a:ext>
                </a:extLst>
              </a:tr>
              <a:tr h="476250">
                <a:tc>
                  <a:txBody>
                    <a:bodyPr/>
                    <a:lstStyle/>
                    <a:p>
                      <a:r>
                        <a:rPr lang="en-IN" sz="2000" b="0">
                          <a:solidFill>
                            <a:srgbClr val="E8EDF7"/>
                          </a:solidFill>
                          <a:latin typeface="Arial" panose="020B0604020202020204" pitchFamily="34" charset="0"/>
                        </a:rPr>
                        <a:t>2D</a:t>
                      </a:r>
                    </a:p>
                  </a:txBody>
                  <a:tcPr marL="152400" marR="152400" marT="50800" marB="50800" anchor="ctr">
                    <a:lnL w="6350" cmpd="sng">
                      <a:solidFill>
                        <a:srgbClr val="26314B"/>
                      </a:solidFill>
                    </a:lnL>
                    <a:lnR w="6350" cmpd="sng">
                      <a:solidFill>
                        <a:srgbClr val="26314B"/>
                      </a:solidFill>
                    </a:lnR>
                    <a:lnT w="6350" cmpd="sng">
                      <a:solidFill>
                        <a:srgbClr val="26314B"/>
                      </a:solidFill>
                    </a:lnT>
                    <a:lnB w="6350" cmpd="sng">
                      <a:solidFill>
                        <a:srgbClr val="26314B"/>
                      </a:solidFill>
                    </a:lnB>
                    <a:solidFill>
                      <a:srgbClr val="080C1B"/>
                    </a:solidFill>
                  </a:tcPr>
                </a:tc>
                <a:tc>
                  <a:txBody>
                    <a:bodyPr/>
                    <a:lstStyle/>
                    <a:p>
                      <a:r>
                        <a:rPr lang="en-IN" sz="2000" b="0">
                          <a:solidFill>
                            <a:srgbClr val="E8EDF7"/>
                          </a:solidFill>
                          <a:latin typeface="Arial" panose="020B0604020202020204" pitchFamily="34" charset="0"/>
                        </a:rPr>
                        <a:t>73.6%</a:t>
                      </a:r>
                    </a:p>
                  </a:txBody>
                  <a:tcPr marL="152400" marR="152400" marT="50800" marB="50800" anchor="ctr">
                    <a:lnL w="6350" cmpd="sng">
                      <a:solidFill>
                        <a:srgbClr val="26314B"/>
                      </a:solidFill>
                    </a:lnL>
                    <a:lnR w="6350" cmpd="sng">
                      <a:solidFill>
                        <a:srgbClr val="26314B"/>
                      </a:solidFill>
                    </a:lnR>
                    <a:lnT w="6350" cmpd="sng">
                      <a:solidFill>
                        <a:srgbClr val="26314B"/>
                      </a:solidFill>
                    </a:lnT>
                    <a:lnB w="6350" cmpd="sng">
                      <a:solidFill>
                        <a:srgbClr val="26314B"/>
                      </a:solidFill>
                    </a:lnB>
                    <a:solidFill>
                      <a:srgbClr val="080C1B"/>
                    </a:solidFill>
                  </a:tcPr>
                </a:tc>
                <a:extLst>
                  <a:ext uri="{0D108BD9-81ED-4DB2-BD59-A6C34878D82A}">
                    <a16:rowId xmlns:a16="http://schemas.microsoft.com/office/drawing/2014/main" val="3674060557"/>
                  </a:ext>
                </a:extLst>
              </a:tr>
              <a:tr h="476250">
                <a:tc>
                  <a:txBody>
                    <a:bodyPr/>
                    <a:lstStyle/>
                    <a:p>
                      <a:r>
                        <a:rPr lang="en-IN" sz="2000" b="0">
                          <a:solidFill>
                            <a:srgbClr val="E8EDF7"/>
                          </a:solidFill>
                          <a:latin typeface="Arial" panose="020B0604020202020204" pitchFamily="34" charset="0"/>
                        </a:rPr>
                        <a:t>3D</a:t>
                      </a:r>
                    </a:p>
                  </a:txBody>
                  <a:tcPr marL="152400" marR="152400" marT="50800" marB="50800" anchor="ctr">
                    <a:lnL w="6350" cmpd="sng">
                      <a:solidFill>
                        <a:srgbClr val="26314B"/>
                      </a:solidFill>
                    </a:lnL>
                    <a:lnR w="6350" cmpd="sng">
                      <a:solidFill>
                        <a:srgbClr val="26314B"/>
                      </a:solidFill>
                    </a:lnR>
                    <a:lnT w="6350" cmpd="sng">
                      <a:solidFill>
                        <a:srgbClr val="26314B"/>
                      </a:solidFill>
                    </a:lnT>
                    <a:lnB w="6350" cmpd="sng">
                      <a:solidFill>
                        <a:srgbClr val="26314B"/>
                      </a:solidFill>
                    </a:lnB>
                    <a:solidFill>
                      <a:srgbClr val="080C1B"/>
                    </a:solidFill>
                  </a:tcPr>
                </a:tc>
                <a:tc>
                  <a:txBody>
                    <a:bodyPr/>
                    <a:lstStyle/>
                    <a:p>
                      <a:r>
                        <a:rPr lang="en-IN" sz="2000" b="0">
                          <a:solidFill>
                            <a:srgbClr val="E8EDF7"/>
                          </a:solidFill>
                          <a:latin typeface="Arial" panose="020B0604020202020204" pitchFamily="34" charset="0"/>
                        </a:rPr>
                        <a:t>32.5%</a:t>
                      </a:r>
                    </a:p>
                  </a:txBody>
                  <a:tcPr marL="152400" marR="152400" marT="50800" marB="50800" anchor="ctr">
                    <a:lnL w="6350" cmpd="sng">
                      <a:solidFill>
                        <a:srgbClr val="26314B"/>
                      </a:solidFill>
                    </a:lnL>
                    <a:lnR w="6350" cmpd="sng">
                      <a:solidFill>
                        <a:srgbClr val="26314B"/>
                      </a:solidFill>
                    </a:lnR>
                    <a:lnT w="6350" cmpd="sng">
                      <a:solidFill>
                        <a:srgbClr val="26314B"/>
                      </a:solidFill>
                    </a:lnT>
                    <a:lnB w="6350" cmpd="sng">
                      <a:solidFill>
                        <a:srgbClr val="26314B"/>
                      </a:solidFill>
                    </a:lnB>
                    <a:solidFill>
                      <a:srgbClr val="080C1B"/>
                    </a:solidFill>
                  </a:tcPr>
                </a:tc>
                <a:extLst>
                  <a:ext uri="{0D108BD9-81ED-4DB2-BD59-A6C34878D82A}">
                    <a16:rowId xmlns:a16="http://schemas.microsoft.com/office/drawing/2014/main" val="1576486577"/>
                  </a:ext>
                </a:extLst>
              </a:tr>
              <a:tr h="476250">
                <a:tc>
                  <a:txBody>
                    <a:bodyPr/>
                    <a:lstStyle/>
                    <a:p>
                      <a:r>
                        <a:rPr lang="en-IN" sz="2000" b="0">
                          <a:solidFill>
                            <a:srgbClr val="E8EDF7"/>
                          </a:solidFill>
                          <a:latin typeface="Arial" panose="020B0604020202020204" pitchFamily="34" charset="0"/>
                        </a:rPr>
                        <a:t>4D</a:t>
                      </a:r>
                    </a:p>
                  </a:txBody>
                  <a:tcPr marL="152400" marR="152400" marT="50800" marB="50800" anchor="ctr">
                    <a:lnL w="6350" cmpd="sng">
                      <a:solidFill>
                        <a:srgbClr val="26314B"/>
                      </a:solidFill>
                    </a:lnL>
                    <a:lnR w="6350" cmpd="sng">
                      <a:solidFill>
                        <a:srgbClr val="26314B"/>
                      </a:solidFill>
                    </a:lnR>
                    <a:lnT w="6350" cmpd="sng">
                      <a:solidFill>
                        <a:srgbClr val="26314B"/>
                      </a:solidFill>
                    </a:lnT>
                    <a:lnB w="6350" cmpd="sng">
                      <a:solidFill>
                        <a:srgbClr val="26314B"/>
                      </a:solidFill>
                    </a:lnB>
                    <a:solidFill>
                      <a:srgbClr val="080C1B"/>
                    </a:solidFill>
                  </a:tcPr>
                </a:tc>
                <a:tc>
                  <a:txBody>
                    <a:bodyPr/>
                    <a:lstStyle/>
                    <a:p>
                      <a:r>
                        <a:rPr lang="en-IN" sz="2000" b="0">
                          <a:solidFill>
                            <a:srgbClr val="E8EDF7"/>
                          </a:solidFill>
                          <a:latin typeface="Arial" panose="020B0604020202020204" pitchFamily="34" charset="0"/>
                        </a:rPr>
                        <a:t>19.8%</a:t>
                      </a:r>
                    </a:p>
                  </a:txBody>
                  <a:tcPr marL="152400" marR="152400" marT="50800" marB="50800" anchor="ctr">
                    <a:lnL w="6350" cmpd="sng">
                      <a:solidFill>
                        <a:srgbClr val="26314B"/>
                      </a:solidFill>
                    </a:lnL>
                    <a:lnR w="6350" cmpd="sng">
                      <a:solidFill>
                        <a:srgbClr val="26314B"/>
                      </a:solidFill>
                    </a:lnR>
                    <a:lnT w="6350" cmpd="sng">
                      <a:solidFill>
                        <a:srgbClr val="26314B"/>
                      </a:solidFill>
                    </a:lnT>
                    <a:lnB w="6350" cmpd="sng">
                      <a:solidFill>
                        <a:srgbClr val="26314B"/>
                      </a:solidFill>
                    </a:lnB>
                    <a:solidFill>
                      <a:srgbClr val="080C1B"/>
                    </a:solidFill>
                  </a:tcPr>
                </a:tc>
                <a:extLst>
                  <a:ext uri="{0D108BD9-81ED-4DB2-BD59-A6C34878D82A}">
                    <a16:rowId xmlns:a16="http://schemas.microsoft.com/office/drawing/2014/main" val="1029049565"/>
                  </a:ext>
                </a:extLst>
              </a:tr>
              <a:tr h="476250">
                <a:tc>
                  <a:txBody>
                    <a:bodyPr/>
                    <a:lstStyle/>
                    <a:p>
                      <a:r>
                        <a:rPr lang="en-IN" sz="2000" b="0">
                          <a:solidFill>
                            <a:srgbClr val="E8EDF7"/>
                          </a:solidFill>
                          <a:latin typeface="Arial" panose="020B0604020202020204" pitchFamily="34" charset="0"/>
                        </a:rPr>
                        <a:t>5D</a:t>
                      </a:r>
                    </a:p>
                  </a:txBody>
                  <a:tcPr marL="152400" marR="152400" marT="50800" marB="50800" anchor="ctr">
                    <a:lnL w="6350" cmpd="sng">
                      <a:solidFill>
                        <a:srgbClr val="26314B"/>
                      </a:solidFill>
                    </a:lnL>
                    <a:lnR w="6350" cmpd="sng">
                      <a:solidFill>
                        <a:srgbClr val="26314B"/>
                      </a:solidFill>
                    </a:lnR>
                    <a:lnT w="6350" cmpd="sng">
                      <a:solidFill>
                        <a:srgbClr val="26314B"/>
                      </a:solidFill>
                    </a:lnT>
                    <a:lnB w="6350" cmpd="sng">
                      <a:solidFill>
                        <a:srgbClr val="26314B"/>
                      </a:solidFill>
                    </a:lnB>
                    <a:solidFill>
                      <a:srgbClr val="080C1B"/>
                    </a:solidFill>
                  </a:tcPr>
                </a:tc>
                <a:tc>
                  <a:txBody>
                    <a:bodyPr/>
                    <a:lstStyle/>
                    <a:p>
                      <a:r>
                        <a:rPr lang="en-IN" sz="2000" b="0">
                          <a:solidFill>
                            <a:srgbClr val="E8EDF7"/>
                          </a:solidFill>
                          <a:latin typeface="Arial" panose="020B0604020202020204" pitchFamily="34" charset="0"/>
                        </a:rPr>
                        <a:t>14.1%</a:t>
                      </a:r>
                    </a:p>
                  </a:txBody>
                  <a:tcPr marL="152400" marR="152400" marT="50800" marB="50800" anchor="ctr">
                    <a:lnL w="6350" cmpd="sng">
                      <a:solidFill>
                        <a:srgbClr val="26314B"/>
                      </a:solidFill>
                    </a:lnL>
                    <a:lnR w="6350" cmpd="sng">
                      <a:solidFill>
                        <a:srgbClr val="26314B"/>
                      </a:solidFill>
                    </a:lnR>
                    <a:lnT w="6350" cmpd="sng">
                      <a:solidFill>
                        <a:srgbClr val="26314B"/>
                      </a:solidFill>
                    </a:lnT>
                    <a:lnB w="6350" cmpd="sng">
                      <a:solidFill>
                        <a:srgbClr val="26314B"/>
                      </a:solidFill>
                    </a:lnB>
                    <a:solidFill>
                      <a:srgbClr val="080C1B"/>
                    </a:solidFill>
                  </a:tcPr>
                </a:tc>
                <a:extLst>
                  <a:ext uri="{0D108BD9-81ED-4DB2-BD59-A6C34878D82A}">
                    <a16:rowId xmlns:a16="http://schemas.microsoft.com/office/drawing/2014/main" val="2645585362"/>
                  </a:ext>
                </a:extLst>
              </a:tr>
            </a:tbl>
          </a:graphicData>
        </a:graphic>
      </p:graphicFrame>
      <p:sp>
        <p:nvSpPr>
          <p:cNvPr id="7" name="TextBox 6">
            <a:extLst>
              <a:ext uri="{FF2B5EF4-FFF2-40B4-BE49-F238E27FC236}">
                <a16:creationId xmlns:a16="http://schemas.microsoft.com/office/drawing/2014/main" id="{1F954548-2B9B-FEA0-05B6-91E0B6C2FB98}"/>
              </a:ext>
            </a:extLst>
          </p:cNvPr>
          <p:cNvSpPr txBox="1"/>
          <p:nvPr/>
        </p:nvSpPr>
        <p:spPr>
          <a:xfrm>
            <a:off x="609600" y="5829299"/>
            <a:ext cx="10795000" cy="393700"/>
          </a:xfrm>
          <a:prstGeom prst="rect">
            <a:avLst/>
          </a:prstGeom>
          <a:noFill/>
        </p:spPr>
        <p:txBody>
          <a:bodyPr vert="horz" wrap="square" lIns="0" tIns="0" rIns="0" bIns="0" rtlCol="0">
            <a:noAutofit/>
          </a:bodyPr>
          <a:lstStyle/>
          <a:p>
            <a:pPr>
              <a:spcAft>
                <a:spcPts val="1000"/>
              </a:spcAft>
            </a:pPr>
            <a:r>
              <a:rPr lang="en-US" sz="2100">
                <a:solidFill>
                  <a:srgbClr val="38D2E8"/>
                </a:solidFill>
                <a:latin typeface="Arial" panose="020B0604020202020204" pitchFamily="34" charset="0"/>
              </a:rPr>
              <a:t>Returns were less common in higher dimensions during this run.</a:t>
            </a:r>
            <a:endParaRPr lang="en-IN" sz="2100">
              <a:solidFill>
                <a:srgbClr val="38D2E8"/>
              </a:solidFill>
              <a:latin typeface="Arial" panose="020B0604020202020204" pitchFamily="34" charset="0"/>
            </a:endParaRPr>
          </a:p>
        </p:txBody>
      </p:sp>
      <p:sp>
        <p:nvSpPr>
          <p:cNvPr id="8" name="TextBox 7">
            <a:extLst>
              <a:ext uri="{FF2B5EF4-FFF2-40B4-BE49-F238E27FC236}">
                <a16:creationId xmlns:a16="http://schemas.microsoft.com/office/drawing/2014/main" id="{C01ECA7A-1D7B-63C6-2559-CF295D507CC2}"/>
              </a:ext>
            </a:extLst>
          </p:cNvPr>
          <p:cNvSpPr txBox="1"/>
          <p:nvPr/>
        </p:nvSpPr>
        <p:spPr>
          <a:xfrm>
            <a:off x="609600" y="6222999"/>
            <a:ext cx="10795000" cy="304800"/>
          </a:xfrm>
          <a:prstGeom prst="rect">
            <a:avLst/>
          </a:prstGeom>
          <a:noFill/>
        </p:spPr>
        <p:txBody>
          <a:bodyPr vert="horz" wrap="square" lIns="0" tIns="0" rIns="0" bIns="0" rtlCol="0">
            <a:noAutofit/>
          </a:bodyPr>
          <a:lstStyle/>
          <a:p>
            <a:pPr>
              <a:spcAft>
                <a:spcPts val="1000"/>
              </a:spcAft>
            </a:pPr>
            <a:r>
              <a:rPr lang="en-US" sz="1600">
                <a:solidFill>
                  <a:srgbClr val="B1BCD0"/>
                </a:solidFill>
                <a:latin typeface="Arial" panose="020B0604020202020204" pitchFamily="34" charset="0"/>
              </a:rPr>
              <a:t>A finite run cannot tell whether a walker will return much later.</a:t>
            </a:r>
            <a:endParaRPr lang="en-IN" sz="1600">
              <a:solidFill>
                <a:srgbClr val="B1BCD0"/>
              </a:solidFill>
              <a:latin typeface="Arial" panose="020B0604020202020204" pitchFamily="34" charset="0"/>
            </a:endParaRPr>
          </a:p>
        </p:txBody>
      </p:sp>
    </p:spTree>
    <p:extLst>
      <p:ext uri="{BB962C8B-B14F-4D97-AF65-F5344CB8AC3E}">
        <p14:creationId xmlns:p14="http://schemas.microsoft.com/office/powerpoint/2010/main" val="38728647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80C1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1B955AD-5CEA-D2DE-7EB4-99C61193D99C}"/>
              </a:ext>
            </a:extLst>
          </p:cNvPr>
          <p:cNvSpPr txBox="1"/>
          <p:nvPr/>
        </p:nvSpPr>
        <p:spPr>
          <a:xfrm>
            <a:off x="558800" y="482599"/>
            <a:ext cx="11074400" cy="812800"/>
          </a:xfrm>
          <a:prstGeom prst="rect">
            <a:avLst/>
          </a:prstGeom>
          <a:noFill/>
        </p:spPr>
        <p:txBody>
          <a:bodyPr vert="horz" wrap="square" lIns="0" tIns="0" rIns="0" bIns="0" rtlCol="0">
            <a:noAutofit/>
          </a:bodyPr>
          <a:lstStyle/>
          <a:p>
            <a:pPr>
              <a:spcAft>
                <a:spcPts val="1000"/>
              </a:spcAft>
            </a:pPr>
            <a:r>
              <a:rPr lang="en-IN" sz="3200" b="1">
                <a:solidFill>
                  <a:srgbClr val="E8EDF7"/>
                </a:solidFill>
                <a:latin typeface="Arial" panose="020B0604020202020204" pitchFamily="34" charset="0"/>
              </a:rPr>
              <a:t>Checking the ensemble data</a:t>
            </a:r>
          </a:p>
        </p:txBody>
      </p:sp>
      <p:sp>
        <p:nvSpPr>
          <p:cNvPr id="3" name="TextBox 2">
            <a:extLst>
              <a:ext uri="{FF2B5EF4-FFF2-40B4-BE49-F238E27FC236}">
                <a16:creationId xmlns:a16="http://schemas.microsoft.com/office/drawing/2014/main" id="{BF2B58E2-4FE7-2A89-D807-7D20ADB5038B}"/>
              </a:ext>
            </a:extLst>
          </p:cNvPr>
          <p:cNvSpPr txBox="1"/>
          <p:nvPr/>
        </p:nvSpPr>
        <p:spPr>
          <a:xfrm>
            <a:off x="10795000" y="6426200"/>
            <a:ext cx="838200" cy="254000"/>
          </a:xfrm>
          <a:prstGeom prst="rect">
            <a:avLst/>
          </a:prstGeom>
          <a:noFill/>
        </p:spPr>
        <p:txBody>
          <a:bodyPr vert="horz" wrap="square" lIns="0" tIns="0" rIns="0" bIns="0" rtlCol="0">
            <a:noAutofit/>
          </a:bodyPr>
          <a:lstStyle/>
          <a:p>
            <a:pPr>
              <a:spcAft>
                <a:spcPts val="1000"/>
              </a:spcAft>
            </a:pPr>
            <a:r>
              <a:rPr lang="en-IN" sz="1100">
                <a:solidFill>
                  <a:srgbClr val="B1BCD0"/>
                </a:solidFill>
                <a:latin typeface="Arial" panose="020B0604020202020204" pitchFamily="34" charset="0"/>
              </a:rPr>
              <a:t>8 / 10</a:t>
            </a:r>
          </a:p>
        </p:txBody>
      </p:sp>
      <p:sp>
        <p:nvSpPr>
          <p:cNvPr id="4" name="TextBox 3">
            <a:extLst>
              <a:ext uri="{FF2B5EF4-FFF2-40B4-BE49-F238E27FC236}">
                <a16:creationId xmlns:a16="http://schemas.microsoft.com/office/drawing/2014/main" id="{F6999149-A484-251F-AFFD-025E66044357}"/>
              </a:ext>
            </a:extLst>
          </p:cNvPr>
          <p:cNvSpPr txBox="1"/>
          <p:nvPr/>
        </p:nvSpPr>
        <p:spPr>
          <a:xfrm>
            <a:off x="609600" y="1473199"/>
            <a:ext cx="10795000" cy="825500"/>
          </a:xfrm>
          <a:prstGeom prst="rect">
            <a:avLst/>
          </a:prstGeom>
          <a:noFill/>
        </p:spPr>
        <p:txBody>
          <a:bodyPr vert="horz" wrap="square" lIns="0" tIns="0" rIns="0" bIns="0" rtlCol="0">
            <a:noAutofit/>
          </a:bodyPr>
          <a:lstStyle/>
          <a:p>
            <a:pPr>
              <a:spcAft>
                <a:spcPts val="1000"/>
              </a:spcAft>
            </a:pPr>
            <a:r>
              <a:rPr lang="en-US" sz="2300">
                <a:solidFill>
                  <a:srgbClr val="E8EDF7"/>
                </a:solidFill>
                <a:latin typeface="Arial" panose="020B0604020202020204" pitchFamily="34" charset="0"/>
              </a:rPr>
              <a:t>The evidence ZIP contains one endpoint row for every ensemble walker.</a:t>
            </a:r>
            <a:endParaRPr lang="en-IN" sz="2300">
              <a:solidFill>
                <a:srgbClr val="E8EDF7"/>
              </a:solidFill>
              <a:latin typeface="Arial" panose="020B0604020202020204" pitchFamily="34" charset="0"/>
            </a:endParaRPr>
          </a:p>
        </p:txBody>
      </p:sp>
      <p:sp>
        <p:nvSpPr>
          <p:cNvPr id="5" name="TextBox 4">
            <a:extLst>
              <a:ext uri="{FF2B5EF4-FFF2-40B4-BE49-F238E27FC236}">
                <a16:creationId xmlns:a16="http://schemas.microsoft.com/office/drawing/2014/main" id="{30A611E1-0749-2D9A-33E9-BE55A6C57C6E}"/>
              </a:ext>
            </a:extLst>
          </p:cNvPr>
          <p:cNvSpPr txBox="1"/>
          <p:nvPr/>
        </p:nvSpPr>
        <p:spPr>
          <a:xfrm>
            <a:off x="635000" y="2666999"/>
            <a:ext cx="10922000" cy="1117600"/>
          </a:xfrm>
          <a:prstGeom prst="rect">
            <a:avLst/>
          </a:prstGeom>
          <a:noFill/>
        </p:spPr>
        <p:txBody>
          <a:bodyPr vert="horz" wrap="square" lIns="0" tIns="0" rIns="0" bIns="0" rtlCol="0">
            <a:noAutofit/>
          </a:bodyPr>
          <a:lstStyle/>
          <a:p>
            <a:pPr>
              <a:spcAft>
                <a:spcPts val="1000"/>
              </a:spcAft>
            </a:pPr>
            <a:r>
              <a:rPr lang="en-IN" sz="2000">
                <a:solidFill>
                  <a:srgbClr val="38D2E8"/>
                </a:solidFill>
                <a:latin typeface="Consolas" panose="020B0609020204030204" pitchFamily="49" charset="0"/>
              </a:rPr>
              <a:t>r2 = np.sum(positions.astype(float)**2, axis=1)
msd = np.mean(r2)</a:t>
            </a:r>
          </a:p>
        </p:txBody>
      </p:sp>
      <p:sp>
        <p:nvSpPr>
          <p:cNvPr id="6" name="TextBox 5">
            <a:extLst>
              <a:ext uri="{FF2B5EF4-FFF2-40B4-BE49-F238E27FC236}">
                <a16:creationId xmlns:a16="http://schemas.microsoft.com/office/drawing/2014/main" id="{5112A496-C2A7-9A5B-7F3E-0E109FD94747}"/>
              </a:ext>
            </a:extLst>
          </p:cNvPr>
          <p:cNvSpPr txBox="1"/>
          <p:nvPr/>
        </p:nvSpPr>
        <p:spPr>
          <a:xfrm>
            <a:off x="609600" y="4279899"/>
            <a:ext cx="10795000" cy="1168400"/>
          </a:xfrm>
          <a:prstGeom prst="rect">
            <a:avLst/>
          </a:prstGeom>
          <a:noFill/>
        </p:spPr>
        <p:txBody>
          <a:bodyPr vert="horz" wrap="square" lIns="0" tIns="0" rIns="0" bIns="0" rtlCol="0">
            <a:noAutofit/>
          </a:bodyPr>
          <a:lstStyle/>
          <a:p>
            <a:pPr>
              <a:spcAft>
                <a:spcPts val="1000"/>
              </a:spcAft>
            </a:pPr>
            <a:r>
              <a:rPr lang="en-US" sz="2100">
                <a:solidFill>
                  <a:srgbClr val="E8EDF7"/>
                </a:solidFill>
                <a:latin typeface="Arial" panose="020B0604020202020204" pitchFamily="34" charset="0"/>
              </a:rPr>
              <a:t>Average the exported R_squared column to reproduce the MSD.
Select a walker ID to inspect its path and check its endpoint.</a:t>
            </a:r>
            <a:endParaRPr lang="en-IN" sz="2100">
              <a:solidFill>
                <a:srgbClr val="E8EDF7"/>
              </a:solidFill>
              <a:latin typeface="Arial" panose="020B0604020202020204" pitchFamily="34" charset="0"/>
            </a:endParaRPr>
          </a:p>
        </p:txBody>
      </p:sp>
      <p:sp>
        <p:nvSpPr>
          <p:cNvPr id="7" name="TextBox 6">
            <a:extLst>
              <a:ext uri="{FF2B5EF4-FFF2-40B4-BE49-F238E27FC236}">
                <a16:creationId xmlns:a16="http://schemas.microsoft.com/office/drawing/2014/main" id="{290E4BA5-ED92-55A0-0ADA-99EF05FFBEAA}"/>
              </a:ext>
            </a:extLst>
          </p:cNvPr>
          <p:cNvSpPr txBox="1"/>
          <p:nvPr/>
        </p:nvSpPr>
        <p:spPr>
          <a:xfrm>
            <a:off x="609600" y="5841999"/>
            <a:ext cx="10795000" cy="457200"/>
          </a:xfrm>
          <a:prstGeom prst="rect">
            <a:avLst/>
          </a:prstGeom>
          <a:noFill/>
        </p:spPr>
        <p:txBody>
          <a:bodyPr vert="horz" wrap="square" lIns="0" tIns="0" rIns="0" bIns="0" rtlCol="0">
            <a:noAutofit/>
          </a:bodyPr>
          <a:lstStyle/>
          <a:p>
            <a:pPr>
              <a:spcAft>
                <a:spcPts val="1000"/>
              </a:spcAft>
            </a:pPr>
            <a:r>
              <a:rPr lang="en-US" sz="1900">
                <a:solidFill>
                  <a:srgbClr val="B1BCD0"/>
                </a:solidFill>
                <a:latin typeface="Arial" panose="020B0604020202020204" pitchFamily="34" charset="0"/>
              </a:rPr>
              <a:t>All-path export reproduces every step using the recorded seed.</a:t>
            </a:r>
            <a:endParaRPr lang="en-IN" sz="1900">
              <a:solidFill>
                <a:srgbClr val="B1BCD0"/>
              </a:solidFill>
              <a:latin typeface="Arial" panose="020B0604020202020204" pitchFamily="34" charset="0"/>
            </a:endParaRPr>
          </a:p>
        </p:txBody>
      </p:sp>
    </p:spTree>
    <p:extLst>
      <p:ext uri="{BB962C8B-B14F-4D97-AF65-F5344CB8AC3E}">
        <p14:creationId xmlns:p14="http://schemas.microsoft.com/office/powerpoint/2010/main" val="39346762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80C1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A504235-3873-C73D-699F-8E608051090D}"/>
              </a:ext>
            </a:extLst>
          </p:cNvPr>
          <p:cNvSpPr txBox="1"/>
          <p:nvPr/>
        </p:nvSpPr>
        <p:spPr>
          <a:xfrm>
            <a:off x="558800" y="482599"/>
            <a:ext cx="11074400" cy="812800"/>
          </a:xfrm>
          <a:prstGeom prst="rect">
            <a:avLst/>
          </a:prstGeom>
          <a:noFill/>
        </p:spPr>
        <p:txBody>
          <a:bodyPr vert="horz" wrap="square" lIns="0" tIns="0" rIns="0" bIns="0" rtlCol="0">
            <a:noAutofit/>
          </a:bodyPr>
          <a:lstStyle/>
          <a:p>
            <a:pPr>
              <a:spcAft>
                <a:spcPts val="1000"/>
              </a:spcAft>
            </a:pPr>
            <a:r>
              <a:rPr lang="en-IN" sz="3200" b="1">
                <a:solidFill>
                  <a:srgbClr val="E8EDF7"/>
                </a:solidFill>
                <a:latin typeface="Arial" panose="020B0604020202020204" pitchFamily="34" charset="0"/>
              </a:rPr>
              <a:t>Watching the estimate converge</a:t>
            </a:r>
          </a:p>
        </p:txBody>
      </p:sp>
      <p:sp>
        <p:nvSpPr>
          <p:cNvPr id="3" name="TextBox 2">
            <a:extLst>
              <a:ext uri="{FF2B5EF4-FFF2-40B4-BE49-F238E27FC236}">
                <a16:creationId xmlns:a16="http://schemas.microsoft.com/office/drawing/2014/main" id="{7645BA9D-70EE-7E29-57B1-C7FB331B7B16}"/>
              </a:ext>
            </a:extLst>
          </p:cNvPr>
          <p:cNvSpPr txBox="1"/>
          <p:nvPr/>
        </p:nvSpPr>
        <p:spPr>
          <a:xfrm>
            <a:off x="10795000" y="6426200"/>
            <a:ext cx="838200" cy="254000"/>
          </a:xfrm>
          <a:prstGeom prst="rect">
            <a:avLst/>
          </a:prstGeom>
          <a:noFill/>
        </p:spPr>
        <p:txBody>
          <a:bodyPr vert="horz" wrap="square" lIns="0" tIns="0" rIns="0" bIns="0" rtlCol="0">
            <a:noAutofit/>
          </a:bodyPr>
          <a:lstStyle/>
          <a:p>
            <a:pPr>
              <a:spcAft>
                <a:spcPts val="1000"/>
              </a:spcAft>
            </a:pPr>
            <a:r>
              <a:rPr lang="en-IN" sz="1100">
                <a:solidFill>
                  <a:srgbClr val="B1BCD0"/>
                </a:solidFill>
                <a:latin typeface="Arial" panose="020B0604020202020204" pitchFamily="34" charset="0"/>
              </a:rPr>
              <a:t>9 / 10</a:t>
            </a:r>
          </a:p>
        </p:txBody>
      </p:sp>
      <p:sp>
        <p:nvSpPr>
          <p:cNvPr id="4" name="TextBox 3">
            <a:extLst>
              <a:ext uri="{FF2B5EF4-FFF2-40B4-BE49-F238E27FC236}">
                <a16:creationId xmlns:a16="http://schemas.microsoft.com/office/drawing/2014/main" id="{FC8CEB87-A2C7-1EA4-DE68-B5277BA3602D}"/>
              </a:ext>
            </a:extLst>
          </p:cNvPr>
          <p:cNvSpPr txBox="1"/>
          <p:nvPr/>
        </p:nvSpPr>
        <p:spPr>
          <a:xfrm>
            <a:off x="609600" y="1485899"/>
            <a:ext cx="10795000" cy="558800"/>
          </a:xfrm>
          <a:prstGeom prst="rect">
            <a:avLst/>
          </a:prstGeom>
          <a:noFill/>
        </p:spPr>
        <p:txBody>
          <a:bodyPr vert="horz" wrap="square" lIns="0" tIns="0" rIns="0" bIns="0" rtlCol="0">
            <a:noAutofit/>
          </a:bodyPr>
          <a:lstStyle/>
          <a:p>
            <a:pPr>
              <a:spcAft>
                <a:spcPts val="1000"/>
              </a:spcAft>
            </a:pPr>
            <a:r>
              <a:rPr lang="en-US" sz="2000">
                <a:solidFill>
                  <a:srgbClr val="B1BCD0"/>
                </a:solidFill>
                <a:latin typeface="Arial" panose="020B0604020202020204" pitchFamily="34" charset="0"/>
              </a:rPr>
              <a:t>3D | 2,000 steps | Same ensemble, seed 42 | Expected MSD: 2,000</a:t>
            </a:r>
            <a:endParaRPr lang="en-IN" sz="2000">
              <a:solidFill>
                <a:srgbClr val="B1BCD0"/>
              </a:solidFill>
              <a:latin typeface="Arial" panose="020B0604020202020204" pitchFamily="34" charset="0"/>
            </a:endParaRPr>
          </a:p>
        </p:txBody>
      </p:sp>
      <p:graphicFrame>
        <p:nvGraphicFramePr>
          <p:cNvPr id="5" name="Table 4">
            <a:extLst>
              <a:ext uri="{FF2B5EF4-FFF2-40B4-BE49-F238E27FC236}">
                <a16:creationId xmlns:a16="http://schemas.microsoft.com/office/drawing/2014/main" id="{849497F4-7896-7E9F-7974-450D15FB3AC1}"/>
              </a:ext>
            </a:extLst>
          </p:cNvPr>
          <p:cNvGraphicFramePr>
            <a:graphicFrameLocks noGrp="1"/>
          </p:cNvGraphicFramePr>
          <p:nvPr>
            <p:extLst>
              <p:ext uri="{D42A27DB-BD31-4B8C-83A1-F6EECF244321}">
                <p14:modId xmlns:p14="http://schemas.microsoft.com/office/powerpoint/2010/main" val="1891888133"/>
              </p:ext>
            </p:extLst>
          </p:nvPr>
        </p:nvGraphicFramePr>
        <p:xfrm>
          <a:off x="609600" y="2349500"/>
          <a:ext cx="10972800" cy="3111500"/>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511054126"/>
                    </a:ext>
                  </a:extLst>
                </a:gridCol>
                <a:gridCol w="3657600">
                  <a:extLst>
                    <a:ext uri="{9D8B030D-6E8A-4147-A177-3AD203B41FA5}">
                      <a16:colId xmlns:a16="http://schemas.microsoft.com/office/drawing/2014/main" val="4178061538"/>
                    </a:ext>
                  </a:extLst>
                </a:gridCol>
                <a:gridCol w="3657600">
                  <a:extLst>
                    <a:ext uri="{9D8B030D-6E8A-4147-A177-3AD203B41FA5}">
                      <a16:colId xmlns:a16="http://schemas.microsoft.com/office/drawing/2014/main" val="3835321270"/>
                    </a:ext>
                  </a:extLst>
                </a:gridCol>
              </a:tblGrid>
              <a:tr h="518583">
                <a:tc>
                  <a:txBody>
                    <a:bodyPr/>
                    <a:lstStyle/>
                    <a:p>
                      <a:r>
                        <a:rPr lang="en-IN" sz="2000" b="1">
                          <a:solidFill>
                            <a:srgbClr val="38D2E8"/>
                          </a:solidFill>
                          <a:latin typeface="Arial" panose="020B0604020202020204" pitchFamily="34" charset="0"/>
                        </a:rPr>
                        <a:t>Walkers included</a:t>
                      </a:r>
                    </a:p>
                  </a:txBody>
                  <a:tcPr marL="152400" marR="152400" marT="50800" marB="50800" anchor="ctr">
                    <a:lnL w="6350" cmpd="sng">
                      <a:solidFill>
                        <a:srgbClr val="26314B"/>
                      </a:solidFill>
                    </a:lnL>
                    <a:lnR w="6350" cmpd="sng">
                      <a:solidFill>
                        <a:srgbClr val="26314B"/>
                      </a:solidFill>
                    </a:lnR>
                    <a:lnT w="6350" cmpd="sng">
                      <a:solidFill>
                        <a:srgbClr val="26314B"/>
                      </a:solidFill>
                    </a:lnT>
                    <a:lnB w="6350" cmpd="sng">
                      <a:solidFill>
                        <a:srgbClr val="26314B"/>
                      </a:solidFill>
                    </a:lnB>
                    <a:solidFill>
                      <a:srgbClr val="080C1B"/>
                    </a:solidFill>
                  </a:tcPr>
                </a:tc>
                <a:tc>
                  <a:txBody>
                    <a:bodyPr/>
                    <a:lstStyle/>
                    <a:p>
                      <a:r>
                        <a:rPr lang="en-IN" sz="2000" b="1">
                          <a:solidFill>
                            <a:srgbClr val="38D2E8"/>
                          </a:solidFill>
                          <a:latin typeface="Arial" panose="020B0604020202020204" pitchFamily="34" charset="0"/>
                        </a:rPr>
                        <a:t>MSD estimate</a:t>
                      </a:r>
                    </a:p>
                  </a:txBody>
                  <a:tcPr marL="152400" marR="152400" marT="50800" marB="50800" anchor="ctr">
                    <a:lnL w="6350" cmpd="sng">
                      <a:solidFill>
                        <a:srgbClr val="26314B"/>
                      </a:solidFill>
                    </a:lnL>
                    <a:lnR w="6350" cmpd="sng">
                      <a:solidFill>
                        <a:srgbClr val="26314B"/>
                      </a:solidFill>
                    </a:lnR>
                    <a:lnT w="6350" cmpd="sng">
                      <a:solidFill>
                        <a:srgbClr val="26314B"/>
                      </a:solidFill>
                    </a:lnT>
                    <a:lnB w="6350" cmpd="sng">
                      <a:solidFill>
                        <a:srgbClr val="26314B"/>
                      </a:solidFill>
                    </a:lnB>
                    <a:solidFill>
                      <a:srgbClr val="080C1B"/>
                    </a:solidFill>
                  </a:tcPr>
                </a:tc>
                <a:tc>
                  <a:txBody>
                    <a:bodyPr/>
                    <a:lstStyle/>
                    <a:p>
                      <a:r>
                        <a:rPr lang="en-IN" sz="2000" b="1">
                          <a:solidFill>
                            <a:srgbClr val="38D2E8"/>
                          </a:solidFill>
                          <a:latin typeface="Arial" panose="020B0604020202020204" pitchFamily="34" charset="0"/>
                        </a:rPr>
                        <a:t>Error</a:t>
                      </a:r>
                    </a:p>
                  </a:txBody>
                  <a:tcPr marL="152400" marR="152400" marT="50800" marB="50800" anchor="ctr">
                    <a:lnL w="6350" cmpd="sng">
                      <a:solidFill>
                        <a:srgbClr val="26314B"/>
                      </a:solidFill>
                    </a:lnL>
                    <a:lnR w="6350" cmpd="sng">
                      <a:solidFill>
                        <a:srgbClr val="26314B"/>
                      </a:solidFill>
                    </a:lnR>
                    <a:lnT w="6350" cmpd="sng">
                      <a:solidFill>
                        <a:srgbClr val="26314B"/>
                      </a:solidFill>
                    </a:lnT>
                    <a:lnB w="6350" cmpd="sng">
                      <a:solidFill>
                        <a:srgbClr val="26314B"/>
                      </a:solidFill>
                    </a:lnB>
                    <a:solidFill>
                      <a:srgbClr val="080C1B"/>
                    </a:solidFill>
                  </a:tcPr>
                </a:tc>
                <a:extLst>
                  <a:ext uri="{0D108BD9-81ED-4DB2-BD59-A6C34878D82A}">
                    <a16:rowId xmlns:a16="http://schemas.microsoft.com/office/drawing/2014/main" val="2879729858"/>
                  </a:ext>
                </a:extLst>
              </a:tr>
              <a:tr h="518583">
                <a:tc>
                  <a:txBody>
                    <a:bodyPr/>
                    <a:lstStyle/>
                    <a:p>
                      <a:r>
                        <a:rPr lang="en-IN" sz="2000" b="0">
                          <a:solidFill>
                            <a:srgbClr val="E8EDF7"/>
                          </a:solidFill>
                          <a:latin typeface="Arial" panose="020B0604020202020204" pitchFamily="34" charset="0"/>
                        </a:rPr>
                        <a:t>10</a:t>
                      </a:r>
                    </a:p>
                  </a:txBody>
                  <a:tcPr marL="152400" marR="152400" marT="50800" marB="50800" anchor="ctr">
                    <a:lnL w="6350" cmpd="sng">
                      <a:solidFill>
                        <a:srgbClr val="26314B"/>
                      </a:solidFill>
                    </a:lnL>
                    <a:lnR w="6350" cmpd="sng">
                      <a:solidFill>
                        <a:srgbClr val="26314B"/>
                      </a:solidFill>
                    </a:lnR>
                    <a:lnT w="6350" cmpd="sng">
                      <a:solidFill>
                        <a:srgbClr val="26314B"/>
                      </a:solidFill>
                    </a:lnT>
                    <a:lnB w="6350" cmpd="sng">
                      <a:solidFill>
                        <a:srgbClr val="26314B"/>
                      </a:solidFill>
                    </a:lnB>
                    <a:solidFill>
                      <a:srgbClr val="080C1B"/>
                    </a:solidFill>
                  </a:tcPr>
                </a:tc>
                <a:tc>
                  <a:txBody>
                    <a:bodyPr/>
                    <a:lstStyle/>
                    <a:p>
                      <a:r>
                        <a:rPr lang="en-IN" sz="2000" b="0">
                          <a:solidFill>
                            <a:srgbClr val="E8EDF7"/>
                          </a:solidFill>
                          <a:latin typeface="Arial" panose="020B0604020202020204" pitchFamily="34" charset="0"/>
                        </a:rPr>
                        <a:t>1,527.80</a:t>
                      </a:r>
                    </a:p>
                  </a:txBody>
                  <a:tcPr marL="152400" marR="152400" marT="50800" marB="50800" anchor="ctr">
                    <a:lnL w="6350" cmpd="sng">
                      <a:solidFill>
                        <a:srgbClr val="26314B"/>
                      </a:solidFill>
                    </a:lnL>
                    <a:lnR w="6350" cmpd="sng">
                      <a:solidFill>
                        <a:srgbClr val="26314B"/>
                      </a:solidFill>
                    </a:lnR>
                    <a:lnT w="6350" cmpd="sng">
                      <a:solidFill>
                        <a:srgbClr val="26314B"/>
                      </a:solidFill>
                    </a:lnT>
                    <a:lnB w="6350" cmpd="sng">
                      <a:solidFill>
                        <a:srgbClr val="26314B"/>
                      </a:solidFill>
                    </a:lnB>
                    <a:solidFill>
                      <a:srgbClr val="080C1B"/>
                    </a:solidFill>
                  </a:tcPr>
                </a:tc>
                <a:tc>
                  <a:txBody>
                    <a:bodyPr/>
                    <a:lstStyle/>
                    <a:p>
                      <a:r>
                        <a:rPr lang="en-IN" sz="2000" b="0">
                          <a:solidFill>
                            <a:srgbClr val="E8EDF7"/>
                          </a:solidFill>
                          <a:latin typeface="Arial" panose="020B0604020202020204" pitchFamily="34" charset="0"/>
                        </a:rPr>
                        <a:t>23.61%</a:t>
                      </a:r>
                    </a:p>
                  </a:txBody>
                  <a:tcPr marL="152400" marR="152400" marT="50800" marB="50800" anchor="ctr">
                    <a:lnL w="6350" cmpd="sng">
                      <a:solidFill>
                        <a:srgbClr val="26314B"/>
                      </a:solidFill>
                    </a:lnL>
                    <a:lnR w="6350" cmpd="sng">
                      <a:solidFill>
                        <a:srgbClr val="26314B"/>
                      </a:solidFill>
                    </a:lnR>
                    <a:lnT w="6350" cmpd="sng">
                      <a:solidFill>
                        <a:srgbClr val="26314B"/>
                      </a:solidFill>
                    </a:lnT>
                    <a:lnB w="6350" cmpd="sng">
                      <a:solidFill>
                        <a:srgbClr val="26314B"/>
                      </a:solidFill>
                    </a:lnB>
                    <a:solidFill>
                      <a:srgbClr val="080C1B"/>
                    </a:solidFill>
                  </a:tcPr>
                </a:tc>
                <a:extLst>
                  <a:ext uri="{0D108BD9-81ED-4DB2-BD59-A6C34878D82A}">
                    <a16:rowId xmlns:a16="http://schemas.microsoft.com/office/drawing/2014/main" val="890180198"/>
                  </a:ext>
                </a:extLst>
              </a:tr>
              <a:tr h="518583">
                <a:tc>
                  <a:txBody>
                    <a:bodyPr/>
                    <a:lstStyle/>
                    <a:p>
                      <a:r>
                        <a:rPr lang="en-IN" sz="2000" b="0">
                          <a:solidFill>
                            <a:srgbClr val="E8EDF7"/>
                          </a:solidFill>
                          <a:latin typeface="Arial" panose="020B0604020202020204" pitchFamily="34" charset="0"/>
                        </a:rPr>
                        <a:t>50</a:t>
                      </a:r>
                    </a:p>
                  </a:txBody>
                  <a:tcPr marL="152400" marR="152400" marT="50800" marB="50800" anchor="ctr">
                    <a:lnL w="6350" cmpd="sng">
                      <a:solidFill>
                        <a:srgbClr val="26314B"/>
                      </a:solidFill>
                    </a:lnL>
                    <a:lnR w="6350" cmpd="sng">
                      <a:solidFill>
                        <a:srgbClr val="26314B"/>
                      </a:solidFill>
                    </a:lnR>
                    <a:lnT w="6350" cmpd="sng">
                      <a:solidFill>
                        <a:srgbClr val="26314B"/>
                      </a:solidFill>
                    </a:lnT>
                    <a:lnB w="6350" cmpd="sng">
                      <a:solidFill>
                        <a:srgbClr val="26314B"/>
                      </a:solidFill>
                    </a:lnB>
                    <a:solidFill>
                      <a:srgbClr val="080C1B"/>
                    </a:solidFill>
                  </a:tcPr>
                </a:tc>
                <a:tc>
                  <a:txBody>
                    <a:bodyPr/>
                    <a:lstStyle/>
                    <a:p>
                      <a:r>
                        <a:rPr lang="en-IN" sz="2000" b="0">
                          <a:solidFill>
                            <a:srgbClr val="E8EDF7"/>
                          </a:solidFill>
                          <a:latin typeface="Arial" panose="020B0604020202020204" pitchFamily="34" charset="0"/>
                        </a:rPr>
                        <a:t>2,526.16</a:t>
                      </a:r>
                    </a:p>
                  </a:txBody>
                  <a:tcPr marL="152400" marR="152400" marT="50800" marB="50800" anchor="ctr">
                    <a:lnL w="6350" cmpd="sng">
                      <a:solidFill>
                        <a:srgbClr val="26314B"/>
                      </a:solidFill>
                    </a:lnL>
                    <a:lnR w="6350" cmpd="sng">
                      <a:solidFill>
                        <a:srgbClr val="26314B"/>
                      </a:solidFill>
                    </a:lnR>
                    <a:lnT w="6350" cmpd="sng">
                      <a:solidFill>
                        <a:srgbClr val="26314B"/>
                      </a:solidFill>
                    </a:lnT>
                    <a:lnB w="6350" cmpd="sng">
                      <a:solidFill>
                        <a:srgbClr val="26314B"/>
                      </a:solidFill>
                    </a:lnB>
                    <a:solidFill>
                      <a:srgbClr val="080C1B"/>
                    </a:solidFill>
                  </a:tcPr>
                </a:tc>
                <a:tc>
                  <a:txBody>
                    <a:bodyPr/>
                    <a:lstStyle/>
                    <a:p>
                      <a:r>
                        <a:rPr lang="en-IN" sz="2000" b="0">
                          <a:solidFill>
                            <a:srgbClr val="E8EDF7"/>
                          </a:solidFill>
                          <a:latin typeface="Arial" panose="020B0604020202020204" pitchFamily="34" charset="0"/>
                        </a:rPr>
                        <a:t>26.31%</a:t>
                      </a:r>
                    </a:p>
                  </a:txBody>
                  <a:tcPr marL="152400" marR="152400" marT="50800" marB="50800" anchor="ctr">
                    <a:lnL w="6350" cmpd="sng">
                      <a:solidFill>
                        <a:srgbClr val="26314B"/>
                      </a:solidFill>
                    </a:lnL>
                    <a:lnR w="6350" cmpd="sng">
                      <a:solidFill>
                        <a:srgbClr val="26314B"/>
                      </a:solidFill>
                    </a:lnR>
                    <a:lnT w="6350" cmpd="sng">
                      <a:solidFill>
                        <a:srgbClr val="26314B"/>
                      </a:solidFill>
                    </a:lnT>
                    <a:lnB w="6350" cmpd="sng">
                      <a:solidFill>
                        <a:srgbClr val="26314B"/>
                      </a:solidFill>
                    </a:lnB>
                    <a:solidFill>
                      <a:srgbClr val="080C1B"/>
                    </a:solidFill>
                  </a:tcPr>
                </a:tc>
                <a:extLst>
                  <a:ext uri="{0D108BD9-81ED-4DB2-BD59-A6C34878D82A}">
                    <a16:rowId xmlns:a16="http://schemas.microsoft.com/office/drawing/2014/main" val="3172424400"/>
                  </a:ext>
                </a:extLst>
              </a:tr>
              <a:tr h="518583">
                <a:tc>
                  <a:txBody>
                    <a:bodyPr/>
                    <a:lstStyle/>
                    <a:p>
                      <a:r>
                        <a:rPr lang="en-IN" sz="2000" b="0">
                          <a:solidFill>
                            <a:srgbClr val="E8EDF7"/>
                          </a:solidFill>
                          <a:latin typeface="Arial" panose="020B0604020202020204" pitchFamily="34" charset="0"/>
                        </a:rPr>
                        <a:t>200</a:t>
                      </a:r>
                    </a:p>
                  </a:txBody>
                  <a:tcPr marL="152400" marR="152400" marT="50800" marB="50800" anchor="ctr">
                    <a:lnL w="6350" cmpd="sng">
                      <a:solidFill>
                        <a:srgbClr val="26314B"/>
                      </a:solidFill>
                    </a:lnL>
                    <a:lnR w="6350" cmpd="sng">
                      <a:solidFill>
                        <a:srgbClr val="26314B"/>
                      </a:solidFill>
                    </a:lnR>
                    <a:lnT w="6350" cmpd="sng">
                      <a:solidFill>
                        <a:srgbClr val="26314B"/>
                      </a:solidFill>
                    </a:lnT>
                    <a:lnB w="6350" cmpd="sng">
                      <a:solidFill>
                        <a:srgbClr val="26314B"/>
                      </a:solidFill>
                    </a:lnB>
                    <a:solidFill>
                      <a:srgbClr val="080C1B"/>
                    </a:solidFill>
                  </a:tcPr>
                </a:tc>
                <a:tc>
                  <a:txBody>
                    <a:bodyPr/>
                    <a:lstStyle/>
                    <a:p>
                      <a:r>
                        <a:rPr lang="en-IN" sz="2000" b="0">
                          <a:solidFill>
                            <a:srgbClr val="E8EDF7"/>
                          </a:solidFill>
                          <a:latin typeface="Arial" panose="020B0604020202020204" pitchFamily="34" charset="0"/>
                        </a:rPr>
                        <a:t>2,161.83</a:t>
                      </a:r>
                    </a:p>
                  </a:txBody>
                  <a:tcPr marL="152400" marR="152400" marT="50800" marB="50800" anchor="ctr">
                    <a:lnL w="6350" cmpd="sng">
                      <a:solidFill>
                        <a:srgbClr val="26314B"/>
                      </a:solidFill>
                    </a:lnL>
                    <a:lnR w="6350" cmpd="sng">
                      <a:solidFill>
                        <a:srgbClr val="26314B"/>
                      </a:solidFill>
                    </a:lnR>
                    <a:lnT w="6350" cmpd="sng">
                      <a:solidFill>
                        <a:srgbClr val="26314B"/>
                      </a:solidFill>
                    </a:lnT>
                    <a:lnB w="6350" cmpd="sng">
                      <a:solidFill>
                        <a:srgbClr val="26314B"/>
                      </a:solidFill>
                    </a:lnB>
                    <a:solidFill>
                      <a:srgbClr val="080C1B"/>
                    </a:solidFill>
                  </a:tcPr>
                </a:tc>
                <a:tc>
                  <a:txBody>
                    <a:bodyPr/>
                    <a:lstStyle/>
                    <a:p>
                      <a:r>
                        <a:rPr lang="en-IN" sz="2000" b="0">
                          <a:solidFill>
                            <a:srgbClr val="E8EDF7"/>
                          </a:solidFill>
                          <a:latin typeface="Arial" panose="020B0604020202020204" pitchFamily="34" charset="0"/>
                        </a:rPr>
                        <a:t>8.09%</a:t>
                      </a:r>
                    </a:p>
                  </a:txBody>
                  <a:tcPr marL="152400" marR="152400" marT="50800" marB="50800" anchor="ctr">
                    <a:lnL w="6350" cmpd="sng">
                      <a:solidFill>
                        <a:srgbClr val="26314B"/>
                      </a:solidFill>
                    </a:lnL>
                    <a:lnR w="6350" cmpd="sng">
                      <a:solidFill>
                        <a:srgbClr val="26314B"/>
                      </a:solidFill>
                    </a:lnR>
                    <a:lnT w="6350" cmpd="sng">
                      <a:solidFill>
                        <a:srgbClr val="26314B"/>
                      </a:solidFill>
                    </a:lnT>
                    <a:lnB w="6350" cmpd="sng">
                      <a:solidFill>
                        <a:srgbClr val="26314B"/>
                      </a:solidFill>
                    </a:lnB>
                    <a:solidFill>
                      <a:srgbClr val="080C1B"/>
                    </a:solidFill>
                  </a:tcPr>
                </a:tc>
                <a:extLst>
                  <a:ext uri="{0D108BD9-81ED-4DB2-BD59-A6C34878D82A}">
                    <a16:rowId xmlns:a16="http://schemas.microsoft.com/office/drawing/2014/main" val="2400174399"/>
                  </a:ext>
                </a:extLst>
              </a:tr>
              <a:tr h="518583">
                <a:tc>
                  <a:txBody>
                    <a:bodyPr/>
                    <a:lstStyle/>
                    <a:p>
                      <a:r>
                        <a:rPr lang="en-IN" sz="2000" b="0">
                          <a:solidFill>
                            <a:srgbClr val="E8EDF7"/>
                          </a:solidFill>
                          <a:latin typeface="Arial" panose="020B0604020202020204" pitchFamily="34" charset="0"/>
                        </a:rPr>
                        <a:t>500</a:t>
                      </a:r>
                    </a:p>
                  </a:txBody>
                  <a:tcPr marL="152400" marR="152400" marT="50800" marB="50800" anchor="ctr">
                    <a:lnL w="6350" cmpd="sng">
                      <a:solidFill>
                        <a:srgbClr val="26314B"/>
                      </a:solidFill>
                    </a:lnL>
                    <a:lnR w="6350" cmpd="sng">
                      <a:solidFill>
                        <a:srgbClr val="26314B"/>
                      </a:solidFill>
                    </a:lnR>
                    <a:lnT w="6350" cmpd="sng">
                      <a:solidFill>
                        <a:srgbClr val="26314B"/>
                      </a:solidFill>
                    </a:lnT>
                    <a:lnB w="6350" cmpd="sng">
                      <a:solidFill>
                        <a:srgbClr val="26314B"/>
                      </a:solidFill>
                    </a:lnB>
                    <a:solidFill>
                      <a:srgbClr val="080C1B"/>
                    </a:solidFill>
                  </a:tcPr>
                </a:tc>
                <a:tc>
                  <a:txBody>
                    <a:bodyPr/>
                    <a:lstStyle/>
                    <a:p>
                      <a:r>
                        <a:rPr lang="en-IN" sz="2000" b="0">
                          <a:solidFill>
                            <a:srgbClr val="E8EDF7"/>
                          </a:solidFill>
                          <a:latin typeface="Arial" panose="020B0604020202020204" pitchFamily="34" charset="0"/>
                        </a:rPr>
                        <a:t>2,115.19</a:t>
                      </a:r>
                    </a:p>
                  </a:txBody>
                  <a:tcPr marL="152400" marR="152400" marT="50800" marB="50800" anchor="ctr">
                    <a:lnL w="6350" cmpd="sng">
                      <a:solidFill>
                        <a:srgbClr val="26314B"/>
                      </a:solidFill>
                    </a:lnL>
                    <a:lnR w="6350" cmpd="sng">
                      <a:solidFill>
                        <a:srgbClr val="26314B"/>
                      </a:solidFill>
                    </a:lnR>
                    <a:lnT w="6350" cmpd="sng">
                      <a:solidFill>
                        <a:srgbClr val="26314B"/>
                      </a:solidFill>
                    </a:lnT>
                    <a:lnB w="6350" cmpd="sng">
                      <a:solidFill>
                        <a:srgbClr val="26314B"/>
                      </a:solidFill>
                    </a:lnB>
                    <a:solidFill>
                      <a:srgbClr val="080C1B"/>
                    </a:solidFill>
                  </a:tcPr>
                </a:tc>
                <a:tc>
                  <a:txBody>
                    <a:bodyPr/>
                    <a:lstStyle/>
                    <a:p>
                      <a:r>
                        <a:rPr lang="en-IN" sz="2000" b="0">
                          <a:solidFill>
                            <a:srgbClr val="E8EDF7"/>
                          </a:solidFill>
                          <a:latin typeface="Arial" panose="020B0604020202020204" pitchFamily="34" charset="0"/>
                        </a:rPr>
                        <a:t>5.76%</a:t>
                      </a:r>
                    </a:p>
                  </a:txBody>
                  <a:tcPr marL="152400" marR="152400" marT="50800" marB="50800" anchor="ctr">
                    <a:lnL w="6350" cmpd="sng">
                      <a:solidFill>
                        <a:srgbClr val="26314B"/>
                      </a:solidFill>
                    </a:lnL>
                    <a:lnR w="6350" cmpd="sng">
                      <a:solidFill>
                        <a:srgbClr val="26314B"/>
                      </a:solidFill>
                    </a:lnR>
                    <a:lnT w="6350" cmpd="sng">
                      <a:solidFill>
                        <a:srgbClr val="26314B"/>
                      </a:solidFill>
                    </a:lnT>
                    <a:lnB w="6350" cmpd="sng">
                      <a:solidFill>
                        <a:srgbClr val="26314B"/>
                      </a:solidFill>
                    </a:lnB>
                    <a:solidFill>
                      <a:srgbClr val="080C1B"/>
                    </a:solidFill>
                  </a:tcPr>
                </a:tc>
                <a:extLst>
                  <a:ext uri="{0D108BD9-81ED-4DB2-BD59-A6C34878D82A}">
                    <a16:rowId xmlns:a16="http://schemas.microsoft.com/office/drawing/2014/main" val="590827592"/>
                  </a:ext>
                </a:extLst>
              </a:tr>
              <a:tr h="518583">
                <a:tc>
                  <a:txBody>
                    <a:bodyPr/>
                    <a:lstStyle/>
                    <a:p>
                      <a:r>
                        <a:rPr lang="en-IN" sz="2000" b="0">
                          <a:solidFill>
                            <a:srgbClr val="E8EDF7"/>
                          </a:solidFill>
                          <a:latin typeface="Arial" panose="020B0604020202020204" pitchFamily="34" charset="0"/>
                        </a:rPr>
                        <a:t>2,000</a:t>
                      </a:r>
                    </a:p>
                  </a:txBody>
                  <a:tcPr marL="152400" marR="152400" marT="50800" marB="50800" anchor="ctr">
                    <a:lnL w="6350" cmpd="sng">
                      <a:solidFill>
                        <a:srgbClr val="26314B"/>
                      </a:solidFill>
                    </a:lnL>
                    <a:lnR w="6350" cmpd="sng">
                      <a:solidFill>
                        <a:srgbClr val="26314B"/>
                      </a:solidFill>
                    </a:lnR>
                    <a:lnT w="6350" cmpd="sng">
                      <a:solidFill>
                        <a:srgbClr val="26314B"/>
                      </a:solidFill>
                    </a:lnT>
                    <a:lnB w="6350" cmpd="sng">
                      <a:solidFill>
                        <a:srgbClr val="26314B"/>
                      </a:solidFill>
                    </a:lnB>
                    <a:solidFill>
                      <a:srgbClr val="080C1B"/>
                    </a:solidFill>
                  </a:tcPr>
                </a:tc>
                <a:tc>
                  <a:txBody>
                    <a:bodyPr/>
                    <a:lstStyle/>
                    <a:p>
                      <a:r>
                        <a:rPr lang="en-IN" sz="2000" b="0">
                          <a:solidFill>
                            <a:srgbClr val="E8EDF7"/>
                          </a:solidFill>
                          <a:latin typeface="Arial" panose="020B0604020202020204" pitchFamily="34" charset="0"/>
                        </a:rPr>
                        <a:t>2,007.82</a:t>
                      </a:r>
                    </a:p>
                  </a:txBody>
                  <a:tcPr marL="152400" marR="152400" marT="50800" marB="50800" anchor="ctr">
                    <a:lnL w="6350" cmpd="sng">
                      <a:solidFill>
                        <a:srgbClr val="26314B"/>
                      </a:solidFill>
                    </a:lnL>
                    <a:lnR w="6350" cmpd="sng">
                      <a:solidFill>
                        <a:srgbClr val="26314B"/>
                      </a:solidFill>
                    </a:lnR>
                    <a:lnT w="6350" cmpd="sng">
                      <a:solidFill>
                        <a:srgbClr val="26314B"/>
                      </a:solidFill>
                    </a:lnT>
                    <a:lnB w="6350" cmpd="sng">
                      <a:solidFill>
                        <a:srgbClr val="26314B"/>
                      </a:solidFill>
                    </a:lnB>
                    <a:solidFill>
                      <a:srgbClr val="080C1B"/>
                    </a:solidFill>
                  </a:tcPr>
                </a:tc>
                <a:tc>
                  <a:txBody>
                    <a:bodyPr/>
                    <a:lstStyle/>
                    <a:p>
                      <a:r>
                        <a:rPr lang="en-IN" sz="2000" b="0">
                          <a:solidFill>
                            <a:srgbClr val="E8EDF7"/>
                          </a:solidFill>
                          <a:latin typeface="Arial" panose="020B0604020202020204" pitchFamily="34" charset="0"/>
                        </a:rPr>
                        <a:t>0.39%</a:t>
                      </a:r>
                    </a:p>
                  </a:txBody>
                  <a:tcPr marL="152400" marR="152400" marT="50800" marB="50800" anchor="ctr">
                    <a:lnL w="6350" cmpd="sng">
                      <a:solidFill>
                        <a:srgbClr val="26314B"/>
                      </a:solidFill>
                    </a:lnL>
                    <a:lnR w="6350" cmpd="sng">
                      <a:solidFill>
                        <a:srgbClr val="26314B"/>
                      </a:solidFill>
                    </a:lnR>
                    <a:lnT w="6350" cmpd="sng">
                      <a:solidFill>
                        <a:srgbClr val="26314B"/>
                      </a:solidFill>
                    </a:lnT>
                    <a:lnB w="6350" cmpd="sng">
                      <a:solidFill>
                        <a:srgbClr val="26314B"/>
                      </a:solidFill>
                    </a:lnB>
                    <a:solidFill>
                      <a:srgbClr val="080C1B"/>
                    </a:solidFill>
                  </a:tcPr>
                </a:tc>
                <a:extLst>
                  <a:ext uri="{0D108BD9-81ED-4DB2-BD59-A6C34878D82A}">
                    <a16:rowId xmlns:a16="http://schemas.microsoft.com/office/drawing/2014/main" val="3192395091"/>
                  </a:ext>
                </a:extLst>
              </a:tr>
            </a:tbl>
          </a:graphicData>
        </a:graphic>
      </p:graphicFrame>
      <p:sp>
        <p:nvSpPr>
          <p:cNvPr id="6" name="TextBox 5">
            <a:extLst>
              <a:ext uri="{FF2B5EF4-FFF2-40B4-BE49-F238E27FC236}">
                <a16:creationId xmlns:a16="http://schemas.microsoft.com/office/drawing/2014/main" id="{5A412A63-E57A-62FA-9A0B-BE1E7FF3861B}"/>
              </a:ext>
            </a:extLst>
          </p:cNvPr>
          <p:cNvSpPr txBox="1"/>
          <p:nvPr/>
        </p:nvSpPr>
        <p:spPr>
          <a:xfrm>
            <a:off x="609600" y="5689599"/>
            <a:ext cx="10795000" cy="393700"/>
          </a:xfrm>
          <a:prstGeom prst="rect">
            <a:avLst/>
          </a:prstGeom>
          <a:noFill/>
        </p:spPr>
        <p:txBody>
          <a:bodyPr vert="horz" wrap="square" lIns="0" tIns="0" rIns="0" bIns="0" rtlCol="0">
            <a:noAutofit/>
          </a:bodyPr>
          <a:lstStyle/>
          <a:p>
            <a:pPr>
              <a:spcAft>
                <a:spcPts val="1000"/>
              </a:spcAft>
            </a:pPr>
            <a:r>
              <a:rPr lang="en-US" sz="2100">
                <a:solidFill>
                  <a:srgbClr val="38D2E8"/>
                </a:solidFill>
                <a:latin typeface="Arial" panose="020B0604020202020204" pitchFamily="34" charset="0"/>
              </a:rPr>
              <a:t>The final error was 0.39%. Error can rise before it falls.</a:t>
            </a:r>
            <a:endParaRPr lang="en-IN" sz="2100">
              <a:solidFill>
                <a:srgbClr val="38D2E8"/>
              </a:solidFill>
              <a:latin typeface="Arial" panose="020B0604020202020204" pitchFamily="34" charset="0"/>
            </a:endParaRPr>
          </a:p>
        </p:txBody>
      </p:sp>
      <p:sp>
        <p:nvSpPr>
          <p:cNvPr id="7" name="TextBox 6">
            <a:extLst>
              <a:ext uri="{FF2B5EF4-FFF2-40B4-BE49-F238E27FC236}">
                <a16:creationId xmlns:a16="http://schemas.microsoft.com/office/drawing/2014/main" id="{DCD205D7-14E2-2F12-4F8D-218570F1C961}"/>
              </a:ext>
            </a:extLst>
          </p:cNvPr>
          <p:cNvSpPr txBox="1"/>
          <p:nvPr/>
        </p:nvSpPr>
        <p:spPr>
          <a:xfrm>
            <a:off x="609600" y="6172199"/>
            <a:ext cx="10795000" cy="317500"/>
          </a:xfrm>
          <a:prstGeom prst="rect">
            <a:avLst/>
          </a:prstGeom>
          <a:noFill/>
        </p:spPr>
        <p:txBody>
          <a:bodyPr vert="horz" wrap="square" lIns="0" tIns="0" rIns="0" bIns="0" rtlCol="0">
            <a:noAutofit/>
          </a:bodyPr>
          <a:lstStyle/>
          <a:p>
            <a:pPr>
              <a:spcAft>
                <a:spcPts val="1000"/>
              </a:spcAft>
            </a:pPr>
            <a:r>
              <a:rPr lang="en-US" sz="1700">
                <a:solidFill>
                  <a:srgbClr val="B1BCD0"/>
                </a:solidFill>
                <a:latin typeface="Arial" panose="020B0604020202020204" pitchFamily="34" charset="0"/>
              </a:rPr>
              <a:t>Play, pause, reset or choose an exact walker count in the Convergence tab.</a:t>
            </a:r>
            <a:endParaRPr lang="en-IN" sz="1700">
              <a:solidFill>
                <a:srgbClr val="B1BCD0"/>
              </a:solidFill>
              <a:latin typeface="Arial" panose="020B0604020202020204" pitchFamily="34" charset="0"/>
            </a:endParaRPr>
          </a:p>
        </p:txBody>
      </p:sp>
    </p:spTree>
    <p:extLst>
      <p:ext uri="{BB962C8B-B14F-4D97-AF65-F5344CB8AC3E}">
        <p14:creationId xmlns:p14="http://schemas.microsoft.com/office/powerpoint/2010/main" val="3806007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80C1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1EFE8CC-8024-D392-E8A2-06B174C788B5}"/>
              </a:ext>
            </a:extLst>
          </p:cNvPr>
          <p:cNvSpPr txBox="1"/>
          <p:nvPr/>
        </p:nvSpPr>
        <p:spPr>
          <a:xfrm>
            <a:off x="558800" y="482599"/>
            <a:ext cx="11074400" cy="812800"/>
          </a:xfrm>
          <a:prstGeom prst="rect">
            <a:avLst/>
          </a:prstGeom>
          <a:noFill/>
        </p:spPr>
        <p:txBody>
          <a:bodyPr vert="horz" wrap="square" lIns="0" tIns="0" rIns="0" bIns="0" rtlCol="0">
            <a:noAutofit/>
          </a:bodyPr>
          <a:lstStyle/>
          <a:p>
            <a:pPr>
              <a:spcAft>
                <a:spcPts val="1000"/>
              </a:spcAft>
            </a:pPr>
            <a:r>
              <a:rPr lang="en-IN" sz="3200" b="1">
                <a:solidFill>
                  <a:srgbClr val="E8EDF7"/>
                </a:solidFill>
                <a:latin typeface="Arial" panose="020B0604020202020204" pitchFamily="34" charset="0"/>
              </a:rPr>
              <a:t>Building distributions live</a:t>
            </a:r>
          </a:p>
        </p:txBody>
      </p:sp>
      <p:sp>
        <p:nvSpPr>
          <p:cNvPr id="3" name="TextBox 2">
            <a:extLst>
              <a:ext uri="{FF2B5EF4-FFF2-40B4-BE49-F238E27FC236}">
                <a16:creationId xmlns:a16="http://schemas.microsoft.com/office/drawing/2014/main" id="{176E2689-1E82-CF7E-8CC2-BF1F468B5212}"/>
              </a:ext>
            </a:extLst>
          </p:cNvPr>
          <p:cNvSpPr txBox="1"/>
          <p:nvPr/>
        </p:nvSpPr>
        <p:spPr>
          <a:xfrm>
            <a:off x="10795000" y="6426200"/>
            <a:ext cx="838200" cy="254000"/>
          </a:xfrm>
          <a:prstGeom prst="rect">
            <a:avLst/>
          </a:prstGeom>
          <a:noFill/>
        </p:spPr>
        <p:txBody>
          <a:bodyPr vert="horz" wrap="square" lIns="0" tIns="0" rIns="0" bIns="0" rtlCol="0">
            <a:noAutofit/>
          </a:bodyPr>
          <a:lstStyle/>
          <a:p>
            <a:pPr>
              <a:spcAft>
                <a:spcPts val="1000"/>
              </a:spcAft>
            </a:pPr>
            <a:r>
              <a:rPr lang="en-IN" sz="1100">
                <a:solidFill>
                  <a:srgbClr val="B1BCD0"/>
                </a:solidFill>
                <a:latin typeface="Arial" panose="020B0604020202020204" pitchFamily="34" charset="0"/>
              </a:rPr>
              <a:t>10 / 10</a:t>
            </a:r>
          </a:p>
        </p:txBody>
      </p:sp>
      <p:sp>
        <p:nvSpPr>
          <p:cNvPr id="4" name="TextBox 3">
            <a:extLst>
              <a:ext uri="{FF2B5EF4-FFF2-40B4-BE49-F238E27FC236}">
                <a16:creationId xmlns:a16="http://schemas.microsoft.com/office/drawing/2014/main" id="{CE1CC810-A750-F947-26F7-DDE0E018E219}"/>
              </a:ext>
            </a:extLst>
          </p:cNvPr>
          <p:cNvSpPr txBox="1"/>
          <p:nvPr/>
        </p:nvSpPr>
        <p:spPr>
          <a:xfrm>
            <a:off x="609600" y="1485899"/>
            <a:ext cx="10795000" cy="863600"/>
          </a:xfrm>
          <a:prstGeom prst="rect">
            <a:avLst/>
          </a:prstGeom>
          <a:noFill/>
        </p:spPr>
        <p:txBody>
          <a:bodyPr vert="horz" wrap="square" lIns="0" tIns="0" rIns="0" bIns="0" rtlCol="0">
            <a:noAutofit/>
          </a:bodyPr>
          <a:lstStyle/>
          <a:p>
            <a:pPr>
              <a:spcAft>
                <a:spcPts val="1000"/>
              </a:spcAft>
            </a:pPr>
            <a:r>
              <a:rPr lang="en-US" sz="2400">
                <a:solidFill>
                  <a:srgbClr val="38D2E8"/>
                </a:solidFill>
                <a:latin typeface="Arial" panose="020B0604020202020204" pitchFamily="34" charset="0"/>
              </a:rPr>
              <a:t>Add walkers from the same completed ensemble, at a fixed final time.</a:t>
            </a:r>
            <a:endParaRPr lang="en-IN" sz="2400">
              <a:solidFill>
                <a:srgbClr val="38D2E8"/>
              </a:solidFill>
              <a:latin typeface="Arial" panose="020B0604020202020204" pitchFamily="34" charset="0"/>
            </a:endParaRPr>
          </a:p>
        </p:txBody>
      </p:sp>
      <p:sp>
        <p:nvSpPr>
          <p:cNvPr id="5" name="TextBox 4">
            <a:extLst>
              <a:ext uri="{FF2B5EF4-FFF2-40B4-BE49-F238E27FC236}">
                <a16:creationId xmlns:a16="http://schemas.microsoft.com/office/drawing/2014/main" id="{36CEE654-4C08-EA6A-9207-A352C1298EA1}"/>
              </a:ext>
            </a:extLst>
          </p:cNvPr>
          <p:cNvSpPr txBox="1"/>
          <p:nvPr/>
        </p:nvSpPr>
        <p:spPr>
          <a:xfrm>
            <a:off x="609600" y="2857499"/>
            <a:ext cx="10795000" cy="2032000"/>
          </a:xfrm>
          <a:prstGeom prst="rect">
            <a:avLst/>
          </a:prstGeom>
          <a:noFill/>
        </p:spPr>
        <p:txBody>
          <a:bodyPr vert="horz" wrap="square" lIns="0" tIns="0" rIns="0" bIns="0" rtlCol="0">
            <a:noAutofit/>
          </a:bodyPr>
          <a:lstStyle/>
          <a:p>
            <a:pPr>
              <a:spcAft>
                <a:spcPts val="1000"/>
              </a:spcAft>
            </a:pPr>
            <a:r>
              <a:rPr lang="en-US" sz="2300">
                <a:solidFill>
                  <a:srgbClr val="E8EDF7"/>
                </a:solidFill>
                <a:latin typeface="Arial" panose="020B0604020202020204" pitchFamily="34" charset="0"/>
              </a:rPr>
              <a:t>Choose a coordinate or distance from the origin.
Play one walker at a time, or use fast playback.
Bins stay fixed; the amber bar marks the last added walker.
The endpoint cloud follows the same included walker count.</a:t>
            </a:r>
            <a:endParaRPr lang="en-IN" sz="2300">
              <a:solidFill>
                <a:srgbClr val="E8EDF7"/>
              </a:solidFill>
              <a:latin typeface="Arial" panose="020B0604020202020204" pitchFamily="34" charset="0"/>
            </a:endParaRPr>
          </a:p>
        </p:txBody>
      </p:sp>
      <p:sp>
        <p:nvSpPr>
          <p:cNvPr id="6" name="TextBox 5">
            <a:extLst>
              <a:ext uri="{FF2B5EF4-FFF2-40B4-BE49-F238E27FC236}">
                <a16:creationId xmlns:a16="http://schemas.microsoft.com/office/drawing/2014/main" id="{837ADF43-2C49-0CFD-AEC9-FA66366F6120}"/>
              </a:ext>
            </a:extLst>
          </p:cNvPr>
          <p:cNvSpPr txBox="1"/>
          <p:nvPr/>
        </p:nvSpPr>
        <p:spPr>
          <a:xfrm>
            <a:off x="609600" y="5549899"/>
            <a:ext cx="10795000" cy="736600"/>
          </a:xfrm>
          <a:prstGeom prst="rect">
            <a:avLst/>
          </a:prstGeom>
          <a:noFill/>
        </p:spPr>
        <p:txBody>
          <a:bodyPr vert="horz" wrap="square" lIns="0" tIns="0" rIns="0" bIns="0" rtlCol="0">
            <a:noAutofit/>
          </a:bodyPr>
          <a:lstStyle/>
          <a:p>
            <a:pPr>
              <a:spcAft>
                <a:spcPts val="1000"/>
              </a:spcAft>
            </a:pPr>
            <a:r>
              <a:rPr lang="en-US" sz="2100">
                <a:solidFill>
                  <a:srgbClr val="B1BCD0"/>
                </a:solidFill>
                <a:latin typeface="Arial" panose="020B0604020202020204" pitchFamily="34" charset="0"/>
              </a:rPr>
              <a:t>Open the bin-count table or export a CSV to check how the histogram was formed.</a:t>
            </a:r>
            <a:endParaRPr lang="en-IN" sz="2100">
              <a:solidFill>
                <a:srgbClr val="B1BCD0"/>
              </a:solidFill>
              <a:latin typeface="Arial" panose="020B0604020202020204" pitchFamily="34" charset="0"/>
            </a:endParaRPr>
          </a:p>
        </p:txBody>
      </p:sp>
    </p:spTree>
    <p:extLst>
      <p:ext uri="{BB962C8B-B14F-4D97-AF65-F5344CB8AC3E}">
        <p14:creationId xmlns:p14="http://schemas.microsoft.com/office/powerpoint/2010/main" val="31225916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1365</Words>
  <Application>Microsoft Office PowerPoint</Application>
  <PresentationFormat>Custom</PresentationFormat>
  <Paragraphs>121</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Calibri Light</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Subhankar Sutradhar</dc:creator>
  <cp:lastModifiedBy>Subhankar Sutradhar</cp:lastModifiedBy>
  <cp:revision>1</cp:revision>
  <dcterms:created xsi:type="dcterms:W3CDTF">2026-10-09T09:23:08Z</dcterms:created>
  <dcterms:modified xsi:type="dcterms:W3CDTF">2026-10-09T09:23:08Z</dcterms:modified>
</cp:coreProperties>
</file>