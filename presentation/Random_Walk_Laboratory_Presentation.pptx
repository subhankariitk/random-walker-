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 computational laboratory that simulates lattice random walks in 1 to 5 dimensions and checks every simulated statistic against an exact mathematical prediction. The picture on the right shows nine real 2D walks generated by our engine, all starting from the origin.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walks are the simplest model of diffusion and appear across physics, chemistry, biology, finance and computer science. Our central question: how does dimension change the behaviour? We turn this into four testable objectives, each with an exact theoretical answer that the simulation must reproduce.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 lives on the integer lattice. At every step exactly one of the d coordinates is chosen uniformly and moved by +1 or -1, so there are 2d equally likely neighbours, each with probability 1/(2d). This is the classical Polya model. Note: it is NOT the variant where all coordinates move simultaneously; the theory differs between the two, and our code and tests enforce the one-coordinate rule.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exact results follow from linearity of expectation. (1) Mean is zero by symmetry. (2) Each axis is used with probability 1/d, so Var of one coordinate is n/d. (3) Expanding |X_n|^2, the diagonal terms each give 1 and the cross terms vanish by independence, so E|X_n|^2 = n in EVERY dimension. (4) Hence RMS distance = sqrt(n), exponent 1/2. (5) The CLT gives Gaussian coordinates and a chi-distributed radius; the special cases are half-normal, Rayleigh and Maxwell-Boltzmann.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draws, for every step and every walker, a random axis and a random sign. All N walkers are advanced simultaneously as one array, in chunks of time steps, so only the current positions are stored (memory O(N d)). At checkpoints we accumulate the MSD, mean distance and per-coordinate variance; at every step we flag walkers sitting at the origin. Statistics: MSD estimator with standard error and 95% CI, log-log least squares for alpha, and a Kolmogorov-Smirnov test against N(0, n/d). 94 unit tests verify the model rules and theoretical formulas.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ensemble MSD for d = 1 to 5 lies on the single theoretical line y = n. Right: the mean distance grows as n^(1/2) on log-log axes. The table gives the final MSD with standard errors: every dimension agrees with n = 2000 within about one standard error, and the fitted exponent is 0.50 to within 0.005. Key insight: going to higher dimension does not make the walk spread faster; it only splits the same total variance n across more axes.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Histograms are the simulation, white curves are the exact limiting densities with no fitted parameters. Each coordinate is Gaussian with variance n/d, and the radius follows the chi distribution: Rayleigh in 2D and Maxwell-Boltzmann in 3D. Variances and mean radii agree to better than 0.5%. A subtle point: with 20,000 samples, a raw KS test against a continuous Gaussian rejects simply because walk positions are integers (and in 1D have fixed parity). After a lattice continuity correction, p = 0.18 and 0.78, and a binned chi-square test gives p = 0.39 and 0.72: the Gaussian is not rejected.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Polya's question: does the walk surely return? The expected number of returns is the sum of P(X_2n = 0), which behaves like n^(-d/2). That series diverges for d = 1, 2 (recurrent) and converges for d &gt;= 3 (transient). In the plot, 1D approaches 1 quickly, 2D creeps up only logarithmically, and 3D, 4D, 5D saturate exactly at the Watson constants shown dotted: 0.325 vs 0.3405, 0.198 vs 0.193, 0.141 vs 0.135. Remember a finite simulation can estimate but never prove an infinite-time statement.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relative error of the MSD estimate falls with a log-log slope of about -0.49, the 1/sqrt(N) law of Monte Carlo. Middle: distinct sites visited. In 1D the walk keeps revisiting, S_n ~ sqrt(8n/pi); in d &gt;= 3 it is transient, so S_n is linear with slope equal to the escape probability 1 - F_d, matching to within about 1%. Right: adding a bias p = 0.55 shifts the distribution by n(2p-1)/d = 200 while the width stays about sqrt(n): drift grows like n, diffusion only like sqrt(n).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all five predictions were reproduced quantitatively, each within Monte Carlo error. Limitations: finite horizons, statistical noise, projections for high dimensions, and asymptotic approximations. Natural extensions are self-avoiding walks, Levy flights with anomalous scaling, and walks on networks.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5760720" y="91440"/>
            <a:ext cx="6583680" cy="6583680"/>
          </a:xfrm>
          <a:prstGeom prst="ellipse">
            <a:avLst/>
          </a:prstGeom>
          <a:solidFill>
            <a:srgbClr val="22D3EE">
              <a:alpha val="10000"/>
            </a:srgbClr>
          </a:solidFill>
          <a:ln>
            <a:noFill/>
          </a:ln>
          <a:effectLst>
            <a:softEdge rad="312724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509760" y="-1828800"/>
            <a:ext cx="4389120" cy="4389120"/>
          </a:xfrm>
          <a:prstGeom prst="ellipse">
            <a:avLst/>
          </a:prstGeom>
          <a:solidFill>
            <a:srgbClr val="818CF8">
              <a:alpha val="20000"/>
            </a:srgbClr>
          </a:solidFill>
          <a:ln>
            <a:noFill/>
          </a:ln>
          <a:effectLst>
            <a:softEdge rad="2084831"/>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2194560" y="4663440"/>
            <a:ext cx="4389120" cy="4389120"/>
          </a:xfrm>
          <a:prstGeom prst="ellipse">
            <a:avLst/>
          </a:prstGeom>
          <a:solidFill>
            <a:srgbClr val="F472B6">
              <a:alpha val="8000"/>
            </a:srgbClr>
          </a:solidFill>
          <a:ln>
            <a:noFill/>
          </a:ln>
          <a:effectLst>
            <a:softEdge rad="2084831"/>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hero_walks.png"/>
          <p:cNvPicPr>
            <a:picLocks noChangeAspect="1"/>
          </p:cNvPicPr>
          <p:nvPr/>
        </p:nvPicPr>
        <p:blipFill>
          <a:blip r:embed="rId2"/>
          <a:stretch>
            <a:fillRect/>
          </a:stretch>
        </p:blipFill>
        <p:spPr>
          <a:xfrm>
            <a:off x="6172200" y="502919"/>
            <a:ext cx="5852160" cy="5852160"/>
          </a:xfrm>
          <a:prstGeom prst="rect">
            <a:avLst/>
          </a:prstGeom>
        </p:spPr>
      </p:pic>
      <p:sp>
        <p:nvSpPr>
          <p:cNvPr id="6" name="Rounded Rectangle 5"/>
          <p:cNvSpPr/>
          <p:nvPr/>
        </p:nvSpPr>
        <p:spPr>
          <a:xfrm>
            <a:off x="685800" y="960120"/>
            <a:ext cx="4875580"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960120"/>
            <a:ext cx="4875580"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IDC612   ·   COURSE PROJECT   ·   IIT KANPUR</a:t>
            </a:r>
          </a:p>
        </p:txBody>
      </p:sp>
      <p:sp>
        <p:nvSpPr>
          <p:cNvPr id="8" name="TextBox 7"/>
          <p:cNvSpPr txBox="1"/>
          <p:nvPr/>
        </p:nvSpPr>
        <p:spPr>
          <a:xfrm>
            <a:off x="685800" y="1417320"/>
            <a:ext cx="5852160" cy="2011680"/>
          </a:xfrm>
          <a:prstGeom prst="rect">
            <a:avLst/>
          </a:prstGeom>
          <a:noFill/>
        </p:spPr>
        <p:txBody>
          <a:bodyPr wrap="square" lIns="0" rIns="0" tIns="0" bIns="0" anchor="t">
            <a:spAutoFit/>
          </a:bodyPr>
          <a:lstStyle/>
          <a:p>
            <a:pPr algn="l">
              <a:lnSpc>
                <a:spcPct val="90000"/>
              </a:lnSpc>
              <a:spcAft>
                <a:spcPts val="0"/>
              </a:spcAft>
            </a:pPr>
            <a:r>
              <a:rPr sz="5600" b="0" i="0">
                <a:solidFill>
                  <a:srgbClr val="E6E9F5"/>
                </a:solidFill>
                <a:latin typeface="Segoe UI Semibold"/>
                <a:cs typeface="Segoe UI Semibold"/>
              </a:rPr>
              <a:t>Random Walk</a:t>
            </a:r>
          </a:p>
          <a:p>
            <a:pPr algn="l">
              <a:lnSpc>
                <a:spcPct val="90000"/>
              </a:lnSpc>
              <a:spcAft>
                <a:spcPts val="0"/>
              </a:spcAft>
            </a:pPr>
            <a:r>
              <a:rPr sz="5600" b="0" i="0">
                <a:solidFill>
                  <a:srgbClr val="22D3EE"/>
                </a:solidFill>
                <a:latin typeface="Segoe UI Semibold"/>
                <a:cs typeface="Segoe UI Semibold"/>
              </a:rPr>
              <a:t>Laboratory</a:t>
            </a:r>
          </a:p>
        </p:txBody>
      </p:sp>
      <p:sp>
        <p:nvSpPr>
          <p:cNvPr id="9" name="TextBox 8"/>
          <p:cNvSpPr txBox="1"/>
          <p:nvPr/>
        </p:nvSpPr>
        <p:spPr>
          <a:xfrm>
            <a:off x="685800" y="3310128"/>
            <a:ext cx="5394960" cy="1097280"/>
          </a:xfrm>
          <a:prstGeom prst="rect">
            <a:avLst/>
          </a:prstGeom>
          <a:noFill/>
        </p:spPr>
        <p:txBody>
          <a:bodyPr wrap="square" lIns="0" rIns="0" tIns="0" bIns="0" anchor="t">
            <a:spAutoFit/>
          </a:bodyPr>
          <a:lstStyle/>
          <a:p>
            <a:pPr algn="l">
              <a:lnSpc>
                <a:spcPct val="112000"/>
              </a:lnSpc>
              <a:spcAft>
                <a:spcPts val="0"/>
              </a:spcAft>
            </a:pPr>
            <a:r>
              <a:rPr sz="1600" b="0" i="0">
                <a:solidFill>
                  <a:srgbClr val="9AA3C7"/>
                </a:solidFill>
                <a:latin typeface="Segoe UI"/>
                <a:cs typeface="Segoe UI"/>
              </a:rPr>
              <a:t>How the </a:t>
            </a:r>
            <a:r>
              <a:rPr sz="1600" b="0" i="0">
                <a:solidFill>
                  <a:srgbClr val="E6E9F5"/>
                </a:solidFill>
                <a:latin typeface="Segoe UI Semibold"/>
                <a:cs typeface="Segoe UI Semibold"/>
              </a:rPr>
              <a:t>dimension of space</a:t>
            </a:r>
            <a:r>
              <a:rPr sz="1600" b="0" i="0">
                <a:solidFill>
                  <a:srgbClr val="9AA3C7"/>
                </a:solidFill>
                <a:latin typeface="Segoe UI"/>
                <a:cs typeface="Segoe UI"/>
              </a:rPr>
              <a:t> changes diffusion, probability distributions and recurrence — Monte Carlo simulation tested against exact theory for </a:t>
            </a:r>
            <a:r>
              <a:rPr sz="1600" b="0" i="0">
                <a:solidFill>
                  <a:srgbClr val="E6E9F5"/>
                </a:solidFill>
                <a:latin typeface="Cambria Math"/>
                <a:cs typeface="Cambria Math"/>
              </a:rPr>
              <a:t>d = 1, 2, 3, 4, 5</a:t>
            </a:r>
            <a:r>
              <a:rPr sz="1600" b="0" i="0">
                <a:solidFill>
                  <a:srgbClr val="9AA3C7"/>
                </a:solidFill>
                <a:latin typeface="Segoe UI"/>
                <a:cs typeface="Segoe UI"/>
              </a:rPr>
              <a:t>.</a:t>
            </a:r>
          </a:p>
        </p:txBody>
      </p:sp>
      <p:sp>
        <p:nvSpPr>
          <p:cNvPr id="10" name="Rounded Rectangle 9"/>
          <p:cNvSpPr/>
          <p:nvPr/>
        </p:nvSpPr>
        <p:spPr>
          <a:xfrm>
            <a:off x="685800" y="4572000"/>
            <a:ext cx="1344168" cy="384048"/>
          </a:xfrm>
          <a:prstGeom prst="roundRect">
            <a:avLst>
              <a:gd name="adj" fmla="val 50000"/>
            </a:avLst>
          </a:prstGeom>
          <a:solidFill>
            <a:srgbClr val="22D3EE">
              <a:alpha val="14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4572000"/>
            <a:ext cx="1344168" cy="384048"/>
          </a:xfrm>
          <a:prstGeom prst="rect">
            <a:avLst/>
          </a:prstGeom>
          <a:noFill/>
        </p:spPr>
        <p:txBody>
          <a:bodyPr wrap="square" lIns="0" rIns="0" tIns="0" bIns="0" anchor="ctr">
            <a:spAutoFit/>
          </a:bodyPr>
          <a:lstStyle/>
          <a:p>
            <a:pPr algn="ctr">
              <a:spcAft>
                <a:spcPts val="0"/>
              </a:spcAft>
            </a:pPr>
            <a:r>
              <a:rPr sz="1300" b="0" i="0">
                <a:solidFill>
                  <a:srgbClr val="E6E9F5"/>
                </a:solidFill>
                <a:latin typeface="Cambria Math"/>
                <a:cs typeface="Cambria Math"/>
              </a:rPr>
              <a:t>E|Xₙ|² = n</a:t>
            </a:r>
          </a:p>
        </p:txBody>
      </p:sp>
      <p:sp>
        <p:nvSpPr>
          <p:cNvPr id="12" name="Rounded Rectangle 11"/>
          <p:cNvSpPr/>
          <p:nvPr/>
        </p:nvSpPr>
        <p:spPr>
          <a:xfrm>
            <a:off x="2176272" y="4572000"/>
            <a:ext cx="864108" cy="384048"/>
          </a:xfrm>
          <a:prstGeom prst="roundRect">
            <a:avLst>
              <a:gd name="adj" fmla="val 50000"/>
            </a:avLst>
          </a:prstGeom>
          <a:solidFill>
            <a:srgbClr val="818CF8">
              <a:alpha val="14000"/>
            </a:srgbClr>
          </a:solidFill>
          <a:ln w="11430">
            <a:solidFill>
              <a:srgbClr val="818CF8">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176272" y="4572000"/>
            <a:ext cx="864108" cy="384048"/>
          </a:xfrm>
          <a:prstGeom prst="rect">
            <a:avLst/>
          </a:prstGeom>
          <a:noFill/>
        </p:spPr>
        <p:txBody>
          <a:bodyPr wrap="square" lIns="0" rIns="0" tIns="0" bIns="0" anchor="ctr">
            <a:spAutoFit/>
          </a:bodyPr>
          <a:lstStyle/>
          <a:p>
            <a:pPr algn="ctr">
              <a:spcAft>
                <a:spcPts val="0"/>
              </a:spcAft>
            </a:pPr>
            <a:r>
              <a:rPr sz="1300" b="0" i="0">
                <a:solidFill>
                  <a:srgbClr val="E6E9F5"/>
                </a:solidFill>
                <a:latin typeface="Cambria Math"/>
                <a:cs typeface="Cambria Math"/>
              </a:rPr>
              <a:t>α = ½</a:t>
            </a:r>
          </a:p>
        </p:txBody>
      </p:sp>
      <p:sp>
        <p:nvSpPr>
          <p:cNvPr id="14" name="Rounded Rectangle 13"/>
          <p:cNvSpPr/>
          <p:nvPr/>
        </p:nvSpPr>
        <p:spPr>
          <a:xfrm>
            <a:off x="3186684" y="4572000"/>
            <a:ext cx="1344168" cy="384048"/>
          </a:xfrm>
          <a:prstGeom prst="roundRect">
            <a:avLst>
              <a:gd name="adj" fmla="val 50000"/>
            </a:avLst>
          </a:prstGeom>
          <a:solidFill>
            <a:srgbClr val="F472B6">
              <a:alpha val="14000"/>
            </a:srgbClr>
          </a:solidFill>
          <a:ln w="11430">
            <a:solidFill>
              <a:srgbClr val="F472B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186684" y="4572000"/>
            <a:ext cx="1344168" cy="384048"/>
          </a:xfrm>
          <a:prstGeom prst="rect">
            <a:avLst/>
          </a:prstGeom>
          <a:noFill/>
        </p:spPr>
        <p:txBody>
          <a:bodyPr wrap="square" lIns="0" rIns="0" tIns="0" bIns="0" anchor="ctr">
            <a:spAutoFit/>
          </a:bodyPr>
          <a:lstStyle/>
          <a:p>
            <a:pPr algn="ctr">
              <a:spcAft>
                <a:spcPts val="0"/>
              </a:spcAft>
            </a:pPr>
            <a:r>
              <a:rPr sz="1300" b="0" i="0">
                <a:solidFill>
                  <a:srgbClr val="E6E9F5"/>
                </a:solidFill>
                <a:latin typeface="Cambria Math"/>
                <a:cs typeface="Cambria Math"/>
              </a:rPr>
              <a:t>Pólya 1921</a:t>
            </a:r>
          </a:p>
        </p:txBody>
      </p:sp>
      <p:sp>
        <p:nvSpPr>
          <p:cNvPr id="16" name="Rounded Rectangle 15"/>
          <p:cNvSpPr/>
          <p:nvPr/>
        </p:nvSpPr>
        <p:spPr>
          <a:xfrm>
            <a:off x="4677156" y="4572000"/>
            <a:ext cx="1536192" cy="384048"/>
          </a:xfrm>
          <a:prstGeom prst="roundRect">
            <a:avLst>
              <a:gd name="adj" fmla="val 50000"/>
            </a:avLst>
          </a:prstGeom>
          <a:solidFill>
            <a:srgbClr val="FBBF24">
              <a:alpha val="14000"/>
            </a:srgbClr>
          </a:solidFill>
          <a:ln w="11430">
            <a:solidFill>
              <a:srgbClr val="FBBF24">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77156" y="4572000"/>
            <a:ext cx="1536192" cy="384048"/>
          </a:xfrm>
          <a:prstGeom prst="rect">
            <a:avLst/>
          </a:prstGeom>
          <a:noFill/>
        </p:spPr>
        <p:txBody>
          <a:bodyPr wrap="square" lIns="0" rIns="0" tIns="0" bIns="0" anchor="ctr">
            <a:spAutoFit/>
          </a:bodyPr>
          <a:lstStyle/>
          <a:p>
            <a:pPr algn="ctr">
              <a:spcAft>
                <a:spcPts val="0"/>
              </a:spcAft>
            </a:pPr>
            <a:r>
              <a:rPr sz="1300" b="0" i="0">
                <a:solidFill>
                  <a:srgbClr val="E6E9F5"/>
                </a:solidFill>
                <a:latin typeface="Cambria Math"/>
                <a:cs typeface="Cambria Math"/>
              </a:rPr>
              <a:t>error ∝ 1/√N</a:t>
            </a:r>
          </a:p>
        </p:txBody>
      </p:sp>
      <p:sp>
        <p:nvSpPr>
          <p:cNvPr id="18" name="Rounded Rectangle 17"/>
          <p:cNvSpPr/>
          <p:nvPr/>
        </p:nvSpPr>
        <p:spPr>
          <a:xfrm>
            <a:off x="685800" y="5440680"/>
            <a:ext cx="45720" cy="658368"/>
          </a:xfrm>
          <a:prstGeom prst="roundRect">
            <a:avLst>
              <a:gd name="adj" fmla="val 4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6112" y="5413248"/>
            <a:ext cx="5029200" cy="731520"/>
          </a:xfrm>
          <a:prstGeom prst="rect">
            <a:avLst/>
          </a:prstGeom>
          <a:noFill/>
        </p:spPr>
        <p:txBody>
          <a:bodyPr wrap="square" lIns="0" rIns="0" tIns="0" bIns="0" anchor="t">
            <a:spAutoFit/>
          </a:bodyPr>
          <a:lstStyle/>
          <a:p>
            <a:pPr algn="l">
              <a:spcAft>
                <a:spcPts val="200"/>
              </a:spcAft>
            </a:pPr>
            <a:r>
              <a:rPr sz="1700" b="0" i="0">
                <a:solidFill>
                  <a:srgbClr val="E6E9F5"/>
                </a:solidFill>
                <a:latin typeface="Segoe UI Semibold"/>
                <a:cs typeface="Segoe UI Semibold"/>
              </a:rPr>
              <a:t>Subhankar</a:t>
            </a:r>
          </a:p>
          <a:p>
            <a:pPr algn="l">
              <a:spcAft>
                <a:spcPts val="0"/>
              </a:spcAft>
            </a:pPr>
            <a:r>
              <a:rPr sz="1200" b="0" i="0">
                <a:solidFill>
                  <a:srgbClr val="9AA3C7"/>
                </a:solidFill>
                <a:latin typeface="Segoe UI"/>
                <a:cs typeface="Segoe UI"/>
              </a:rPr>
              <a:t>Indian Institute of Technology Kanpur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085746"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085746"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01  ·  MOTIVATION</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Why random walks — and what we set out to test</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02</a:t>
            </a:r>
            <a:r>
              <a:rPr sz="900" b="0" i="0">
                <a:solidFill>
                  <a:srgbClr val="5B6690"/>
                </a:solidFill>
                <a:latin typeface="Segoe UI Semibold"/>
                <a:cs typeface="Segoe UI Semibold"/>
              </a:rPr>
              <a:t>  /  10</a:t>
            </a:r>
          </a:p>
        </p:txBody>
      </p:sp>
      <p:sp>
        <p:nvSpPr>
          <p:cNvPr id="12" name="Rounded Rectangle 11"/>
          <p:cNvSpPr/>
          <p:nvPr/>
        </p:nvSpPr>
        <p:spPr>
          <a:xfrm>
            <a:off x="548640" y="1554480"/>
            <a:ext cx="5074920" cy="4709160"/>
          </a:xfrm>
          <a:prstGeom prst="roundRect">
            <a:avLst>
              <a:gd name="adj" fmla="val 2718"/>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77240" y="1773936"/>
            <a:ext cx="54864" cy="23774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1709928"/>
            <a:ext cx="4526280"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Where random walks appear</a:t>
            </a:r>
          </a:p>
        </p:txBody>
      </p:sp>
      <p:sp>
        <p:nvSpPr>
          <p:cNvPr id="15" name="Oval 14"/>
          <p:cNvSpPr/>
          <p:nvPr/>
        </p:nvSpPr>
        <p:spPr>
          <a:xfrm>
            <a:off x="804672" y="2157984"/>
            <a:ext cx="457200" cy="457200"/>
          </a:xfrm>
          <a:prstGeom prst="ellipse">
            <a:avLst/>
          </a:prstGeom>
          <a:solidFill>
            <a:srgbClr val="22D3EE">
              <a:alpha val="14000"/>
            </a:srgbClr>
          </a:solidFill>
          <a:ln w="11430">
            <a:solidFill>
              <a:srgbClr val="22D3EE">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 y="2157984"/>
            <a:ext cx="457200" cy="457200"/>
          </a:xfrm>
          <a:prstGeom prst="rect">
            <a:avLst/>
          </a:prstGeom>
          <a:noFill/>
        </p:spPr>
        <p:txBody>
          <a:bodyPr wrap="square" lIns="0" rIns="0" tIns="0" bIns="0" anchor="ctr">
            <a:spAutoFit/>
          </a:bodyPr>
          <a:lstStyle/>
          <a:p>
            <a:pPr algn="ctr">
              <a:spcAft>
                <a:spcPts val="0"/>
              </a:spcAft>
            </a:pPr>
            <a:r>
              <a:rPr sz="1500" b="0" i="0">
                <a:solidFill>
                  <a:srgbClr val="22D3EE"/>
                </a:solidFill>
                <a:latin typeface="Cambria Math"/>
                <a:cs typeface="Cambria Math"/>
              </a:rPr>
              <a:t>◉</a:t>
            </a:r>
          </a:p>
        </p:txBody>
      </p:sp>
      <p:sp>
        <p:nvSpPr>
          <p:cNvPr id="17" name="TextBox 16"/>
          <p:cNvSpPr txBox="1"/>
          <p:nvPr/>
        </p:nvSpPr>
        <p:spPr>
          <a:xfrm>
            <a:off x="1463040" y="2103120"/>
            <a:ext cx="402336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Brownian motion</a:t>
            </a:r>
          </a:p>
        </p:txBody>
      </p:sp>
      <p:sp>
        <p:nvSpPr>
          <p:cNvPr id="18" name="TextBox 17"/>
          <p:cNvSpPr txBox="1"/>
          <p:nvPr/>
        </p:nvSpPr>
        <p:spPr>
          <a:xfrm>
            <a:off x="1463040" y="2386584"/>
            <a:ext cx="4023360" cy="457200"/>
          </a:xfrm>
          <a:prstGeom prst="rect">
            <a:avLst/>
          </a:prstGeom>
          <a:noFill/>
        </p:spPr>
        <p:txBody>
          <a:bodyPr wrap="square" lIns="0" rIns="0" tIns="0" bIns="0" anchor="t">
            <a:spAutoFit/>
          </a:bodyPr>
          <a:lstStyle/>
          <a:p>
            <a:pPr algn="l">
              <a:spcAft>
                <a:spcPts val="0"/>
              </a:spcAft>
            </a:pPr>
            <a:r>
              <a:rPr sz="1150" b="0" i="0">
                <a:solidFill>
                  <a:srgbClr val="9AA3C7"/>
                </a:solidFill>
                <a:latin typeface="Segoe UI"/>
                <a:cs typeface="Segoe UI"/>
              </a:rPr>
              <a:t>Einstein (1905): pollen diffuses with </a:t>
            </a:r>
            <a:r>
              <a:rPr sz="1150" b="0" i="0">
                <a:solidFill>
                  <a:srgbClr val="9AA3C7"/>
                </a:solidFill>
                <a:latin typeface="Cambria Math"/>
                <a:cs typeface="Cambria Math"/>
              </a:rPr>
              <a:t>⟨x²⟩ = 2Dt</a:t>
            </a:r>
          </a:p>
        </p:txBody>
      </p:sp>
      <p:sp>
        <p:nvSpPr>
          <p:cNvPr id="19" name="Oval 18"/>
          <p:cNvSpPr/>
          <p:nvPr/>
        </p:nvSpPr>
        <p:spPr>
          <a:xfrm>
            <a:off x="804672" y="2944368"/>
            <a:ext cx="457200" cy="457200"/>
          </a:xfrm>
          <a:prstGeom prst="ellipse">
            <a:avLst/>
          </a:prstGeom>
          <a:solidFill>
            <a:srgbClr val="818CF8">
              <a:alpha val="14000"/>
            </a:srgbClr>
          </a:solidFill>
          <a:ln w="11430">
            <a:solidFill>
              <a:srgbClr val="818CF8">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 y="2944368"/>
            <a:ext cx="457200" cy="457200"/>
          </a:xfrm>
          <a:prstGeom prst="rect">
            <a:avLst/>
          </a:prstGeom>
          <a:noFill/>
        </p:spPr>
        <p:txBody>
          <a:bodyPr wrap="square" lIns="0" rIns="0" tIns="0" bIns="0" anchor="ctr">
            <a:spAutoFit/>
          </a:bodyPr>
          <a:lstStyle/>
          <a:p>
            <a:pPr algn="ctr">
              <a:spcAft>
                <a:spcPts val="0"/>
              </a:spcAft>
            </a:pPr>
            <a:r>
              <a:rPr sz="1500" b="0" i="0">
                <a:solidFill>
                  <a:srgbClr val="818CF8"/>
                </a:solidFill>
                <a:latin typeface="Cambria Math"/>
                <a:cs typeface="Cambria Math"/>
              </a:rPr>
              <a:t>∿</a:t>
            </a:r>
          </a:p>
        </p:txBody>
      </p:sp>
      <p:sp>
        <p:nvSpPr>
          <p:cNvPr id="21" name="TextBox 20"/>
          <p:cNvSpPr txBox="1"/>
          <p:nvPr/>
        </p:nvSpPr>
        <p:spPr>
          <a:xfrm>
            <a:off x="1463040" y="2889503"/>
            <a:ext cx="402336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Polymer physics</a:t>
            </a:r>
          </a:p>
        </p:txBody>
      </p:sp>
      <p:sp>
        <p:nvSpPr>
          <p:cNvPr id="22" name="TextBox 21"/>
          <p:cNvSpPr txBox="1"/>
          <p:nvPr/>
        </p:nvSpPr>
        <p:spPr>
          <a:xfrm>
            <a:off x="1463040" y="3172968"/>
            <a:ext cx="4023360" cy="457200"/>
          </a:xfrm>
          <a:prstGeom prst="rect">
            <a:avLst/>
          </a:prstGeom>
          <a:noFill/>
        </p:spPr>
        <p:txBody>
          <a:bodyPr wrap="square" lIns="0" rIns="0" tIns="0" bIns="0" anchor="t">
            <a:spAutoFit/>
          </a:bodyPr>
          <a:lstStyle/>
          <a:p>
            <a:pPr algn="l">
              <a:spcAft>
                <a:spcPts val="0"/>
              </a:spcAft>
            </a:pPr>
            <a:r>
              <a:rPr sz="1150" b="0" i="0">
                <a:solidFill>
                  <a:srgbClr val="9AA3C7"/>
                </a:solidFill>
                <a:latin typeface="Segoe UI"/>
                <a:cs typeface="Segoe UI"/>
              </a:rPr>
              <a:t>Ideal chain: end-to-end size </a:t>
            </a:r>
            <a:r>
              <a:rPr sz="1150" b="0" i="0">
                <a:solidFill>
                  <a:srgbClr val="9AA3C7"/>
                </a:solidFill>
                <a:latin typeface="Cambria Math"/>
                <a:cs typeface="Cambria Math"/>
              </a:rPr>
              <a:t>R ∼ N^½</a:t>
            </a:r>
          </a:p>
        </p:txBody>
      </p:sp>
      <p:sp>
        <p:nvSpPr>
          <p:cNvPr id="23" name="Oval 22"/>
          <p:cNvSpPr/>
          <p:nvPr/>
        </p:nvSpPr>
        <p:spPr>
          <a:xfrm>
            <a:off x="804672" y="3730752"/>
            <a:ext cx="457200" cy="457200"/>
          </a:xfrm>
          <a:prstGeom prst="ellipse">
            <a:avLst/>
          </a:prstGeom>
          <a:solidFill>
            <a:srgbClr val="F472B6">
              <a:alpha val="14000"/>
            </a:srgbClr>
          </a:solidFill>
          <a:ln w="11430">
            <a:solidFill>
              <a:srgbClr val="F472B6">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 y="3730752"/>
            <a:ext cx="457200" cy="457200"/>
          </a:xfrm>
          <a:prstGeom prst="rect">
            <a:avLst/>
          </a:prstGeom>
          <a:noFill/>
        </p:spPr>
        <p:txBody>
          <a:bodyPr wrap="square" lIns="0" rIns="0" tIns="0" bIns="0" anchor="ctr">
            <a:spAutoFit/>
          </a:bodyPr>
          <a:lstStyle/>
          <a:p>
            <a:pPr algn="ctr">
              <a:spcAft>
                <a:spcPts val="0"/>
              </a:spcAft>
            </a:pPr>
            <a:r>
              <a:rPr sz="1500" b="0" i="0">
                <a:solidFill>
                  <a:srgbClr val="F472B6"/>
                </a:solidFill>
                <a:latin typeface="Cambria Math"/>
                <a:cs typeface="Cambria Math"/>
              </a:rPr>
              <a:t>∇</a:t>
            </a:r>
          </a:p>
        </p:txBody>
      </p:sp>
      <p:sp>
        <p:nvSpPr>
          <p:cNvPr id="25" name="TextBox 24"/>
          <p:cNvSpPr txBox="1"/>
          <p:nvPr/>
        </p:nvSpPr>
        <p:spPr>
          <a:xfrm>
            <a:off x="1463040" y="3675888"/>
            <a:ext cx="402336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Diffusion &amp; heat</a:t>
            </a:r>
          </a:p>
        </p:txBody>
      </p:sp>
      <p:sp>
        <p:nvSpPr>
          <p:cNvPr id="26" name="TextBox 25"/>
          <p:cNvSpPr txBox="1"/>
          <p:nvPr/>
        </p:nvSpPr>
        <p:spPr>
          <a:xfrm>
            <a:off x="1463040" y="3959352"/>
            <a:ext cx="4023360" cy="457200"/>
          </a:xfrm>
          <a:prstGeom prst="rect">
            <a:avLst/>
          </a:prstGeom>
          <a:noFill/>
        </p:spPr>
        <p:txBody>
          <a:bodyPr wrap="square" lIns="0" rIns="0" tIns="0" bIns="0" anchor="t">
            <a:spAutoFit/>
          </a:bodyPr>
          <a:lstStyle/>
          <a:p>
            <a:pPr algn="l">
              <a:spcAft>
                <a:spcPts val="0"/>
              </a:spcAft>
            </a:pPr>
            <a:r>
              <a:rPr sz="1150" b="0" i="0">
                <a:solidFill>
                  <a:srgbClr val="9AA3C7"/>
                </a:solidFill>
                <a:latin typeface="Segoe UI"/>
                <a:cs typeface="Segoe UI"/>
              </a:rPr>
              <a:t>Continuum limit is the heat equation </a:t>
            </a:r>
            <a:r>
              <a:rPr sz="1150" b="0" i="0">
                <a:solidFill>
                  <a:srgbClr val="9AA3C7"/>
                </a:solidFill>
                <a:latin typeface="Cambria Math"/>
                <a:cs typeface="Cambria Math"/>
              </a:rPr>
              <a:t>∂ₜρ = D∇²ρ</a:t>
            </a:r>
          </a:p>
        </p:txBody>
      </p:sp>
      <p:sp>
        <p:nvSpPr>
          <p:cNvPr id="27" name="Oval 26"/>
          <p:cNvSpPr/>
          <p:nvPr/>
        </p:nvSpPr>
        <p:spPr>
          <a:xfrm>
            <a:off x="804672" y="4517136"/>
            <a:ext cx="457200" cy="457200"/>
          </a:xfrm>
          <a:prstGeom prst="ellipse">
            <a:avLst/>
          </a:prstGeom>
          <a:solidFill>
            <a:srgbClr val="FBBF24">
              <a:alpha val="14000"/>
            </a:srgbClr>
          </a:solidFill>
          <a:ln w="11430">
            <a:solidFill>
              <a:srgbClr val="FBBF24">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4672" y="4517136"/>
            <a:ext cx="457200" cy="457200"/>
          </a:xfrm>
          <a:prstGeom prst="rect">
            <a:avLst/>
          </a:prstGeom>
          <a:noFill/>
        </p:spPr>
        <p:txBody>
          <a:bodyPr wrap="square" lIns="0" rIns="0" tIns="0" bIns="0" anchor="ctr">
            <a:spAutoFit/>
          </a:bodyPr>
          <a:lstStyle/>
          <a:p>
            <a:pPr algn="ctr">
              <a:spcAft>
                <a:spcPts val="0"/>
              </a:spcAft>
            </a:pPr>
            <a:r>
              <a:rPr sz="1500" b="0" i="0">
                <a:solidFill>
                  <a:srgbClr val="FBBF24"/>
                </a:solidFill>
                <a:latin typeface="Cambria Math"/>
                <a:cs typeface="Cambria Math"/>
              </a:rPr>
              <a:t>↗</a:t>
            </a:r>
          </a:p>
        </p:txBody>
      </p:sp>
      <p:sp>
        <p:nvSpPr>
          <p:cNvPr id="29" name="TextBox 28"/>
          <p:cNvSpPr txBox="1"/>
          <p:nvPr/>
        </p:nvSpPr>
        <p:spPr>
          <a:xfrm>
            <a:off x="1463040" y="4462272"/>
            <a:ext cx="402336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Finance</a:t>
            </a:r>
          </a:p>
        </p:txBody>
      </p:sp>
      <p:sp>
        <p:nvSpPr>
          <p:cNvPr id="30" name="TextBox 29"/>
          <p:cNvSpPr txBox="1"/>
          <p:nvPr/>
        </p:nvSpPr>
        <p:spPr>
          <a:xfrm>
            <a:off x="1463040" y="4745736"/>
            <a:ext cx="4023360" cy="457200"/>
          </a:xfrm>
          <a:prstGeom prst="rect">
            <a:avLst/>
          </a:prstGeom>
          <a:noFill/>
        </p:spPr>
        <p:txBody>
          <a:bodyPr wrap="square" lIns="0" rIns="0" tIns="0" bIns="0" anchor="t">
            <a:spAutoFit/>
          </a:bodyPr>
          <a:lstStyle/>
          <a:p>
            <a:pPr algn="l">
              <a:spcAft>
                <a:spcPts val="0"/>
              </a:spcAft>
            </a:pPr>
            <a:r>
              <a:rPr sz="1150" b="0" i="0">
                <a:solidFill>
                  <a:srgbClr val="9AA3C7"/>
                </a:solidFill>
                <a:latin typeface="Segoe UI"/>
                <a:cs typeface="Segoe UI"/>
              </a:rPr>
              <a:t>Bachelier (1900): asset prices as random walks</a:t>
            </a:r>
          </a:p>
        </p:txBody>
      </p:sp>
      <p:sp>
        <p:nvSpPr>
          <p:cNvPr id="31" name="Oval 30"/>
          <p:cNvSpPr/>
          <p:nvPr/>
        </p:nvSpPr>
        <p:spPr>
          <a:xfrm>
            <a:off x="804672" y="5303520"/>
            <a:ext cx="457200" cy="457200"/>
          </a:xfrm>
          <a:prstGeom prst="ellipse">
            <a:avLst/>
          </a:prstGeom>
          <a:solidFill>
            <a:srgbClr val="34D399">
              <a:alpha val="14000"/>
            </a:srgbClr>
          </a:solidFill>
          <a:ln w="11430">
            <a:solidFill>
              <a:srgbClr val="34D399">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4672" y="5303520"/>
            <a:ext cx="457200" cy="457200"/>
          </a:xfrm>
          <a:prstGeom prst="rect">
            <a:avLst/>
          </a:prstGeom>
          <a:noFill/>
        </p:spPr>
        <p:txBody>
          <a:bodyPr wrap="square" lIns="0" rIns="0" tIns="0" bIns="0" anchor="ctr">
            <a:spAutoFit/>
          </a:bodyPr>
          <a:lstStyle/>
          <a:p>
            <a:pPr algn="ctr">
              <a:spcAft>
                <a:spcPts val="0"/>
              </a:spcAft>
            </a:pPr>
            <a:r>
              <a:rPr sz="1500" b="0" i="0">
                <a:solidFill>
                  <a:srgbClr val="34D399"/>
                </a:solidFill>
                <a:latin typeface="Cambria Math"/>
                <a:cs typeface="Cambria Math"/>
              </a:rPr>
              <a:t>⟳</a:t>
            </a:r>
          </a:p>
        </p:txBody>
      </p:sp>
      <p:sp>
        <p:nvSpPr>
          <p:cNvPr id="33" name="TextBox 32"/>
          <p:cNvSpPr txBox="1"/>
          <p:nvPr/>
        </p:nvSpPr>
        <p:spPr>
          <a:xfrm>
            <a:off x="1463040" y="5248656"/>
            <a:ext cx="402336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Algorithms</a:t>
            </a:r>
          </a:p>
        </p:txBody>
      </p:sp>
      <p:sp>
        <p:nvSpPr>
          <p:cNvPr id="34" name="TextBox 33"/>
          <p:cNvSpPr txBox="1"/>
          <p:nvPr/>
        </p:nvSpPr>
        <p:spPr>
          <a:xfrm>
            <a:off x="1463040" y="5532120"/>
            <a:ext cx="4023360" cy="457200"/>
          </a:xfrm>
          <a:prstGeom prst="rect">
            <a:avLst/>
          </a:prstGeom>
          <a:noFill/>
        </p:spPr>
        <p:txBody>
          <a:bodyPr wrap="square" lIns="0" rIns="0" tIns="0" bIns="0" anchor="t">
            <a:spAutoFit/>
          </a:bodyPr>
          <a:lstStyle/>
          <a:p>
            <a:pPr algn="l">
              <a:spcAft>
                <a:spcPts val="0"/>
              </a:spcAft>
            </a:pPr>
            <a:r>
              <a:rPr sz="1150" b="0" i="0">
                <a:solidFill>
                  <a:srgbClr val="9AA3C7"/>
                </a:solidFill>
                <a:latin typeface="Segoe UI"/>
                <a:cs typeface="Segoe UI"/>
              </a:rPr>
              <a:t>Markov-chain Monte Carlo, PageRank, randomized search</a:t>
            </a:r>
          </a:p>
        </p:txBody>
      </p:sp>
      <p:sp>
        <p:nvSpPr>
          <p:cNvPr id="35" name="Rounded Rectangle 34"/>
          <p:cNvSpPr/>
          <p:nvPr/>
        </p:nvSpPr>
        <p:spPr>
          <a:xfrm>
            <a:off x="5806440" y="1554480"/>
            <a:ext cx="5833872" cy="1810512"/>
          </a:xfrm>
          <a:prstGeom prst="roundRect">
            <a:avLst>
              <a:gd name="adj" fmla="val 7070"/>
            </a:avLst>
          </a:prstGeom>
          <a:solidFill>
            <a:srgbClr val="121C3D"/>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080760" y="1737360"/>
            <a:ext cx="5394960" cy="274320"/>
          </a:xfrm>
          <a:prstGeom prst="rect">
            <a:avLst/>
          </a:prstGeom>
          <a:noFill/>
        </p:spPr>
        <p:txBody>
          <a:bodyPr wrap="square" lIns="0" rIns="0" tIns="0" bIns="0" anchor="t">
            <a:spAutoFit/>
          </a:bodyPr>
          <a:lstStyle/>
          <a:p>
            <a:pPr algn="l">
              <a:spcAft>
                <a:spcPts val="0"/>
              </a:spcAft>
            </a:pPr>
            <a:r>
              <a:rPr sz="1000" b="0" i="0" spc="200">
                <a:solidFill>
                  <a:srgbClr val="22D3EE"/>
                </a:solidFill>
                <a:latin typeface="Segoe UI Semibold"/>
                <a:cs typeface="Segoe UI Semibold"/>
              </a:rPr>
              <a:t>CENTRAL RESEARCH QUESTION</a:t>
            </a:r>
          </a:p>
        </p:txBody>
      </p:sp>
      <p:sp>
        <p:nvSpPr>
          <p:cNvPr id="37" name="TextBox 36"/>
          <p:cNvSpPr txBox="1"/>
          <p:nvPr/>
        </p:nvSpPr>
        <p:spPr>
          <a:xfrm>
            <a:off x="6080760" y="2057400"/>
            <a:ext cx="5349240" cy="1234440"/>
          </a:xfrm>
          <a:prstGeom prst="rect">
            <a:avLst/>
          </a:prstGeom>
          <a:noFill/>
        </p:spPr>
        <p:txBody>
          <a:bodyPr wrap="square" lIns="0" rIns="0" tIns="0" bIns="0" anchor="t">
            <a:spAutoFit/>
          </a:bodyPr>
          <a:lstStyle/>
          <a:p>
            <a:pPr algn="l">
              <a:lnSpc>
                <a:spcPct val="110000"/>
              </a:lnSpc>
              <a:spcAft>
                <a:spcPts val="0"/>
              </a:spcAft>
            </a:pPr>
            <a:r>
              <a:rPr sz="1750" b="0" i="0">
                <a:solidFill>
                  <a:srgbClr val="E6E9F5"/>
                </a:solidFill>
                <a:latin typeface="Segoe UI"/>
                <a:cs typeface="Segoe UI"/>
              </a:rPr>
              <a:t>How does the </a:t>
            </a:r>
            <a:r>
              <a:rPr sz="1750" b="0" i="0">
                <a:solidFill>
                  <a:srgbClr val="22D3EE"/>
                </a:solidFill>
                <a:latin typeface="Cambria Math"/>
                <a:cs typeface="Cambria Math"/>
              </a:rPr>
              <a:t>dimension d</a:t>
            </a:r>
            <a:r>
              <a:rPr sz="1750" b="0" i="0">
                <a:solidFill>
                  <a:srgbClr val="E6E9F5"/>
                </a:solidFill>
                <a:latin typeface="Segoe UI"/>
                <a:cs typeface="Segoe UI"/>
              </a:rPr>
              <a:t> of a lattice random walk change its </a:t>
            </a:r>
            <a:r>
              <a:rPr sz="1750" b="0" i="0">
                <a:solidFill>
                  <a:srgbClr val="E6E9F5"/>
                </a:solidFill>
                <a:latin typeface="Segoe UI Semibold"/>
                <a:cs typeface="Segoe UI Semibold"/>
              </a:rPr>
              <a:t>geometry</a:t>
            </a:r>
            <a:r>
              <a:rPr sz="1750" b="0" i="0">
                <a:solidFill>
                  <a:srgbClr val="E6E9F5"/>
                </a:solidFill>
                <a:latin typeface="Segoe UI"/>
                <a:cs typeface="Segoe UI"/>
              </a:rPr>
              <a:t>, its </a:t>
            </a:r>
            <a:r>
              <a:rPr sz="1750" b="0" i="0">
                <a:solidFill>
                  <a:srgbClr val="E6E9F5"/>
                </a:solidFill>
                <a:latin typeface="Segoe UI Semibold"/>
                <a:cs typeface="Segoe UI Semibold"/>
              </a:rPr>
              <a:t>statistics</a:t>
            </a:r>
            <a:r>
              <a:rPr sz="1750" b="0" i="0">
                <a:solidFill>
                  <a:srgbClr val="E6E9F5"/>
                </a:solidFill>
                <a:latin typeface="Segoe UI"/>
                <a:cs typeface="Segoe UI"/>
              </a:rPr>
              <a:t>, and its </a:t>
            </a:r>
            <a:r>
              <a:rPr sz="1750" b="0" i="0">
                <a:solidFill>
                  <a:srgbClr val="E6E9F5"/>
                </a:solidFill>
                <a:latin typeface="Segoe UI Semibold"/>
                <a:cs typeface="Segoe UI Semibold"/>
              </a:rPr>
              <a:t>agreement with exact mathematical theory</a:t>
            </a:r>
            <a:r>
              <a:rPr sz="1750" b="0" i="0">
                <a:solidFill>
                  <a:srgbClr val="E6E9F5"/>
                </a:solidFill>
                <a:latin typeface="Segoe UI"/>
                <a:cs typeface="Segoe UI"/>
              </a:rPr>
              <a:t>?</a:t>
            </a:r>
          </a:p>
        </p:txBody>
      </p:sp>
      <p:sp>
        <p:nvSpPr>
          <p:cNvPr id="38" name="Rounded Rectangle 37"/>
          <p:cNvSpPr/>
          <p:nvPr/>
        </p:nvSpPr>
        <p:spPr>
          <a:xfrm>
            <a:off x="5806440" y="3511296"/>
            <a:ext cx="2843784" cy="1325880"/>
          </a:xfrm>
          <a:prstGeom prst="roundRect">
            <a:avLst>
              <a:gd name="adj" fmla="val 9655"/>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035040" y="3657600"/>
            <a:ext cx="731520" cy="411480"/>
          </a:xfrm>
          <a:prstGeom prst="rect">
            <a:avLst/>
          </a:prstGeom>
          <a:noFill/>
        </p:spPr>
        <p:txBody>
          <a:bodyPr wrap="square" lIns="0" rIns="0" tIns="0" bIns="0" anchor="t">
            <a:spAutoFit/>
          </a:bodyPr>
          <a:lstStyle/>
          <a:p>
            <a:pPr algn="l">
              <a:spcAft>
                <a:spcPts val="0"/>
              </a:spcAft>
            </a:pPr>
            <a:r>
              <a:rPr sz="2200" b="0" i="0">
                <a:solidFill>
                  <a:srgbClr val="22D3EE"/>
                </a:solidFill>
                <a:latin typeface="Segoe UI Semibold"/>
                <a:cs typeface="Segoe UI Semibold"/>
              </a:rPr>
              <a:t>01</a:t>
            </a:r>
          </a:p>
        </p:txBody>
      </p:sp>
      <p:sp>
        <p:nvSpPr>
          <p:cNvPr id="40" name="TextBox 39"/>
          <p:cNvSpPr txBox="1"/>
          <p:nvPr/>
        </p:nvSpPr>
        <p:spPr>
          <a:xfrm>
            <a:off x="6675120" y="3739896"/>
            <a:ext cx="1920240" cy="320040"/>
          </a:xfrm>
          <a:prstGeom prst="rect">
            <a:avLst/>
          </a:prstGeom>
          <a:noFill/>
        </p:spPr>
        <p:txBody>
          <a:bodyPr wrap="square" lIns="0" rIns="0" tIns="0" bIns="0" anchor="t">
            <a:spAutoFit/>
          </a:bodyPr>
          <a:lstStyle/>
          <a:p>
            <a:pPr algn="l">
              <a:spcAft>
                <a:spcPts val="0"/>
              </a:spcAft>
            </a:pPr>
            <a:r>
              <a:rPr sz="1300" b="0" i="0">
                <a:solidFill>
                  <a:srgbClr val="E6E9F5"/>
                </a:solidFill>
                <a:latin typeface="Segoe UI Semibold"/>
                <a:cs typeface="Segoe UI Semibold"/>
              </a:rPr>
              <a:t>Exact second moment</a:t>
            </a:r>
          </a:p>
        </p:txBody>
      </p:sp>
      <p:sp>
        <p:nvSpPr>
          <p:cNvPr id="41" name="TextBox 40"/>
          <p:cNvSpPr txBox="1"/>
          <p:nvPr/>
        </p:nvSpPr>
        <p:spPr>
          <a:xfrm>
            <a:off x="6035040" y="4169663"/>
            <a:ext cx="2468880" cy="59436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Verify </a:t>
            </a:r>
            <a:r>
              <a:rPr sz="1150" b="0" i="0">
                <a:solidFill>
                  <a:srgbClr val="9AA3C7"/>
                </a:solidFill>
                <a:latin typeface="Cambria Math"/>
                <a:cs typeface="Cambria Math"/>
              </a:rPr>
              <a:t>E|Xₙ|² = n</a:t>
            </a:r>
            <a:r>
              <a:rPr sz="1150" b="0" i="0">
                <a:solidFill>
                  <a:srgbClr val="9AA3C7"/>
                </a:solidFill>
                <a:latin typeface="Segoe UI"/>
                <a:cs typeface="Segoe UI"/>
              </a:rPr>
              <a:t> in every dimension</a:t>
            </a:r>
          </a:p>
        </p:txBody>
      </p:sp>
      <p:sp>
        <p:nvSpPr>
          <p:cNvPr id="42" name="Rounded Rectangle 41"/>
          <p:cNvSpPr/>
          <p:nvPr/>
        </p:nvSpPr>
        <p:spPr>
          <a:xfrm>
            <a:off x="8796528" y="3511296"/>
            <a:ext cx="2843784" cy="1325880"/>
          </a:xfrm>
          <a:prstGeom prst="roundRect">
            <a:avLst>
              <a:gd name="adj" fmla="val 9655"/>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025128" y="3657600"/>
            <a:ext cx="731520" cy="411480"/>
          </a:xfrm>
          <a:prstGeom prst="rect">
            <a:avLst/>
          </a:prstGeom>
          <a:noFill/>
        </p:spPr>
        <p:txBody>
          <a:bodyPr wrap="square" lIns="0" rIns="0" tIns="0" bIns="0" anchor="t">
            <a:spAutoFit/>
          </a:bodyPr>
          <a:lstStyle/>
          <a:p>
            <a:pPr algn="l">
              <a:spcAft>
                <a:spcPts val="0"/>
              </a:spcAft>
            </a:pPr>
            <a:r>
              <a:rPr sz="2200" b="0" i="0">
                <a:solidFill>
                  <a:srgbClr val="818CF8"/>
                </a:solidFill>
                <a:latin typeface="Segoe UI Semibold"/>
                <a:cs typeface="Segoe UI Semibold"/>
              </a:rPr>
              <a:t>02</a:t>
            </a:r>
          </a:p>
        </p:txBody>
      </p:sp>
      <p:sp>
        <p:nvSpPr>
          <p:cNvPr id="44" name="TextBox 43"/>
          <p:cNvSpPr txBox="1"/>
          <p:nvPr/>
        </p:nvSpPr>
        <p:spPr>
          <a:xfrm>
            <a:off x="9665207" y="3739896"/>
            <a:ext cx="1920240" cy="320040"/>
          </a:xfrm>
          <a:prstGeom prst="rect">
            <a:avLst/>
          </a:prstGeom>
          <a:noFill/>
        </p:spPr>
        <p:txBody>
          <a:bodyPr wrap="square" lIns="0" rIns="0" tIns="0" bIns="0" anchor="t">
            <a:spAutoFit/>
          </a:bodyPr>
          <a:lstStyle/>
          <a:p>
            <a:pPr algn="l">
              <a:spcAft>
                <a:spcPts val="0"/>
              </a:spcAft>
            </a:pPr>
            <a:r>
              <a:rPr sz="1300" b="0" i="0">
                <a:solidFill>
                  <a:srgbClr val="E6E9F5"/>
                </a:solidFill>
                <a:latin typeface="Segoe UI Semibold"/>
                <a:cs typeface="Segoe UI Semibold"/>
              </a:rPr>
              <a:t>Diffusive scaling</a:t>
            </a:r>
          </a:p>
        </p:txBody>
      </p:sp>
      <p:sp>
        <p:nvSpPr>
          <p:cNvPr id="45" name="TextBox 44"/>
          <p:cNvSpPr txBox="1"/>
          <p:nvPr/>
        </p:nvSpPr>
        <p:spPr>
          <a:xfrm>
            <a:off x="9025128" y="4169663"/>
            <a:ext cx="2468880" cy="59436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Measure </a:t>
            </a:r>
            <a:r>
              <a:rPr sz="1150" b="0" i="0">
                <a:solidFill>
                  <a:srgbClr val="9AA3C7"/>
                </a:solidFill>
                <a:latin typeface="Cambria Math"/>
                <a:cs typeface="Cambria Math"/>
              </a:rPr>
              <a:t>α</a:t>
            </a:r>
            <a:r>
              <a:rPr sz="1150" b="0" i="0">
                <a:solidFill>
                  <a:srgbClr val="9AA3C7"/>
                </a:solidFill>
                <a:latin typeface="Segoe UI"/>
                <a:cs typeface="Segoe UI"/>
              </a:rPr>
              <a:t> in </a:t>
            </a:r>
            <a:r>
              <a:rPr sz="1150" b="0" i="0">
                <a:solidFill>
                  <a:srgbClr val="9AA3C7"/>
                </a:solidFill>
                <a:latin typeface="Cambria Math"/>
                <a:cs typeface="Cambria Math"/>
              </a:rPr>
              <a:t>R ∼ nᵅ</a:t>
            </a:r>
            <a:r>
              <a:rPr sz="1150" b="0" i="0">
                <a:solidFill>
                  <a:srgbClr val="9AA3C7"/>
                </a:solidFill>
                <a:latin typeface="Segoe UI"/>
                <a:cs typeface="Segoe UI"/>
              </a:rPr>
              <a:t>  (theory </a:t>
            </a:r>
            <a:r>
              <a:rPr sz="1150" b="0" i="0">
                <a:solidFill>
                  <a:srgbClr val="9AA3C7"/>
                </a:solidFill>
                <a:latin typeface="Cambria Math"/>
                <a:cs typeface="Cambria Math"/>
              </a:rPr>
              <a:t>½</a:t>
            </a:r>
            <a:r>
              <a:rPr sz="1150" b="0" i="0">
                <a:solidFill>
                  <a:srgbClr val="9AA3C7"/>
                </a:solidFill>
                <a:latin typeface="Segoe UI"/>
                <a:cs typeface="Segoe UI"/>
              </a:rPr>
              <a:t>)</a:t>
            </a:r>
          </a:p>
        </p:txBody>
      </p:sp>
      <p:sp>
        <p:nvSpPr>
          <p:cNvPr id="46" name="Rounded Rectangle 45"/>
          <p:cNvSpPr/>
          <p:nvPr/>
        </p:nvSpPr>
        <p:spPr>
          <a:xfrm>
            <a:off x="5806440" y="4983479"/>
            <a:ext cx="2843784" cy="1325880"/>
          </a:xfrm>
          <a:prstGeom prst="roundRect">
            <a:avLst>
              <a:gd name="adj" fmla="val 9655"/>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035040" y="5129783"/>
            <a:ext cx="731520" cy="411480"/>
          </a:xfrm>
          <a:prstGeom prst="rect">
            <a:avLst/>
          </a:prstGeom>
          <a:noFill/>
        </p:spPr>
        <p:txBody>
          <a:bodyPr wrap="square" lIns="0" rIns="0" tIns="0" bIns="0" anchor="t">
            <a:spAutoFit/>
          </a:bodyPr>
          <a:lstStyle/>
          <a:p>
            <a:pPr algn="l">
              <a:spcAft>
                <a:spcPts val="0"/>
              </a:spcAft>
            </a:pPr>
            <a:r>
              <a:rPr sz="2200" b="0" i="0">
                <a:solidFill>
                  <a:srgbClr val="F472B6"/>
                </a:solidFill>
                <a:latin typeface="Segoe UI Semibold"/>
                <a:cs typeface="Segoe UI Semibold"/>
              </a:rPr>
              <a:t>03</a:t>
            </a:r>
          </a:p>
        </p:txBody>
      </p:sp>
      <p:sp>
        <p:nvSpPr>
          <p:cNvPr id="48" name="TextBox 47"/>
          <p:cNvSpPr txBox="1"/>
          <p:nvPr/>
        </p:nvSpPr>
        <p:spPr>
          <a:xfrm>
            <a:off x="6675120" y="5212079"/>
            <a:ext cx="1920240" cy="320040"/>
          </a:xfrm>
          <a:prstGeom prst="rect">
            <a:avLst/>
          </a:prstGeom>
          <a:noFill/>
        </p:spPr>
        <p:txBody>
          <a:bodyPr wrap="square" lIns="0" rIns="0" tIns="0" bIns="0" anchor="t">
            <a:spAutoFit/>
          </a:bodyPr>
          <a:lstStyle/>
          <a:p>
            <a:pPr algn="l">
              <a:spcAft>
                <a:spcPts val="0"/>
              </a:spcAft>
            </a:pPr>
            <a:r>
              <a:rPr sz="1300" b="0" i="0">
                <a:solidFill>
                  <a:srgbClr val="E6E9F5"/>
                </a:solidFill>
                <a:latin typeface="Segoe UI Semibold"/>
                <a:cs typeface="Segoe UI Semibold"/>
              </a:rPr>
              <a:t>Recurrence vs transience</a:t>
            </a:r>
          </a:p>
        </p:txBody>
      </p:sp>
      <p:sp>
        <p:nvSpPr>
          <p:cNvPr id="49" name="TextBox 48"/>
          <p:cNvSpPr txBox="1"/>
          <p:nvPr/>
        </p:nvSpPr>
        <p:spPr>
          <a:xfrm>
            <a:off x="6035040" y="5641847"/>
            <a:ext cx="2468880" cy="59436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Observe Pólya's sharp transition at </a:t>
            </a:r>
            <a:r>
              <a:rPr sz="1150" b="0" i="0">
                <a:solidFill>
                  <a:srgbClr val="9AA3C7"/>
                </a:solidFill>
                <a:latin typeface="Cambria Math"/>
                <a:cs typeface="Cambria Math"/>
              </a:rPr>
              <a:t>d = 3</a:t>
            </a:r>
          </a:p>
        </p:txBody>
      </p:sp>
      <p:sp>
        <p:nvSpPr>
          <p:cNvPr id="50" name="Rounded Rectangle 49"/>
          <p:cNvSpPr/>
          <p:nvPr/>
        </p:nvSpPr>
        <p:spPr>
          <a:xfrm>
            <a:off x="8796528" y="4983479"/>
            <a:ext cx="2843784" cy="1325880"/>
          </a:xfrm>
          <a:prstGeom prst="roundRect">
            <a:avLst>
              <a:gd name="adj" fmla="val 9655"/>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025128" y="5129783"/>
            <a:ext cx="731520" cy="411480"/>
          </a:xfrm>
          <a:prstGeom prst="rect">
            <a:avLst/>
          </a:prstGeom>
          <a:noFill/>
        </p:spPr>
        <p:txBody>
          <a:bodyPr wrap="square" lIns="0" rIns="0" tIns="0" bIns="0" anchor="t">
            <a:spAutoFit/>
          </a:bodyPr>
          <a:lstStyle/>
          <a:p>
            <a:pPr algn="l">
              <a:spcAft>
                <a:spcPts val="0"/>
              </a:spcAft>
            </a:pPr>
            <a:r>
              <a:rPr sz="2200" b="0" i="0">
                <a:solidFill>
                  <a:srgbClr val="FBBF24"/>
                </a:solidFill>
                <a:latin typeface="Segoe UI Semibold"/>
                <a:cs typeface="Segoe UI Semibold"/>
              </a:rPr>
              <a:t>04</a:t>
            </a:r>
          </a:p>
        </p:txBody>
      </p:sp>
      <p:sp>
        <p:nvSpPr>
          <p:cNvPr id="52" name="TextBox 51"/>
          <p:cNvSpPr txBox="1"/>
          <p:nvPr/>
        </p:nvSpPr>
        <p:spPr>
          <a:xfrm>
            <a:off x="9665207" y="5212079"/>
            <a:ext cx="1920240" cy="320040"/>
          </a:xfrm>
          <a:prstGeom prst="rect">
            <a:avLst/>
          </a:prstGeom>
          <a:noFill/>
        </p:spPr>
        <p:txBody>
          <a:bodyPr wrap="square" lIns="0" rIns="0" tIns="0" bIns="0" anchor="t">
            <a:spAutoFit/>
          </a:bodyPr>
          <a:lstStyle/>
          <a:p>
            <a:pPr algn="l">
              <a:spcAft>
                <a:spcPts val="0"/>
              </a:spcAft>
            </a:pPr>
            <a:r>
              <a:rPr sz="1300" b="0" i="0">
                <a:solidFill>
                  <a:srgbClr val="E6E9F5"/>
                </a:solidFill>
                <a:latin typeface="Segoe UI Semibold"/>
                <a:cs typeface="Segoe UI Semibold"/>
              </a:rPr>
              <a:t>Monte Carlo accuracy</a:t>
            </a:r>
          </a:p>
        </p:txBody>
      </p:sp>
      <p:sp>
        <p:nvSpPr>
          <p:cNvPr id="53" name="TextBox 52"/>
          <p:cNvSpPr txBox="1"/>
          <p:nvPr/>
        </p:nvSpPr>
        <p:spPr>
          <a:xfrm>
            <a:off x="9025128" y="5641847"/>
            <a:ext cx="2468880" cy="59436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Show estimation error shrinks like </a:t>
            </a:r>
            <a:r>
              <a:rPr sz="1150" b="0" i="0">
                <a:solidFill>
                  <a:srgbClr val="9AA3C7"/>
                </a:solidFill>
                <a:latin typeface="Cambria Math"/>
                <a:cs typeface="Cambria Math"/>
              </a:rPr>
              <a:t>1/√N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912363"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912363"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02  ·  MATHEMATICAL MODEL</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The model: nearest-neighbour random walk on the lattice ℤᵈ</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03</a:t>
            </a:r>
            <a:r>
              <a:rPr sz="900" b="0" i="0">
                <a:solidFill>
                  <a:srgbClr val="5B6690"/>
                </a:solidFill>
                <a:latin typeface="Segoe UI Semibold"/>
                <a:cs typeface="Segoe UI Semibold"/>
              </a:rPr>
              <a:t>  /  10</a:t>
            </a:r>
          </a:p>
        </p:txBody>
      </p:sp>
      <p:sp>
        <p:nvSpPr>
          <p:cNvPr id="12" name="Rounded Rectangle 11"/>
          <p:cNvSpPr/>
          <p:nvPr/>
        </p:nvSpPr>
        <p:spPr>
          <a:xfrm>
            <a:off x="548640" y="1554480"/>
            <a:ext cx="5669280" cy="2450592"/>
          </a:xfrm>
          <a:prstGeom prst="roundRect">
            <a:avLst>
              <a:gd name="adj" fmla="val 522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77240" y="1773936"/>
            <a:ext cx="54864" cy="23774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1709928"/>
            <a:ext cx="5120640"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Definition</a:t>
            </a:r>
          </a:p>
        </p:txBody>
      </p:sp>
      <p:pic>
        <p:nvPicPr>
          <p:cNvPr id="15" name="Picture 14" descr="eq_model.png"/>
          <p:cNvPicPr>
            <a:picLocks noChangeAspect="1"/>
          </p:cNvPicPr>
          <p:nvPr/>
        </p:nvPicPr>
        <p:blipFill>
          <a:blip r:embed="rId2"/>
          <a:stretch>
            <a:fillRect/>
          </a:stretch>
        </p:blipFill>
        <p:spPr>
          <a:xfrm>
            <a:off x="804672" y="2057400"/>
            <a:ext cx="4309872" cy="529132"/>
          </a:xfrm>
          <a:prstGeom prst="rect">
            <a:avLst/>
          </a:prstGeom>
        </p:spPr>
      </p:pic>
      <p:pic>
        <p:nvPicPr>
          <p:cNvPr id="16" name="Picture 15" descr="eq_prob.png"/>
          <p:cNvPicPr>
            <a:picLocks noChangeAspect="1"/>
          </p:cNvPicPr>
          <p:nvPr/>
        </p:nvPicPr>
        <p:blipFill>
          <a:blip r:embed="rId3"/>
          <a:stretch>
            <a:fillRect/>
          </a:stretch>
        </p:blipFill>
        <p:spPr>
          <a:xfrm>
            <a:off x="804672" y="2542032"/>
            <a:ext cx="2517648" cy="358444"/>
          </a:xfrm>
          <a:prstGeom prst="rect">
            <a:avLst/>
          </a:prstGeom>
        </p:spPr>
      </p:pic>
      <p:sp>
        <p:nvSpPr>
          <p:cNvPr id="17" name="Rounded Rectangle 16"/>
          <p:cNvSpPr/>
          <p:nvPr/>
        </p:nvSpPr>
        <p:spPr>
          <a:xfrm>
            <a:off x="777240" y="3172968"/>
            <a:ext cx="5212080" cy="676656"/>
          </a:xfrm>
          <a:prstGeom prst="roundRect">
            <a:avLst>
              <a:gd name="adj" fmla="val 13513"/>
            </a:avLst>
          </a:prstGeom>
          <a:solidFill>
            <a:srgbClr val="22D3EE">
              <a:alpha val="9000"/>
            </a:srgbClr>
          </a:solidFill>
          <a:ln w="11430">
            <a:solidFill>
              <a:srgbClr val="22D3E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3218688"/>
            <a:ext cx="4937760" cy="603504"/>
          </a:xfrm>
          <a:prstGeom prst="rect">
            <a:avLst/>
          </a:prstGeom>
          <a:noFill/>
        </p:spPr>
        <p:txBody>
          <a:bodyPr wrap="square" lIns="0" rIns="0" tIns="0" bIns="0" anchor="ctr">
            <a:spAutoFit/>
          </a:bodyPr>
          <a:lstStyle/>
          <a:p>
            <a:pPr algn="l">
              <a:lnSpc>
                <a:spcPct val="105000"/>
              </a:lnSpc>
              <a:spcAft>
                <a:spcPts val="0"/>
              </a:spcAft>
            </a:pPr>
            <a:r>
              <a:rPr sz="1150" b="0" i="0">
                <a:solidFill>
                  <a:srgbClr val="22D3EE"/>
                </a:solidFill>
                <a:latin typeface="Segoe UI Semibold"/>
                <a:cs typeface="Segoe UI Semibold"/>
              </a:rPr>
              <a:t>Exactly one coordinate changes per step</a:t>
            </a:r>
            <a:r>
              <a:rPr sz="1150" b="0" i="0">
                <a:solidFill>
                  <a:srgbClr val="9AA3C7"/>
                </a:solidFill>
                <a:latin typeface="Segoe UI"/>
                <a:cs typeface="Segoe UI"/>
              </a:rPr>
              <a:t> → </a:t>
            </a:r>
            <a:r>
              <a:rPr sz="1150" b="0" i="0">
                <a:solidFill>
                  <a:srgbClr val="E6E9F5"/>
                </a:solidFill>
                <a:latin typeface="Cambria Math"/>
                <a:cs typeface="Cambria Math"/>
              </a:rPr>
              <a:t>2d</a:t>
            </a:r>
            <a:r>
              <a:rPr sz="1150" b="0" i="0">
                <a:solidFill>
                  <a:srgbClr val="E6E9F5"/>
                </a:solidFill>
                <a:latin typeface="Segoe UI"/>
                <a:cs typeface="Segoe UI"/>
              </a:rPr>
              <a:t> equally likely moves. Steps are independent and unbiased; the walker starts at the origin.</a:t>
            </a:r>
          </a:p>
        </p:txBody>
      </p:sp>
      <p:sp>
        <p:nvSpPr>
          <p:cNvPr id="19" name="Rounded Rectangle 18"/>
          <p:cNvSpPr/>
          <p:nvPr/>
        </p:nvSpPr>
        <p:spPr>
          <a:xfrm>
            <a:off x="6355080" y="1554480"/>
            <a:ext cx="5285232" cy="2450592"/>
          </a:xfrm>
          <a:prstGeom prst="roundRect">
            <a:avLst>
              <a:gd name="adj" fmla="val 522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583680" y="1773936"/>
            <a:ext cx="54864" cy="237744"/>
          </a:xfrm>
          <a:prstGeom prst="roundRect">
            <a:avLst>
              <a:gd name="adj" fmla="val 50000"/>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39128" y="1709928"/>
            <a:ext cx="4736592"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Possible moves from one lattice site</a:t>
            </a:r>
          </a:p>
        </p:txBody>
      </p:sp>
      <p:pic>
        <p:nvPicPr>
          <p:cNvPr id="22" name="Picture 21" descr="neighbours.png"/>
          <p:cNvPicPr>
            <a:picLocks noChangeAspect="1"/>
          </p:cNvPicPr>
          <p:nvPr/>
        </p:nvPicPr>
        <p:blipFill>
          <a:blip r:embed="rId4"/>
          <a:stretch>
            <a:fillRect/>
          </a:stretch>
        </p:blipFill>
        <p:spPr>
          <a:xfrm>
            <a:off x="6492240" y="2030607"/>
            <a:ext cx="5029200" cy="1882384"/>
          </a:xfrm>
          <a:prstGeom prst="rect">
            <a:avLst/>
          </a:prstGeom>
        </p:spPr>
      </p:pic>
      <p:sp>
        <p:nvSpPr>
          <p:cNvPr id="23" name="Rounded Rectangle 22"/>
          <p:cNvSpPr/>
          <p:nvPr/>
        </p:nvSpPr>
        <p:spPr>
          <a:xfrm>
            <a:off x="548640" y="4142232"/>
            <a:ext cx="11091672" cy="2130552"/>
          </a:xfrm>
          <a:prstGeom prst="roundRect">
            <a:avLst>
              <a:gd name="adj" fmla="val 6008"/>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777240" y="4361688"/>
            <a:ext cx="54864" cy="237744"/>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4297680"/>
            <a:ext cx="4114800"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Sample paths from our engine</a:t>
            </a:r>
          </a:p>
        </p:txBody>
      </p:sp>
      <p:sp>
        <p:nvSpPr>
          <p:cNvPr id="26" name="TextBox 25"/>
          <p:cNvSpPr txBox="1"/>
          <p:nvPr/>
        </p:nvSpPr>
        <p:spPr>
          <a:xfrm>
            <a:off x="804672" y="4754880"/>
            <a:ext cx="4343400" cy="1463040"/>
          </a:xfrm>
          <a:prstGeom prst="rect">
            <a:avLst/>
          </a:prstGeom>
          <a:noFill/>
        </p:spPr>
        <p:txBody>
          <a:bodyPr wrap="square" lIns="0" rIns="0" tIns="0" bIns="0" anchor="t">
            <a:spAutoFit/>
          </a:bodyPr>
          <a:lstStyle/>
          <a:p>
            <a:pPr algn="l">
              <a:lnSpc>
                <a:spcPct val="105000"/>
              </a:lnSpc>
              <a:spcAft>
                <a:spcPts val="500"/>
              </a:spcAft>
            </a:pPr>
            <a:r>
              <a:rPr sz="1150" b="0" i="0">
                <a:solidFill>
                  <a:srgbClr val="F472B6"/>
                </a:solidFill>
                <a:latin typeface="Segoe UI"/>
                <a:cs typeface="Segoe UI"/>
              </a:rPr>
              <a:t>▸  </a:t>
            </a:r>
            <a:r>
              <a:rPr sz="1150" b="0" i="0">
                <a:solidFill>
                  <a:srgbClr val="E6E9F5"/>
                </a:solidFill>
                <a:latin typeface="Segoe UI"/>
                <a:cs typeface="Segoe UI"/>
              </a:rPr>
              <a:t>Typical distance grows like </a:t>
            </a:r>
            <a:r>
              <a:rPr sz="1150" b="0" i="0">
                <a:solidFill>
                  <a:srgbClr val="E6E9F5"/>
                </a:solidFill>
                <a:latin typeface="Cambria Math"/>
                <a:cs typeface="Cambria Math"/>
              </a:rPr>
              <a:t>√n</a:t>
            </a:r>
            <a:r>
              <a:rPr sz="1150" b="0" i="0">
                <a:solidFill>
                  <a:srgbClr val="E6E9F5"/>
                </a:solidFill>
                <a:latin typeface="Segoe UI"/>
                <a:cs typeface="Segoe UI"/>
              </a:rPr>
              <a:t>, not </a:t>
            </a:r>
            <a:r>
              <a:rPr sz="1150" b="0" i="0">
                <a:solidFill>
                  <a:srgbClr val="E6E9F5"/>
                </a:solidFill>
                <a:latin typeface="Cambria Math"/>
                <a:cs typeface="Cambria Math"/>
              </a:rPr>
              <a:t>n</a:t>
            </a:r>
            <a:r>
              <a:rPr sz="1150" b="0" i="0">
                <a:solidFill>
                  <a:srgbClr val="E6E9F5"/>
                </a:solidFill>
                <a:latin typeface="Segoe UI"/>
                <a:cs typeface="Segoe UI"/>
              </a:rPr>
              <a:t> — the walk is diffusive</a:t>
            </a:r>
          </a:p>
          <a:p>
            <a:pPr algn="l">
              <a:lnSpc>
                <a:spcPct val="105000"/>
              </a:lnSpc>
              <a:spcAft>
                <a:spcPts val="500"/>
              </a:spcAft>
            </a:pPr>
            <a:r>
              <a:rPr sz="1150" b="0" i="0">
                <a:solidFill>
                  <a:srgbClr val="F472B6"/>
                </a:solidFill>
                <a:latin typeface="Segoe UI"/>
                <a:cs typeface="Segoe UI"/>
              </a:rPr>
              <a:t>▸  </a:t>
            </a:r>
            <a:r>
              <a:rPr sz="1150" b="0" i="0">
                <a:solidFill>
                  <a:srgbClr val="E6E9F5"/>
                </a:solidFill>
                <a:latin typeface="Segoe UI"/>
                <a:cs typeface="Segoe UI"/>
              </a:rPr>
              <a:t>Paths are statistically self-similar (fractal-like)</a:t>
            </a:r>
          </a:p>
          <a:p>
            <a:pPr algn="l">
              <a:lnSpc>
                <a:spcPct val="105000"/>
              </a:lnSpc>
              <a:spcAft>
                <a:spcPts val="500"/>
              </a:spcAft>
            </a:pPr>
            <a:r>
              <a:rPr sz="1150" b="0" i="0">
                <a:solidFill>
                  <a:srgbClr val="F472B6"/>
                </a:solidFill>
                <a:latin typeface="Segoe UI"/>
                <a:cs typeface="Segoe UI"/>
              </a:rPr>
              <a:t>▸  </a:t>
            </a:r>
            <a:r>
              <a:rPr sz="1150" b="0" i="0">
                <a:solidFill>
                  <a:srgbClr val="E6E9F5"/>
                </a:solidFill>
                <a:latin typeface="Segoe UI"/>
                <a:cs typeface="Segoe UI"/>
              </a:rPr>
              <a:t>Same rules for every </a:t>
            </a:r>
            <a:r>
              <a:rPr sz="1150" b="0" i="0">
                <a:solidFill>
                  <a:srgbClr val="E6E9F5"/>
                </a:solidFill>
                <a:latin typeface="Cambria Math"/>
                <a:cs typeface="Cambria Math"/>
              </a:rPr>
              <a:t>d</a:t>
            </a:r>
            <a:r>
              <a:rPr sz="1150" b="0" i="0">
                <a:solidFill>
                  <a:srgbClr val="E6E9F5"/>
                </a:solidFill>
                <a:latin typeface="Segoe UI"/>
                <a:cs typeface="Segoe UI"/>
              </a:rPr>
              <a:t>; 4D / 5D are inspected via 2-D projections</a:t>
            </a:r>
          </a:p>
        </p:txBody>
      </p:sp>
      <p:pic>
        <p:nvPicPr>
          <p:cNvPr id="27" name="Picture 26" descr="trajectories.png"/>
          <p:cNvPicPr>
            <a:picLocks noChangeAspect="1"/>
          </p:cNvPicPr>
          <p:nvPr/>
        </p:nvPicPr>
        <p:blipFill>
          <a:blip r:embed="rId5"/>
          <a:stretch>
            <a:fillRect/>
          </a:stretch>
        </p:blipFill>
        <p:spPr>
          <a:xfrm>
            <a:off x="5625686" y="4206240"/>
            <a:ext cx="5941473" cy="2011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292400"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292400"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03  ·  EXACT THEORY</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What theory predicts — derived directly from the model</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04</a:t>
            </a:r>
            <a:r>
              <a:rPr sz="900" b="0" i="0">
                <a:solidFill>
                  <a:srgbClr val="5B6690"/>
                </a:solidFill>
                <a:latin typeface="Segoe UI Semibold"/>
                <a:cs typeface="Segoe UI Semibold"/>
              </a:rPr>
              <a:t>  /  10</a:t>
            </a:r>
          </a:p>
        </p:txBody>
      </p:sp>
      <p:sp>
        <p:nvSpPr>
          <p:cNvPr id="12" name="Rounded Rectangle 11"/>
          <p:cNvSpPr/>
          <p:nvPr/>
        </p:nvSpPr>
        <p:spPr>
          <a:xfrm>
            <a:off x="548640" y="1554480"/>
            <a:ext cx="5989320" cy="1078992"/>
          </a:xfrm>
          <a:prstGeom prst="roundRect">
            <a:avLst>
              <a:gd name="adj" fmla="val 1186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49808" y="1737360"/>
            <a:ext cx="420624" cy="420624"/>
          </a:xfrm>
          <a:prstGeom prst="ellipse">
            <a:avLst/>
          </a:prstGeom>
          <a:solidFill>
            <a:srgbClr val="22D3EE">
              <a:alpha val="16000"/>
            </a:srgbClr>
          </a:solidFill>
          <a:ln w="12700">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1737360"/>
            <a:ext cx="420624" cy="420624"/>
          </a:xfrm>
          <a:prstGeom prst="rect">
            <a:avLst/>
          </a:prstGeom>
          <a:noFill/>
        </p:spPr>
        <p:txBody>
          <a:bodyPr wrap="square" lIns="0" rIns="0" tIns="0" bIns="0" anchor="ctr">
            <a:spAutoFit/>
          </a:bodyPr>
          <a:lstStyle/>
          <a:p>
            <a:pPr algn="ctr">
              <a:spcAft>
                <a:spcPts val="0"/>
              </a:spcAft>
            </a:pPr>
            <a:r>
              <a:rPr sz="1300" b="0" i="0">
                <a:solidFill>
                  <a:srgbClr val="22D3EE"/>
                </a:solidFill>
                <a:latin typeface="Segoe UI Semibold"/>
                <a:cs typeface="Segoe UI Semibold"/>
              </a:rPr>
              <a:t>1</a:t>
            </a:r>
          </a:p>
        </p:txBody>
      </p:sp>
      <p:sp>
        <p:nvSpPr>
          <p:cNvPr id="15" name="TextBox 14"/>
          <p:cNvSpPr txBox="1"/>
          <p:nvPr/>
        </p:nvSpPr>
        <p:spPr>
          <a:xfrm>
            <a:off x="1325880" y="1682495"/>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Zero drift</a:t>
            </a:r>
            <a:r>
              <a:rPr sz="1050" b="0" i="0">
                <a:solidFill>
                  <a:srgbClr val="9AA3C7"/>
                </a:solidFill>
                <a:latin typeface="Segoe UI"/>
                <a:cs typeface="Segoe UI"/>
              </a:rPr>
              <a:t>   ·   by symmetry of the ± moves</a:t>
            </a:r>
          </a:p>
        </p:txBody>
      </p:sp>
      <p:pic>
        <p:nvPicPr>
          <p:cNvPr id="16" name="Picture 15" descr="eq_mean.png"/>
          <p:cNvPicPr>
            <a:picLocks noChangeAspect="1"/>
          </p:cNvPicPr>
          <p:nvPr/>
        </p:nvPicPr>
        <p:blipFill>
          <a:blip r:embed="rId2"/>
          <a:stretch>
            <a:fillRect/>
          </a:stretch>
        </p:blipFill>
        <p:spPr>
          <a:xfrm>
            <a:off x="1325880" y="2029967"/>
            <a:ext cx="1642872" cy="208788"/>
          </a:xfrm>
          <a:prstGeom prst="rect">
            <a:avLst/>
          </a:prstGeom>
        </p:spPr>
      </p:pic>
      <p:sp>
        <p:nvSpPr>
          <p:cNvPr id="17" name="Rounded Rectangle 16"/>
          <p:cNvSpPr/>
          <p:nvPr/>
        </p:nvSpPr>
        <p:spPr>
          <a:xfrm>
            <a:off x="548640" y="2761487"/>
            <a:ext cx="5989320" cy="1078992"/>
          </a:xfrm>
          <a:prstGeom prst="roundRect">
            <a:avLst>
              <a:gd name="adj" fmla="val 1186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49808" y="2944368"/>
            <a:ext cx="420624" cy="420624"/>
          </a:xfrm>
          <a:prstGeom prst="ellipse">
            <a:avLst/>
          </a:prstGeom>
          <a:solidFill>
            <a:srgbClr val="818CF8">
              <a:alpha val="16000"/>
            </a:srgbClr>
          </a:solidFill>
          <a:ln w="12700">
            <a:solidFill>
              <a:srgbClr val="818CF8">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2944368"/>
            <a:ext cx="420624" cy="420624"/>
          </a:xfrm>
          <a:prstGeom prst="rect">
            <a:avLst/>
          </a:prstGeom>
          <a:noFill/>
        </p:spPr>
        <p:txBody>
          <a:bodyPr wrap="square" lIns="0" rIns="0" tIns="0" bIns="0" anchor="ctr">
            <a:spAutoFit/>
          </a:bodyPr>
          <a:lstStyle/>
          <a:p>
            <a:pPr algn="ctr">
              <a:spcAft>
                <a:spcPts val="0"/>
              </a:spcAft>
            </a:pPr>
            <a:r>
              <a:rPr sz="1300" b="0" i="0">
                <a:solidFill>
                  <a:srgbClr val="818CF8"/>
                </a:solidFill>
                <a:latin typeface="Segoe UI Semibold"/>
                <a:cs typeface="Segoe UI Semibold"/>
              </a:rPr>
              <a:t>2</a:t>
            </a:r>
          </a:p>
        </p:txBody>
      </p:sp>
      <p:sp>
        <p:nvSpPr>
          <p:cNvPr id="20" name="TextBox 19"/>
          <p:cNvSpPr txBox="1"/>
          <p:nvPr/>
        </p:nvSpPr>
        <p:spPr>
          <a:xfrm>
            <a:off x="1325880" y="2889503"/>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Variance per coordinate</a:t>
            </a:r>
            <a:r>
              <a:rPr sz="1050" b="0" i="0">
                <a:solidFill>
                  <a:srgbClr val="9AA3C7"/>
                </a:solidFill>
                <a:latin typeface="Segoe UI"/>
                <a:cs typeface="Segoe UI"/>
              </a:rPr>
              <a:t>   ·   each axis is chosen with probability 1/d</a:t>
            </a:r>
          </a:p>
        </p:txBody>
      </p:sp>
      <p:pic>
        <p:nvPicPr>
          <p:cNvPr id="21" name="Picture 20" descr="eq_var.png"/>
          <p:cNvPicPr>
            <a:picLocks noChangeAspect="1"/>
          </p:cNvPicPr>
          <p:nvPr/>
        </p:nvPicPr>
        <p:blipFill>
          <a:blip r:embed="rId3"/>
          <a:stretch>
            <a:fillRect/>
          </a:stretch>
        </p:blipFill>
        <p:spPr>
          <a:xfrm>
            <a:off x="1325880" y="3236975"/>
            <a:ext cx="2263140" cy="324612"/>
          </a:xfrm>
          <a:prstGeom prst="rect">
            <a:avLst/>
          </a:prstGeom>
        </p:spPr>
      </p:pic>
      <p:sp>
        <p:nvSpPr>
          <p:cNvPr id="22" name="Rounded Rectangle 21"/>
          <p:cNvSpPr/>
          <p:nvPr/>
        </p:nvSpPr>
        <p:spPr>
          <a:xfrm>
            <a:off x="548640" y="3968496"/>
            <a:ext cx="5989320" cy="1078992"/>
          </a:xfrm>
          <a:prstGeom prst="roundRect">
            <a:avLst>
              <a:gd name="adj" fmla="val 11864"/>
            </a:avLst>
          </a:prstGeom>
          <a:solidFill>
            <a:srgbClr val="121C3D"/>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49808" y="4151376"/>
            <a:ext cx="420624" cy="420624"/>
          </a:xfrm>
          <a:prstGeom prst="ellipse">
            <a:avLst/>
          </a:prstGeom>
          <a:solidFill>
            <a:srgbClr val="22D3EE">
              <a:alpha val="16000"/>
            </a:srgbClr>
          </a:solidFill>
          <a:ln w="12700">
            <a:solidFill>
              <a:srgbClr val="22D3E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151376"/>
            <a:ext cx="420624" cy="420624"/>
          </a:xfrm>
          <a:prstGeom prst="rect">
            <a:avLst/>
          </a:prstGeom>
          <a:noFill/>
        </p:spPr>
        <p:txBody>
          <a:bodyPr wrap="square" lIns="0" rIns="0" tIns="0" bIns="0" anchor="ctr">
            <a:spAutoFit/>
          </a:bodyPr>
          <a:lstStyle/>
          <a:p>
            <a:pPr algn="ctr">
              <a:spcAft>
                <a:spcPts val="0"/>
              </a:spcAft>
            </a:pPr>
            <a:r>
              <a:rPr sz="1300" b="0" i="0">
                <a:solidFill>
                  <a:srgbClr val="22D3EE"/>
                </a:solidFill>
                <a:latin typeface="Segoe UI Semibold"/>
                <a:cs typeface="Segoe UI Semibold"/>
              </a:rPr>
              <a:t>3</a:t>
            </a:r>
          </a:p>
        </p:txBody>
      </p:sp>
      <p:sp>
        <p:nvSpPr>
          <p:cNvPr id="25" name="TextBox 24"/>
          <p:cNvSpPr txBox="1"/>
          <p:nvPr/>
        </p:nvSpPr>
        <p:spPr>
          <a:xfrm>
            <a:off x="1325880" y="4096511"/>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Mean squared displacement</a:t>
            </a:r>
            <a:r>
              <a:rPr sz="1050" b="0" i="0">
                <a:solidFill>
                  <a:srgbClr val="9AA3C7"/>
                </a:solidFill>
                <a:latin typeface="Segoe UI"/>
                <a:cs typeface="Segoe UI"/>
              </a:rPr>
              <a:t>   ·   cross terms vanish — the answer does not depend on d</a:t>
            </a:r>
          </a:p>
        </p:txBody>
      </p:sp>
      <p:pic>
        <p:nvPicPr>
          <p:cNvPr id="26" name="Picture 25" descr="eq_msd.png"/>
          <p:cNvPicPr>
            <a:picLocks noChangeAspect="1"/>
          </p:cNvPicPr>
          <p:nvPr/>
        </p:nvPicPr>
        <p:blipFill>
          <a:blip r:embed="rId4"/>
          <a:stretch>
            <a:fillRect/>
          </a:stretch>
        </p:blipFill>
        <p:spPr>
          <a:xfrm>
            <a:off x="1325880" y="4443983"/>
            <a:ext cx="3358896" cy="411480"/>
          </a:xfrm>
          <a:prstGeom prst="rect">
            <a:avLst/>
          </a:prstGeom>
        </p:spPr>
      </p:pic>
      <p:sp>
        <p:nvSpPr>
          <p:cNvPr id="27" name="Rounded Rectangle 26"/>
          <p:cNvSpPr/>
          <p:nvPr/>
        </p:nvSpPr>
        <p:spPr>
          <a:xfrm>
            <a:off x="548640" y="5175504"/>
            <a:ext cx="5989320" cy="1078992"/>
          </a:xfrm>
          <a:prstGeom prst="roundRect">
            <a:avLst>
              <a:gd name="adj" fmla="val 1186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49808" y="5358384"/>
            <a:ext cx="420624" cy="420624"/>
          </a:xfrm>
          <a:prstGeom prst="ellipse">
            <a:avLst/>
          </a:prstGeom>
          <a:solidFill>
            <a:srgbClr val="F472B6">
              <a:alpha val="16000"/>
            </a:srgbClr>
          </a:solidFill>
          <a:ln w="12700">
            <a:solidFill>
              <a:srgbClr val="F472B6">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9808" y="5358384"/>
            <a:ext cx="420624" cy="420624"/>
          </a:xfrm>
          <a:prstGeom prst="rect">
            <a:avLst/>
          </a:prstGeom>
          <a:noFill/>
        </p:spPr>
        <p:txBody>
          <a:bodyPr wrap="square" lIns="0" rIns="0" tIns="0" bIns="0" anchor="ctr">
            <a:spAutoFit/>
          </a:bodyPr>
          <a:lstStyle/>
          <a:p>
            <a:pPr algn="ctr">
              <a:spcAft>
                <a:spcPts val="0"/>
              </a:spcAft>
            </a:pPr>
            <a:r>
              <a:rPr sz="1300" b="0" i="0">
                <a:solidFill>
                  <a:srgbClr val="F472B6"/>
                </a:solidFill>
                <a:latin typeface="Segoe UI Semibold"/>
                <a:cs typeface="Segoe UI Semibold"/>
              </a:rPr>
              <a:t>4</a:t>
            </a:r>
          </a:p>
        </p:txBody>
      </p:sp>
      <p:sp>
        <p:nvSpPr>
          <p:cNvPr id="30" name="TextBox 29"/>
          <p:cNvSpPr txBox="1"/>
          <p:nvPr/>
        </p:nvSpPr>
        <p:spPr>
          <a:xfrm>
            <a:off x="1325880" y="5303520"/>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Diffusive scaling</a:t>
            </a:r>
            <a:r>
              <a:rPr sz="1050" b="0" i="0">
                <a:solidFill>
                  <a:srgbClr val="9AA3C7"/>
                </a:solidFill>
                <a:latin typeface="Segoe UI"/>
                <a:cs typeface="Segoe UI"/>
              </a:rPr>
              <a:t>   ·   distance grows like √n: the signature of diffusion</a:t>
            </a:r>
          </a:p>
        </p:txBody>
      </p:sp>
      <p:pic>
        <p:nvPicPr>
          <p:cNvPr id="31" name="Picture 30" descr="eq_scale.png"/>
          <p:cNvPicPr>
            <a:picLocks noChangeAspect="1"/>
          </p:cNvPicPr>
          <p:nvPr/>
        </p:nvPicPr>
        <p:blipFill>
          <a:blip r:embed="rId5"/>
          <a:stretch>
            <a:fillRect/>
          </a:stretch>
        </p:blipFill>
        <p:spPr>
          <a:xfrm>
            <a:off x="1325880" y="5650992"/>
            <a:ext cx="2555748" cy="345948"/>
          </a:xfrm>
          <a:prstGeom prst="rect">
            <a:avLst/>
          </a:prstGeom>
        </p:spPr>
      </p:pic>
      <p:sp>
        <p:nvSpPr>
          <p:cNvPr id="32" name="Rounded Rectangle 31"/>
          <p:cNvSpPr/>
          <p:nvPr/>
        </p:nvSpPr>
        <p:spPr>
          <a:xfrm>
            <a:off x="6675120" y="1554480"/>
            <a:ext cx="4965192" cy="4700016"/>
          </a:xfrm>
          <a:prstGeom prst="roundRect">
            <a:avLst>
              <a:gd name="adj" fmla="val 272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6903720" y="1773936"/>
            <a:ext cx="5486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059168" y="1709928"/>
            <a:ext cx="4416552"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⑤  Central Limit Theorem — the shape</a:t>
            </a:r>
          </a:p>
        </p:txBody>
      </p:sp>
      <p:sp>
        <p:nvSpPr>
          <p:cNvPr id="35" name="TextBox 34"/>
          <p:cNvSpPr txBox="1"/>
          <p:nvPr/>
        </p:nvSpPr>
        <p:spPr>
          <a:xfrm>
            <a:off x="6949440" y="2029968"/>
            <a:ext cx="4480560" cy="45720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Each coordinate is a sum of many small independent increments, so for large n:</a:t>
            </a:r>
          </a:p>
        </p:txBody>
      </p:sp>
      <p:pic>
        <p:nvPicPr>
          <p:cNvPr id="36" name="Picture 35" descr="eq_clt.png"/>
          <p:cNvPicPr>
            <a:picLocks noChangeAspect="1"/>
          </p:cNvPicPr>
          <p:nvPr/>
        </p:nvPicPr>
        <p:blipFill>
          <a:blip r:embed="rId6"/>
          <a:stretch>
            <a:fillRect/>
          </a:stretch>
        </p:blipFill>
        <p:spPr>
          <a:xfrm>
            <a:off x="6949440" y="2514600"/>
            <a:ext cx="2323551" cy="310652"/>
          </a:xfrm>
          <a:prstGeom prst="rect">
            <a:avLst/>
          </a:prstGeom>
        </p:spPr>
      </p:pic>
      <p:sp>
        <p:nvSpPr>
          <p:cNvPr id="37" name="TextBox 36"/>
          <p:cNvSpPr txBox="1"/>
          <p:nvPr/>
        </p:nvSpPr>
        <p:spPr>
          <a:xfrm>
            <a:off x="6949440" y="3127248"/>
            <a:ext cx="4480560" cy="457200"/>
          </a:xfrm>
          <a:prstGeom prst="rect">
            <a:avLst/>
          </a:prstGeom>
          <a:noFill/>
        </p:spPr>
        <p:txBody>
          <a:bodyPr wrap="square" lIns="0" rIns="0" tIns="0" bIns="0" anchor="t">
            <a:spAutoFit/>
          </a:bodyPr>
          <a:lstStyle/>
          <a:p>
            <a:pPr algn="l">
              <a:lnSpc>
                <a:spcPct val="105000"/>
              </a:lnSpc>
              <a:spcAft>
                <a:spcPts val="0"/>
              </a:spcAft>
            </a:pPr>
            <a:r>
              <a:rPr sz="1150" b="0" i="0">
                <a:solidFill>
                  <a:srgbClr val="9AA3C7"/>
                </a:solidFill>
                <a:latin typeface="Segoe UI"/>
                <a:cs typeface="Segoe UI"/>
              </a:rPr>
              <a:t>The radius </a:t>
            </a:r>
            <a:r>
              <a:rPr sz="1150" b="0" i="0">
                <a:solidFill>
                  <a:srgbClr val="9AA3C7"/>
                </a:solidFill>
                <a:latin typeface="Cambria Math"/>
                <a:cs typeface="Cambria Math"/>
              </a:rPr>
              <a:t>|Xₙ|</a:t>
            </a:r>
            <a:r>
              <a:rPr sz="1150" b="0" i="0">
                <a:solidFill>
                  <a:srgbClr val="9AA3C7"/>
                </a:solidFill>
                <a:latin typeface="Segoe UI"/>
                <a:cs typeface="Segoe UI"/>
              </a:rPr>
              <a:t> of a d-dimensional Gaussian follows a </a:t>
            </a:r>
            <a:r>
              <a:rPr sz="1150" b="0" i="0">
                <a:solidFill>
                  <a:srgbClr val="E6E9F5"/>
                </a:solidFill>
                <a:latin typeface="Segoe UI Semibold"/>
                <a:cs typeface="Segoe UI Semibold"/>
              </a:rPr>
              <a:t>chi distribution</a:t>
            </a:r>
            <a:r>
              <a:rPr sz="1150" b="0" i="0">
                <a:solidFill>
                  <a:srgbClr val="9AA3C7"/>
                </a:solidFill>
                <a:latin typeface="Segoe UI"/>
                <a:cs typeface="Segoe UI"/>
              </a:rPr>
              <a:t>:</a:t>
            </a:r>
          </a:p>
        </p:txBody>
      </p:sp>
      <p:pic>
        <p:nvPicPr>
          <p:cNvPr id="38" name="Picture 37" descr="eq_chi.png"/>
          <p:cNvPicPr>
            <a:picLocks noChangeAspect="1"/>
          </p:cNvPicPr>
          <p:nvPr/>
        </p:nvPicPr>
        <p:blipFill>
          <a:blip r:embed="rId7"/>
          <a:stretch>
            <a:fillRect/>
          </a:stretch>
        </p:blipFill>
        <p:spPr>
          <a:xfrm>
            <a:off x="6949440" y="3611880"/>
            <a:ext cx="3069336" cy="431292"/>
          </a:xfrm>
          <a:prstGeom prst="rect">
            <a:avLst/>
          </a:prstGeom>
        </p:spPr>
      </p:pic>
      <p:pic>
        <p:nvPicPr>
          <p:cNvPr id="39" name="Picture 38" descr="eq_meanr.png"/>
          <p:cNvPicPr>
            <a:picLocks noChangeAspect="1"/>
          </p:cNvPicPr>
          <p:nvPr/>
        </p:nvPicPr>
        <p:blipFill>
          <a:blip r:embed="rId8"/>
          <a:stretch>
            <a:fillRect/>
          </a:stretch>
        </p:blipFill>
        <p:spPr>
          <a:xfrm>
            <a:off x="6949440" y="4279392"/>
            <a:ext cx="1578864" cy="524256"/>
          </a:xfrm>
          <a:prstGeom prst="rect">
            <a:avLst/>
          </a:prstGeom>
        </p:spPr>
      </p:pic>
      <p:sp>
        <p:nvSpPr>
          <p:cNvPr id="40" name="Oval 39"/>
          <p:cNvSpPr/>
          <p:nvPr/>
        </p:nvSpPr>
        <p:spPr>
          <a:xfrm>
            <a:off x="6967728" y="5056632"/>
            <a:ext cx="118872" cy="118872"/>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205472" y="4983480"/>
            <a:ext cx="411480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d = 1</a:t>
            </a:r>
            <a:r>
              <a:rPr sz="1200" b="0" i="0">
                <a:solidFill>
                  <a:srgbClr val="22D3EE"/>
                </a:solidFill>
                <a:latin typeface="Segoe UI Semibold"/>
                <a:cs typeface="Segoe UI Semibold"/>
              </a:rPr>
              <a:t>     half-normal</a:t>
            </a:r>
          </a:p>
        </p:txBody>
      </p:sp>
      <p:sp>
        <p:nvSpPr>
          <p:cNvPr id="42" name="Oval 41"/>
          <p:cNvSpPr/>
          <p:nvPr/>
        </p:nvSpPr>
        <p:spPr>
          <a:xfrm>
            <a:off x="6967728" y="5367528"/>
            <a:ext cx="118872" cy="118872"/>
          </a:xfrm>
          <a:prstGeom prst="ellipse">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205472" y="5294376"/>
            <a:ext cx="411480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d = 2</a:t>
            </a:r>
            <a:r>
              <a:rPr sz="1200" b="0" i="0">
                <a:solidFill>
                  <a:srgbClr val="818CF8"/>
                </a:solidFill>
                <a:latin typeface="Segoe UI Semibold"/>
                <a:cs typeface="Segoe UI Semibold"/>
              </a:rPr>
              <a:t>     Rayleigh</a:t>
            </a:r>
          </a:p>
        </p:txBody>
      </p:sp>
      <p:sp>
        <p:nvSpPr>
          <p:cNvPr id="44" name="Oval 43"/>
          <p:cNvSpPr/>
          <p:nvPr/>
        </p:nvSpPr>
        <p:spPr>
          <a:xfrm>
            <a:off x="6967728" y="5678424"/>
            <a:ext cx="118872" cy="118872"/>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205472" y="5605272"/>
            <a:ext cx="411480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d = 3</a:t>
            </a:r>
            <a:r>
              <a:rPr sz="1200" b="0" i="0">
                <a:solidFill>
                  <a:srgbClr val="FBBF24"/>
                </a:solidFill>
                <a:latin typeface="Segoe UI Semibold"/>
                <a:cs typeface="Segoe UI Semibold"/>
              </a:rPr>
              <a:t>     Maxwell–Boltzmann</a:t>
            </a:r>
          </a:p>
        </p:txBody>
      </p:sp>
      <p:sp>
        <p:nvSpPr>
          <p:cNvPr id="46" name="TextBox 45"/>
          <p:cNvSpPr txBox="1"/>
          <p:nvPr/>
        </p:nvSpPr>
        <p:spPr>
          <a:xfrm>
            <a:off x="6949440" y="5916168"/>
            <a:ext cx="4526280" cy="274320"/>
          </a:xfrm>
          <a:prstGeom prst="rect">
            <a:avLst/>
          </a:prstGeom>
          <a:noFill/>
        </p:spPr>
        <p:txBody>
          <a:bodyPr wrap="square" lIns="0" rIns="0" tIns="0" bIns="0" anchor="t">
            <a:spAutoFit/>
          </a:bodyPr>
          <a:lstStyle/>
          <a:p>
            <a:pPr algn="l">
              <a:spcAft>
                <a:spcPts val="0"/>
              </a:spcAft>
            </a:pPr>
            <a:r>
              <a:rPr sz="1000" b="0" i="0">
                <a:solidFill>
                  <a:srgbClr val="5B6690"/>
                </a:solidFill>
                <a:latin typeface="Segoe UI"/>
                <a:cs typeface="Segoe UI"/>
              </a:rPr>
              <a:t>Lattice parity: in 1D </a:t>
            </a:r>
            <a:r>
              <a:rPr sz="1000" b="0" i="0">
                <a:solidFill>
                  <a:srgbClr val="5B6690"/>
                </a:solidFill>
                <a:latin typeface="Cambria Math"/>
                <a:cs typeface="Cambria Math"/>
              </a:rPr>
              <a:t>Xₙ ≡ n (mod 2)</a:t>
            </a:r>
            <a:r>
              <a:rPr sz="1000" b="0" i="0">
                <a:solidFill>
                  <a:srgbClr val="5B6690"/>
                </a:solidFill>
                <a:latin typeface="Segoe UI"/>
                <a:cs typeface="Segoe UI"/>
              </a:rPr>
              <a:t> — handled with even-width bins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809036"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809036"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04  ·  SIMULATION METHOD</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From model to evidence: the Monte Carlo pipeline</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05</a:t>
            </a:r>
            <a:r>
              <a:rPr sz="900" b="0" i="0">
                <a:solidFill>
                  <a:srgbClr val="5B6690"/>
                </a:solidFill>
                <a:latin typeface="Segoe UI Semibold"/>
                <a:cs typeface="Segoe UI Semibold"/>
              </a:rPr>
              <a:t>  /  10</a:t>
            </a:r>
          </a:p>
        </p:txBody>
      </p:sp>
      <p:sp>
        <p:nvSpPr>
          <p:cNvPr id="12" name="Rounded Rectangle 11"/>
          <p:cNvSpPr/>
          <p:nvPr/>
        </p:nvSpPr>
        <p:spPr>
          <a:xfrm>
            <a:off x="548640" y="1554480"/>
            <a:ext cx="2057400" cy="1143000"/>
          </a:xfrm>
          <a:prstGeom prst="roundRect">
            <a:avLst>
              <a:gd name="adj" fmla="val 11200"/>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1554480"/>
            <a:ext cx="2057400" cy="548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1700784"/>
            <a:ext cx="1828800" cy="274320"/>
          </a:xfrm>
          <a:prstGeom prst="rect">
            <a:avLst/>
          </a:prstGeom>
          <a:noFill/>
        </p:spPr>
        <p:txBody>
          <a:bodyPr wrap="square" lIns="0" rIns="0" tIns="0" bIns="0" anchor="t">
            <a:spAutoFit/>
          </a:bodyPr>
          <a:lstStyle/>
          <a:p>
            <a:pPr algn="l">
              <a:spcAft>
                <a:spcPts val="0"/>
              </a:spcAft>
            </a:pPr>
            <a:r>
              <a:rPr sz="1250" b="0" i="0">
                <a:solidFill>
                  <a:srgbClr val="22D3EE"/>
                </a:solidFill>
                <a:latin typeface="Segoe UI Semibold"/>
                <a:cs typeface="Segoe UI Semibold"/>
              </a:rPr>
              <a:t>01  </a:t>
            </a:r>
            <a:r>
              <a:rPr sz="1250" b="0" i="0">
                <a:solidFill>
                  <a:srgbClr val="E6E9F5"/>
                </a:solidFill>
                <a:latin typeface="Segoe UI Semibold"/>
                <a:cs typeface="Segoe UI Semibold"/>
              </a:rPr>
              <a:t>Random step</a:t>
            </a:r>
          </a:p>
        </p:txBody>
      </p:sp>
      <p:sp>
        <p:nvSpPr>
          <p:cNvPr id="15" name="TextBox 14"/>
          <p:cNvSpPr txBox="1"/>
          <p:nvPr/>
        </p:nvSpPr>
        <p:spPr>
          <a:xfrm>
            <a:off x="731520" y="2011680"/>
            <a:ext cx="1783080" cy="64008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choose axis </a:t>
            </a:r>
            <a:r>
              <a:rPr sz="1050" b="0" i="0">
                <a:solidFill>
                  <a:srgbClr val="9AA3C7"/>
                </a:solidFill>
                <a:latin typeface="Cambria Math"/>
                <a:cs typeface="Cambria Math"/>
              </a:rPr>
              <a:t>i ∼ U{1..d}</a:t>
            </a:r>
            <a:r>
              <a:rPr sz="1050" b="0" i="0">
                <a:solidFill>
                  <a:srgbClr val="9AA3C7"/>
                </a:solidFill>
                <a:latin typeface="Segoe UI"/>
                <a:cs typeface="Segoe UI"/>
              </a:rPr>
              <a:t>, sign ±1</a:t>
            </a:r>
          </a:p>
        </p:txBody>
      </p:sp>
      <p:sp>
        <p:nvSpPr>
          <p:cNvPr id="16" name="TextBox 15"/>
          <p:cNvSpPr txBox="1"/>
          <p:nvPr/>
        </p:nvSpPr>
        <p:spPr>
          <a:xfrm>
            <a:off x="2606040" y="1874519"/>
            <a:ext cx="201168" cy="457200"/>
          </a:xfrm>
          <a:prstGeom prst="rect">
            <a:avLst/>
          </a:prstGeom>
          <a:noFill/>
        </p:spPr>
        <p:txBody>
          <a:bodyPr wrap="square" lIns="0" rIns="0" tIns="0" bIns="0" anchor="t">
            <a:spAutoFit/>
          </a:bodyPr>
          <a:lstStyle/>
          <a:p>
            <a:pPr algn="ctr">
              <a:spcAft>
                <a:spcPts val="0"/>
              </a:spcAft>
            </a:pPr>
            <a:r>
              <a:rPr sz="2200" b="0" i="0">
                <a:solidFill>
                  <a:srgbClr val="5B6690"/>
                </a:solidFill>
                <a:latin typeface="Segoe UI Semibold"/>
                <a:cs typeface="Segoe UI Semibold"/>
              </a:rPr>
              <a:t>›</a:t>
            </a:r>
          </a:p>
        </p:txBody>
      </p:sp>
      <p:sp>
        <p:nvSpPr>
          <p:cNvPr id="17" name="Rounded Rectangle 16"/>
          <p:cNvSpPr/>
          <p:nvPr/>
        </p:nvSpPr>
        <p:spPr>
          <a:xfrm>
            <a:off x="2807208" y="1554480"/>
            <a:ext cx="2057400" cy="1143000"/>
          </a:xfrm>
          <a:prstGeom prst="roundRect">
            <a:avLst>
              <a:gd name="adj" fmla="val 11200"/>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807208" y="1554480"/>
            <a:ext cx="2057400" cy="54864"/>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90088" y="1700784"/>
            <a:ext cx="1828800" cy="274320"/>
          </a:xfrm>
          <a:prstGeom prst="rect">
            <a:avLst/>
          </a:prstGeom>
          <a:noFill/>
        </p:spPr>
        <p:txBody>
          <a:bodyPr wrap="square" lIns="0" rIns="0" tIns="0" bIns="0" anchor="t">
            <a:spAutoFit/>
          </a:bodyPr>
          <a:lstStyle/>
          <a:p>
            <a:pPr algn="l">
              <a:spcAft>
                <a:spcPts val="0"/>
              </a:spcAft>
            </a:pPr>
            <a:r>
              <a:rPr sz="1250" b="0" i="0">
                <a:solidFill>
                  <a:srgbClr val="818CF8"/>
                </a:solidFill>
                <a:latin typeface="Segoe UI Semibold"/>
                <a:cs typeface="Segoe UI Semibold"/>
              </a:rPr>
              <a:t>02  </a:t>
            </a:r>
            <a:r>
              <a:rPr sz="1250" b="0" i="0">
                <a:solidFill>
                  <a:srgbClr val="E6E9F5"/>
                </a:solidFill>
                <a:latin typeface="Segoe UI Semibold"/>
                <a:cs typeface="Segoe UI Semibold"/>
              </a:rPr>
              <a:t>Parallel update</a:t>
            </a:r>
          </a:p>
        </p:txBody>
      </p:sp>
      <p:sp>
        <p:nvSpPr>
          <p:cNvPr id="20" name="TextBox 19"/>
          <p:cNvSpPr txBox="1"/>
          <p:nvPr/>
        </p:nvSpPr>
        <p:spPr>
          <a:xfrm>
            <a:off x="2990088" y="2011680"/>
            <a:ext cx="1783080" cy="64008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advance all </a:t>
            </a:r>
            <a:r>
              <a:rPr sz="1050" b="0" i="0">
                <a:solidFill>
                  <a:srgbClr val="9AA3C7"/>
                </a:solidFill>
                <a:latin typeface="Cambria Math"/>
                <a:cs typeface="Cambria Math"/>
              </a:rPr>
              <a:t>N</a:t>
            </a:r>
            <a:r>
              <a:rPr sz="1050" b="0" i="0">
                <a:solidFill>
                  <a:srgbClr val="9AA3C7"/>
                </a:solidFill>
                <a:latin typeface="Segoe UI"/>
                <a:cs typeface="Segoe UI"/>
              </a:rPr>
              <a:t> walkers together, chunked in time</a:t>
            </a:r>
          </a:p>
        </p:txBody>
      </p:sp>
      <p:sp>
        <p:nvSpPr>
          <p:cNvPr id="21" name="TextBox 20"/>
          <p:cNvSpPr txBox="1"/>
          <p:nvPr/>
        </p:nvSpPr>
        <p:spPr>
          <a:xfrm>
            <a:off x="4864608" y="1874519"/>
            <a:ext cx="201168" cy="457200"/>
          </a:xfrm>
          <a:prstGeom prst="rect">
            <a:avLst/>
          </a:prstGeom>
          <a:noFill/>
        </p:spPr>
        <p:txBody>
          <a:bodyPr wrap="square" lIns="0" rIns="0" tIns="0" bIns="0" anchor="t">
            <a:spAutoFit/>
          </a:bodyPr>
          <a:lstStyle/>
          <a:p>
            <a:pPr algn="ctr">
              <a:spcAft>
                <a:spcPts val="0"/>
              </a:spcAft>
            </a:pPr>
            <a:r>
              <a:rPr sz="2200" b="0" i="0">
                <a:solidFill>
                  <a:srgbClr val="5B6690"/>
                </a:solidFill>
                <a:latin typeface="Segoe UI Semibold"/>
                <a:cs typeface="Segoe UI Semibold"/>
              </a:rPr>
              <a:t>›</a:t>
            </a:r>
          </a:p>
        </p:txBody>
      </p:sp>
      <p:sp>
        <p:nvSpPr>
          <p:cNvPr id="22" name="Rounded Rectangle 21"/>
          <p:cNvSpPr/>
          <p:nvPr/>
        </p:nvSpPr>
        <p:spPr>
          <a:xfrm>
            <a:off x="5065776" y="1554480"/>
            <a:ext cx="2057400" cy="1143000"/>
          </a:xfrm>
          <a:prstGeom prst="roundRect">
            <a:avLst>
              <a:gd name="adj" fmla="val 11200"/>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065776" y="1554480"/>
            <a:ext cx="2057400" cy="54864"/>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48656" y="1700784"/>
            <a:ext cx="1828800" cy="274320"/>
          </a:xfrm>
          <a:prstGeom prst="rect">
            <a:avLst/>
          </a:prstGeom>
          <a:noFill/>
        </p:spPr>
        <p:txBody>
          <a:bodyPr wrap="square" lIns="0" rIns="0" tIns="0" bIns="0" anchor="t">
            <a:spAutoFit/>
          </a:bodyPr>
          <a:lstStyle/>
          <a:p>
            <a:pPr algn="l">
              <a:spcAft>
                <a:spcPts val="0"/>
              </a:spcAft>
            </a:pPr>
            <a:r>
              <a:rPr sz="1250" b="0" i="0">
                <a:solidFill>
                  <a:srgbClr val="F472B6"/>
                </a:solidFill>
                <a:latin typeface="Segoe UI Semibold"/>
                <a:cs typeface="Segoe UI Semibold"/>
              </a:rPr>
              <a:t>03  </a:t>
            </a:r>
            <a:r>
              <a:rPr sz="1250" b="0" i="0">
                <a:solidFill>
                  <a:srgbClr val="E6E9F5"/>
                </a:solidFill>
                <a:latin typeface="Segoe UI Semibold"/>
                <a:cs typeface="Segoe UI Semibold"/>
              </a:rPr>
              <a:t>Return detection</a:t>
            </a:r>
          </a:p>
        </p:txBody>
      </p:sp>
      <p:sp>
        <p:nvSpPr>
          <p:cNvPr id="25" name="TextBox 24"/>
          <p:cNvSpPr txBox="1"/>
          <p:nvPr/>
        </p:nvSpPr>
        <p:spPr>
          <a:xfrm>
            <a:off x="5248656" y="2011680"/>
            <a:ext cx="1783080" cy="64008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flag walkers with </a:t>
            </a:r>
            <a:r>
              <a:rPr sz="1050" b="0" i="0">
                <a:solidFill>
                  <a:srgbClr val="9AA3C7"/>
                </a:solidFill>
                <a:latin typeface="Cambria Math"/>
                <a:cs typeface="Cambria Math"/>
              </a:rPr>
              <a:t>Xₜ = 0</a:t>
            </a:r>
            <a:r>
              <a:rPr sz="1050" b="0" i="0">
                <a:solidFill>
                  <a:srgbClr val="9AA3C7"/>
                </a:solidFill>
                <a:latin typeface="Segoe UI"/>
                <a:cs typeface="Segoe UI"/>
              </a:rPr>
              <a:t> at even t</a:t>
            </a:r>
          </a:p>
        </p:txBody>
      </p:sp>
      <p:sp>
        <p:nvSpPr>
          <p:cNvPr id="26" name="TextBox 25"/>
          <p:cNvSpPr txBox="1"/>
          <p:nvPr/>
        </p:nvSpPr>
        <p:spPr>
          <a:xfrm>
            <a:off x="7123176" y="1874519"/>
            <a:ext cx="201168" cy="457200"/>
          </a:xfrm>
          <a:prstGeom prst="rect">
            <a:avLst/>
          </a:prstGeom>
          <a:noFill/>
        </p:spPr>
        <p:txBody>
          <a:bodyPr wrap="square" lIns="0" rIns="0" tIns="0" bIns="0" anchor="t">
            <a:spAutoFit/>
          </a:bodyPr>
          <a:lstStyle/>
          <a:p>
            <a:pPr algn="ctr">
              <a:spcAft>
                <a:spcPts val="0"/>
              </a:spcAft>
            </a:pPr>
            <a:r>
              <a:rPr sz="2200" b="0" i="0">
                <a:solidFill>
                  <a:srgbClr val="5B6690"/>
                </a:solidFill>
                <a:latin typeface="Segoe UI Semibold"/>
                <a:cs typeface="Segoe UI Semibold"/>
              </a:rPr>
              <a:t>›</a:t>
            </a:r>
          </a:p>
        </p:txBody>
      </p:sp>
      <p:sp>
        <p:nvSpPr>
          <p:cNvPr id="27" name="Rounded Rectangle 26"/>
          <p:cNvSpPr/>
          <p:nvPr/>
        </p:nvSpPr>
        <p:spPr>
          <a:xfrm>
            <a:off x="7324344" y="1554480"/>
            <a:ext cx="2057400" cy="1143000"/>
          </a:xfrm>
          <a:prstGeom prst="roundRect">
            <a:avLst>
              <a:gd name="adj" fmla="val 11200"/>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324344" y="1554480"/>
            <a:ext cx="2057400" cy="54864"/>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07223" y="1700784"/>
            <a:ext cx="1828800" cy="274320"/>
          </a:xfrm>
          <a:prstGeom prst="rect">
            <a:avLst/>
          </a:prstGeom>
          <a:noFill/>
        </p:spPr>
        <p:txBody>
          <a:bodyPr wrap="square" lIns="0" rIns="0" tIns="0" bIns="0" anchor="t">
            <a:spAutoFit/>
          </a:bodyPr>
          <a:lstStyle/>
          <a:p>
            <a:pPr algn="l">
              <a:spcAft>
                <a:spcPts val="0"/>
              </a:spcAft>
            </a:pPr>
            <a:r>
              <a:rPr sz="1250" b="0" i="0">
                <a:solidFill>
                  <a:srgbClr val="FBBF24"/>
                </a:solidFill>
                <a:latin typeface="Segoe UI Semibold"/>
                <a:cs typeface="Segoe UI Semibold"/>
              </a:rPr>
              <a:t>04  </a:t>
            </a:r>
            <a:r>
              <a:rPr sz="1250" b="0" i="0">
                <a:solidFill>
                  <a:srgbClr val="E6E9F5"/>
                </a:solidFill>
                <a:latin typeface="Segoe UI Semibold"/>
                <a:cs typeface="Segoe UI Semibold"/>
              </a:rPr>
              <a:t>Checkpoint stats</a:t>
            </a:r>
          </a:p>
        </p:txBody>
      </p:sp>
      <p:sp>
        <p:nvSpPr>
          <p:cNvPr id="30" name="TextBox 29"/>
          <p:cNvSpPr txBox="1"/>
          <p:nvPr/>
        </p:nvSpPr>
        <p:spPr>
          <a:xfrm>
            <a:off x="7507223" y="2011680"/>
            <a:ext cx="1783080" cy="64008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Cambria Math"/>
                <a:cs typeface="Cambria Math"/>
              </a:rPr>
              <a:t>⟨|X|²⟩, ⟨|X|⟩, Var Xᵢ</a:t>
            </a:r>
            <a:r>
              <a:rPr sz="1050" b="0" i="0">
                <a:solidFill>
                  <a:srgbClr val="9AA3C7"/>
                </a:solidFill>
                <a:latin typeface="Segoe UI"/>
                <a:cs typeface="Segoe UI"/>
              </a:rPr>
              <a:t> every k steps</a:t>
            </a:r>
          </a:p>
        </p:txBody>
      </p:sp>
      <p:sp>
        <p:nvSpPr>
          <p:cNvPr id="31" name="TextBox 30"/>
          <p:cNvSpPr txBox="1"/>
          <p:nvPr/>
        </p:nvSpPr>
        <p:spPr>
          <a:xfrm>
            <a:off x="9381744" y="1874519"/>
            <a:ext cx="201168" cy="457200"/>
          </a:xfrm>
          <a:prstGeom prst="rect">
            <a:avLst/>
          </a:prstGeom>
          <a:noFill/>
        </p:spPr>
        <p:txBody>
          <a:bodyPr wrap="square" lIns="0" rIns="0" tIns="0" bIns="0" anchor="t">
            <a:spAutoFit/>
          </a:bodyPr>
          <a:lstStyle/>
          <a:p>
            <a:pPr algn="ctr">
              <a:spcAft>
                <a:spcPts val="0"/>
              </a:spcAft>
            </a:pPr>
            <a:r>
              <a:rPr sz="2200" b="0" i="0">
                <a:solidFill>
                  <a:srgbClr val="5B6690"/>
                </a:solidFill>
                <a:latin typeface="Segoe UI Semibold"/>
                <a:cs typeface="Segoe UI Semibold"/>
              </a:rPr>
              <a:t>›</a:t>
            </a:r>
          </a:p>
        </p:txBody>
      </p:sp>
      <p:sp>
        <p:nvSpPr>
          <p:cNvPr id="32" name="Rounded Rectangle 31"/>
          <p:cNvSpPr/>
          <p:nvPr/>
        </p:nvSpPr>
        <p:spPr>
          <a:xfrm>
            <a:off x="9582912" y="1554480"/>
            <a:ext cx="2057400" cy="1143000"/>
          </a:xfrm>
          <a:prstGeom prst="roundRect">
            <a:avLst>
              <a:gd name="adj" fmla="val 11200"/>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582912" y="1554480"/>
            <a:ext cx="2057400" cy="5486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65792" y="1700784"/>
            <a:ext cx="1828800" cy="274320"/>
          </a:xfrm>
          <a:prstGeom prst="rect">
            <a:avLst/>
          </a:prstGeom>
          <a:noFill/>
        </p:spPr>
        <p:txBody>
          <a:bodyPr wrap="square" lIns="0" rIns="0" tIns="0" bIns="0" anchor="t">
            <a:spAutoFit/>
          </a:bodyPr>
          <a:lstStyle/>
          <a:p>
            <a:pPr algn="l">
              <a:spcAft>
                <a:spcPts val="0"/>
              </a:spcAft>
            </a:pPr>
            <a:r>
              <a:rPr sz="1250" b="0" i="0">
                <a:solidFill>
                  <a:srgbClr val="34D399"/>
                </a:solidFill>
                <a:latin typeface="Segoe UI Semibold"/>
                <a:cs typeface="Segoe UI Semibold"/>
              </a:rPr>
              <a:t>05  </a:t>
            </a:r>
            <a:r>
              <a:rPr sz="1250" b="0" i="0">
                <a:solidFill>
                  <a:srgbClr val="E6E9F5"/>
                </a:solidFill>
                <a:latin typeface="Segoe UI Semibold"/>
                <a:cs typeface="Segoe UI Semibold"/>
              </a:rPr>
              <a:t>Compare to theory</a:t>
            </a:r>
          </a:p>
        </p:txBody>
      </p:sp>
      <p:sp>
        <p:nvSpPr>
          <p:cNvPr id="35" name="TextBox 34"/>
          <p:cNvSpPr txBox="1"/>
          <p:nvPr/>
        </p:nvSpPr>
        <p:spPr>
          <a:xfrm>
            <a:off x="9765792" y="2011680"/>
            <a:ext cx="1783080" cy="64008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errors, 95 % CIs, fits, goodness-of-fit tests</a:t>
            </a:r>
          </a:p>
        </p:txBody>
      </p:sp>
      <p:sp>
        <p:nvSpPr>
          <p:cNvPr id="36" name="Rounded Rectangle 35"/>
          <p:cNvSpPr/>
          <p:nvPr/>
        </p:nvSpPr>
        <p:spPr>
          <a:xfrm>
            <a:off x="548640" y="2852928"/>
            <a:ext cx="5760720" cy="3419856"/>
          </a:xfrm>
          <a:prstGeom prst="roundRect">
            <a:avLst>
              <a:gd name="adj" fmla="val 374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777240" y="3072384"/>
            <a:ext cx="54864" cy="23774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32688" y="3008376"/>
            <a:ext cx="5212080"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Core algorithm  ·  simulation engine</a:t>
            </a:r>
          </a:p>
        </p:txBody>
      </p:sp>
      <p:sp>
        <p:nvSpPr>
          <p:cNvPr id="39" name="TextBox 38"/>
          <p:cNvSpPr txBox="1"/>
          <p:nvPr/>
        </p:nvSpPr>
        <p:spPr>
          <a:xfrm>
            <a:off x="804672" y="3346704"/>
            <a:ext cx="5440680" cy="2834640"/>
          </a:xfrm>
          <a:prstGeom prst="rect">
            <a:avLst/>
          </a:prstGeom>
          <a:noFill/>
        </p:spPr>
        <p:txBody>
          <a:bodyPr wrap="square" lIns="0" rIns="0" tIns="0" bIns="0" anchor="t">
            <a:spAutoFit/>
          </a:bodyPr>
          <a:lstStyle/>
          <a:p>
            <a:pPr algn="l">
              <a:lnSpc>
                <a:spcPct val="112000"/>
              </a:lnSpc>
              <a:spcAft>
                <a:spcPts val="0"/>
              </a:spcAft>
            </a:pPr>
            <a:r>
              <a:rPr sz="1050" b="0" i="0">
                <a:solidFill>
                  <a:srgbClr val="F472B6"/>
                </a:solidFill>
                <a:latin typeface="Consolas"/>
                <a:cs typeface="Consolas"/>
              </a:rPr>
              <a:t>def</a:t>
            </a:r>
            <a:r>
              <a:rPr sz="1050" b="0" i="0">
                <a:solidFill>
                  <a:srgbClr val="AEB6D8"/>
                </a:solidFill>
                <a:latin typeface="Consolas"/>
                <a:cs typeface="Consolas"/>
              </a:rPr>
              <a:t> </a:t>
            </a:r>
            <a:r>
              <a:rPr sz="1050" b="0" i="0">
                <a:solidFill>
                  <a:srgbClr val="22D3EE"/>
                </a:solidFill>
                <a:latin typeface="Consolas"/>
                <a:cs typeface="Consolas"/>
              </a:rPr>
              <a:t>generate_steps</a:t>
            </a:r>
            <a:r>
              <a:rPr sz="1050" b="0" i="0">
                <a:solidFill>
                  <a:srgbClr val="AEB6D8"/>
                </a:solidFill>
                <a:latin typeface="Consolas"/>
                <a:cs typeface="Consolas"/>
              </a:rPr>
              <a:t>(</a:t>
            </a:r>
            <a:r>
              <a:rPr sz="1050" b="0" i="0">
                <a:solidFill>
                  <a:srgbClr val="D7DCF0"/>
                </a:solidFill>
                <a:latin typeface="Consolas"/>
                <a:cs typeface="Consolas"/>
              </a:rPr>
              <a:t>n_steps</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d</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rng</a:t>
            </a:r>
            <a:r>
              <a:rPr sz="1050" b="0" i="0">
                <a:solidFill>
                  <a:srgbClr val="AEB6D8"/>
                </a:solidFill>
                <a:latin typeface="Consolas"/>
                <a:cs typeface="Consolas"/>
              </a:rPr>
              <a:t>)</a:t>
            </a:r>
            <a:r>
              <a:rPr sz="1050" b="0" i="0">
                <a:solidFill>
                  <a:srgbClr val="AEB6D8"/>
                </a:solidFill>
                <a:latin typeface="Consolas"/>
                <a:cs typeface="Consolas"/>
              </a:rPr>
              <a:t>:</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axis</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rng</a:t>
            </a:r>
            <a:r>
              <a:rPr sz="1050" b="0" i="0">
                <a:solidFill>
                  <a:srgbClr val="AEB6D8"/>
                </a:solidFill>
                <a:latin typeface="Consolas"/>
                <a:cs typeface="Consolas"/>
              </a:rPr>
              <a:t>.</a:t>
            </a:r>
            <a:r>
              <a:rPr sz="1050" b="0" i="0">
                <a:solidFill>
                  <a:srgbClr val="22D3EE"/>
                </a:solidFill>
                <a:latin typeface="Consolas"/>
                <a:cs typeface="Consolas"/>
              </a:rPr>
              <a:t>integers</a:t>
            </a:r>
            <a:r>
              <a:rPr sz="1050" b="0" i="0">
                <a:solidFill>
                  <a:srgbClr val="AEB6D8"/>
                </a:solidFill>
                <a:latin typeface="Consolas"/>
                <a:cs typeface="Consolas"/>
              </a:rPr>
              <a:t>(</a:t>
            </a:r>
            <a:r>
              <a:rPr sz="1050" b="0" i="0">
                <a:solidFill>
                  <a:srgbClr val="FBBF24"/>
                </a:solidFill>
                <a:latin typeface="Consolas"/>
                <a:cs typeface="Consolas"/>
              </a:rPr>
              <a:t>0</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d</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size</a:t>
            </a:r>
            <a:r>
              <a:rPr sz="1050" b="0" i="0">
                <a:solidFill>
                  <a:srgbClr val="AEB6D8"/>
                </a:solidFill>
                <a:latin typeface="Consolas"/>
                <a:cs typeface="Consolas"/>
              </a:rPr>
              <a:t>=</a:t>
            </a:r>
            <a:r>
              <a:rPr sz="1050" b="0" i="0">
                <a:solidFill>
                  <a:srgbClr val="D7DCF0"/>
                </a:solidFill>
                <a:latin typeface="Consolas"/>
                <a:cs typeface="Consolas"/>
              </a:rPr>
              <a:t>n_steps</a:t>
            </a:r>
            <a:r>
              <a:rPr sz="1050" b="0" i="0">
                <a:solidFill>
                  <a:srgbClr val="AEB6D8"/>
                </a:solidFill>
                <a:latin typeface="Consolas"/>
                <a:cs typeface="Consolas"/>
              </a:rPr>
              <a:t>)</a:t>
            </a:r>
            <a:r>
              <a:rPr sz="1050" b="0" i="0">
                <a:solidFill>
                  <a:srgbClr val="AEB6D8"/>
                </a:solidFill>
                <a:latin typeface="Consolas"/>
                <a:cs typeface="Consolas"/>
              </a:rPr>
              <a:t>    </a:t>
            </a:r>
            <a:r>
              <a:rPr sz="1050" b="0" i="1">
                <a:solidFill>
                  <a:srgbClr val="6E7BA8"/>
                </a:solidFill>
                <a:latin typeface="Consolas"/>
                <a:cs typeface="Consolas"/>
              </a:rPr>
              <a:t># one axis</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sign</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rng</a:t>
            </a:r>
            <a:r>
              <a:rPr sz="1050" b="0" i="0">
                <a:solidFill>
                  <a:srgbClr val="AEB6D8"/>
                </a:solidFill>
                <a:latin typeface="Consolas"/>
                <a:cs typeface="Consolas"/>
              </a:rPr>
              <a:t>.</a:t>
            </a:r>
            <a:r>
              <a:rPr sz="1050" b="0" i="0">
                <a:solidFill>
                  <a:srgbClr val="22D3EE"/>
                </a:solidFill>
                <a:latin typeface="Consolas"/>
                <a:cs typeface="Consolas"/>
              </a:rPr>
              <a:t>choice</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FBBF24"/>
                </a:solidFill>
                <a:latin typeface="Consolas"/>
                <a:cs typeface="Consolas"/>
              </a:rPr>
              <a:t>1</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FBBF24"/>
                </a:solidFill>
                <a:latin typeface="Consolas"/>
                <a:cs typeface="Consolas"/>
              </a:rPr>
              <a:t>1</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size</a:t>
            </a:r>
            <a:r>
              <a:rPr sz="1050" b="0" i="0">
                <a:solidFill>
                  <a:srgbClr val="AEB6D8"/>
                </a:solidFill>
                <a:latin typeface="Consolas"/>
                <a:cs typeface="Consolas"/>
              </a:rPr>
              <a:t>=</a:t>
            </a:r>
            <a:r>
              <a:rPr sz="1050" b="0" i="0">
                <a:solidFill>
                  <a:srgbClr val="D7DCF0"/>
                </a:solidFill>
                <a:latin typeface="Consolas"/>
                <a:cs typeface="Consolas"/>
              </a:rPr>
              <a:t>n_steps</a:t>
            </a:r>
            <a:r>
              <a:rPr sz="1050" b="0" i="0">
                <a:solidFill>
                  <a:srgbClr val="AEB6D8"/>
                </a:solidFill>
                <a:latin typeface="Consolas"/>
                <a:cs typeface="Consolas"/>
              </a:rPr>
              <a:t>)</a:t>
            </a:r>
            <a:r>
              <a:rPr sz="1050" b="0" i="0">
                <a:solidFill>
                  <a:srgbClr val="AEB6D8"/>
                </a:solidFill>
                <a:latin typeface="Consolas"/>
                <a:cs typeface="Consolas"/>
              </a:rPr>
              <a:t>  </a:t>
            </a:r>
            <a:r>
              <a:rPr sz="1050" b="0" i="1">
                <a:solidFill>
                  <a:srgbClr val="6E7BA8"/>
                </a:solidFill>
                <a:latin typeface="Consolas"/>
                <a:cs typeface="Consolas"/>
              </a:rPr>
              <a:t># +/-1, prob 1/2</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steps</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22D3EE"/>
                </a:solidFill>
                <a:latin typeface="Consolas"/>
                <a:cs typeface="Consolas"/>
              </a:rPr>
              <a:t>zeros</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D7DCF0"/>
                </a:solidFill>
                <a:latin typeface="Consolas"/>
                <a:cs typeface="Consolas"/>
              </a:rPr>
              <a:t>n_steps</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d</a:t>
            </a:r>
            <a:r>
              <a:rPr sz="1050" b="0" i="0">
                <a:solidFill>
                  <a:srgbClr val="AEB6D8"/>
                </a:solidFill>
                <a:latin typeface="Consolas"/>
                <a:cs typeface="Consolas"/>
              </a:rPr>
              <a:t>)</a:t>
            </a:r>
            <a:r>
              <a:rPr sz="1050" b="0" i="0">
                <a:solidFill>
                  <a:srgbClr val="AEB6D8"/>
                </a:solidFill>
                <a:latin typeface="Consolas"/>
                <a:cs typeface="Consolas"/>
              </a:rPr>
              <a:t>)</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steps</a:t>
            </a:r>
            <a:r>
              <a:rPr sz="1050" b="0" i="0">
                <a:solidFill>
                  <a:srgbClr val="AEB6D8"/>
                </a:solidFill>
                <a:latin typeface="Consolas"/>
                <a:cs typeface="Consolas"/>
              </a:rPr>
              <a:t>[</a:t>
            </a:r>
            <a:r>
              <a:rPr sz="1050" b="0" i="0">
                <a:solidFill>
                  <a:srgbClr val="22D3EE"/>
                </a:solidFill>
                <a:latin typeface="Consolas"/>
                <a:cs typeface="Consolas"/>
              </a:rPr>
              <a:t>arange</a:t>
            </a:r>
            <a:r>
              <a:rPr sz="1050" b="0" i="0">
                <a:solidFill>
                  <a:srgbClr val="AEB6D8"/>
                </a:solidFill>
                <a:latin typeface="Consolas"/>
                <a:cs typeface="Consolas"/>
              </a:rPr>
              <a:t>(</a:t>
            </a:r>
            <a:r>
              <a:rPr sz="1050" b="0" i="0">
                <a:solidFill>
                  <a:srgbClr val="D7DCF0"/>
                </a:solidFill>
                <a:latin typeface="Consolas"/>
                <a:cs typeface="Consolas"/>
              </a:rPr>
              <a:t>n_steps</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axis</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sign</a:t>
            </a:r>
            <a:r>
              <a:rPr sz="1050" b="0" i="0">
                <a:solidFill>
                  <a:srgbClr val="AEB6D8"/>
                </a:solidFill>
                <a:latin typeface="Consolas"/>
                <a:cs typeface="Consolas"/>
              </a:rPr>
              <a:t>        </a:t>
            </a:r>
            <a:r>
              <a:rPr sz="1050" b="0" i="1">
                <a:solidFill>
                  <a:srgbClr val="6E7BA8"/>
                </a:solidFill>
                <a:latin typeface="Consolas"/>
                <a:cs typeface="Consolas"/>
              </a:rPr>
              <a:t># 2d moves</a:t>
            </a:r>
          </a:p>
          <a:p>
            <a:pPr algn="l">
              <a:lnSpc>
                <a:spcPct val="112000"/>
              </a:lnSpc>
              <a:spcAft>
                <a:spcPts val="0"/>
              </a:spcAft>
            </a:pPr>
            <a:r>
              <a:rPr sz="1050" b="0" i="0">
                <a:solidFill>
                  <a:srgbClr val="AEB6D8"/>
                </a:solidFill>
                <a:latin typeface="Consolas"/>
                <a:cs typeface="Consolas"/>
              </a:rPr>
              <a:t>    </a:t>
            </a:r>
            <a:r>
              <a:rPr sz="1050" b="0" i="0">
                <a:solidFill>
                  <a:srgbClr val="F472B6"/>
                </a:solidFill>
                <a:latin typeface="Consolas"/>
                <a:cs typeface="Consolas"/>
              </a:rPr>
              <a:t>return</a:t>
            </a:r>
            <a:r>
              <a:rPr sz="1050" b="0" i="0">
                <a:solidFill>
                  <a:srgbClr val="AEB6D8"/>
                </a:solidFill>
                <a:latin typeface="Consolas"/>
                <a:cs typeface="Consolas"/>
              </a:rPr>
              <a:t> </a:t>
            </a:r>
            <a:r>
              <a:rPr sz="1050" b="0" i="0">
                <a:solidFill>
                  <a:srgbClr val="D7DCF0"/>
                </a:solidFill>
                <a:latin typeface="Consolas"/>
                <a:cs typeface="Consolas"/>
              </a:rPr>
              <a:t>steps</a:t>
            </a:r>
          </a:p>
          <a:p>
            <a:pPr algn="l">
              <a:lnSpc>
                <a:spcPct val="112000"/>
              </a:lnSpc>
              <a:spcAft>
                <a:spcPts val="0"/>
              </a:spcAft>
            </a:pPr>
            <a:r>
              <a:rPr sz="1050" b="0" i="0">
                <a:solidFill>
                  <a:srgbClr val="E6E9F5"/>
                </a:solidFill>
                <a:latin typeface="Consolas"/>
                <a:cs typeface="Consolas"/>
              </a:rPr>
              <a:t> </a:t>
            </a:r>
          </a:p>
          <a:p>
            <a:pPr algn="l">
              <a:lnSpc>
                <a:spcPct val="112000"/>
              </a:lnSpc>
              <a:spcAft>
                <a:spcPts val="0"/>
              </a:spcAft>
            </a:pPr>
            <a:r>
              <a:rPr sz="1050" b="0" i="0">
                <a:solidFill>
                  <a:srgbClr val="D7DCF0"/>
                </a:solidFill>
                <a:latin typeface="Consolas"/>
                <a:cs typeface="Consolas"/>
              </a:rPr>
              <a:t>X</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22D3EE"/>
                </a:solidFill>
                <a:latin typeface="Consolas"/>
                <a:cs typeface="Consolas"/>
              </a:rPr>
              <a:t>cumsum</a:t>
            </a:r>
            <a:r>
              <a:rPr sz="1050" b="0" i="0">
                <a:solidFill>
                  <a:srgbClr val="AEB6D8"/>
                </a:solidFill>
                <a:latin typeface="Consolas"/>
                <a:cs typeface="Consolas"/>
              </a:rPr>
              <a:t>(</a:t>
            </a:r>
            <a:r>
              <a:rPr sz="1050" b="0" i="0">
                <a:solidFill>
                  <a:srgbClr val="D7DCF0"/>
                </a:solidFill>
                <a:latin typeface="Consolas"/>
                <a:cs typeface="Consolas"/>
              </a:rPr>
              <a:t>steps</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axis</a:t>
            </a:r>
            <a:r>
              <a:rPr sz="1050" b="0" i="0">
                <a:solidFill>
                  <a:srgbClr val="AEB6D8"/>
                </a:solidFill>
                <a:latin typeface="Consolas"/>
                <a:cs typeface="Consolas"/>
              </a:rPr>
              <a:t>=</a:t>
            </a:r>
            <a:r>
              <a:rPr sz="1050" b="0" i="0">
                <a:solidFill>
                  <a:srgbClr val="FBBF24"/>
                </a:solidFill>
                <a:latin typeface="Consolas"/>
                <a:cs typeface="Consolas"/>
              </a:rPr>
              <a:t>0</a:t>
            </a:r>
            <a:r>
              <a:rPr sz="1050" b="0" i="0">
                <a:solidFill>
                  <a:srgbClr val="AEB6D8"/>
                </a:solidFill>
                <a:latin typeface="Consolas"/>
                <a:cs typeface="Consolas"/>
              </a:rPr>
              <a:t>)</a:t>
            </a:r>
            <a:r>
              <a:rPr sz="1050" b="0" i="0">
                <a:solidFill>
                  <a:srgbClr val="AEB6D8"/>
                </a:solidFill>
                <a:latin typeface="Consolas"/>
                <a:cs typeface="Consolas"/>
              </a:rPr>
              <a:t>                      </a:t>
            </a:r>
            <a:r>
              <a:rPr sz="1050" b="0" i="1">
                <a:solidFill>
                  <a:srgbClr val="6E7BA8"/>
                </a:solidFill>
                <a:latin typeface="Consolas"/>
                <a:cs typeface="Consolas"/>
              </a:rPr>
              <a:t># X_n = sum of xi_k</a:t>
            </a:r>
          </a:p>
          <a:p>
            <a:pPr algn="l">
              <a:lnSpc>
                <a:spcPct val="112000"/>
              </a:lnSpc>
              <a:spcAft>
                <a:spcPts val="0"/>
              </a:spcAft>
            </a:pPr>
            <a:r>
              <a:rPr sz="1050" b="0" i="0">
                <a:solidFill>
                  <a:srgbClr val="E6E9F5"/>
                </a:solidFill>
                <a:latin typeface="Consolas"/>
                <a:cs typeface="Consolas"/>
              </a:rPr>
              <a:t> </a:t>
            </a:r>
          </a:p>
          <a:p>
            <a:pPr algn="l">
              <a:lnSpc>
                <a:spcPct val="112000"/>
              </a:lnSpc>
              <a:spcAft>
                <a:spcPts val="0"/>
              </a:spcAft>
            </a:pPr>
            <a:r>
              <a:rPr sz="1050" b="0" i="1">
                <a:solidFill>
                  <a:srgbClr val="6E7BA8"/>
                </a:solidFill>
                <a:latin typeface="Consolas"/>
                <a:cs typeface="Consolas"/>
              </a:rPr>
              <a:t># ensemble: N walkers advanced together</a:t>
            </a:r>
          </a:p>
          <a:p>
            <a:pPr algn="l">
              <a:lnSpc>
                <a:spcPct val="112000"/>
              </a:lnSpc>
              <a:spcAft>
                <a:spcPts val="0"/>
              </a:spcAft>
            </a:pPr>
            <a:r>
              <a:rPr sz="1050" b="0" i="0">
                <a:solidFill>
                  <a:srgbClr val="F472B6"/>
                </a:solidFill>
                <a:latin typeface="Consolas"/>
                <a:cs typeface="Consolas"/>
              </a:rPr>
              <a:t>for</a:t>
            </a:r>
            <a:r>
              <a:rPr sz="1050" b="0" i="0">
                <a:solidFill>
                  <a:srgbClr val="AEB6D8"/>
                </a:solidFill>
                <a:latin typeface="Consolas"/>
                <a:cs typeface="Consolas"/>
              </a:rPr>
              <a:t> </a:t>
            </a:r>
            <a:r>
              <a:rPr sz="1050" b="0" i="0">
                <a:solidFill>
                  <a:srgbClr val="D7DCF0"/>
                </a:solidFill>
                <a:latin typeface="Consolas"/>
                <a:cs typeface="Consolas"/>
              </a:rPr>
              <a:t>t</a:t>
            </a:r>
            <a:r>
              <a:rPr sz="1050" b="0" i="0">
                <a:solidFill>
                  <a:srgbClr val="AEB6D8"/>
                </a:solidFill>
                <a:latin typeface="Consolas"/>
                <a:cs typeface="Consolas"/>
              </a:rPr>
              <a:t> </a:t>
            </a:r>
            <a:r>
              <a:rPr sz="1050" b="0" i="0">
                <a:solidFill>
                  <a:srgbClr val="F472B6"/>
                </a:solidFill>
                <a:latin typeface="Consolas"/>
                <a:cs typeface="Consolas"/>
              </a:rPr>
              <a:t>in</a:t>
            </a:r>
            <a:r>
              <a:rPr sz="1050" b="0" i="0">
                <a:solidFill>
                  <a:srgbClr val="AEB6D8"/>
                </a:solidFill>
                <a:latin typeface="Consolas"/>
                <a:cs typeface="Consolas"/>
              </a:rPr>
              <a:t> </a:t>
            </a:r>
            <a:r>
              <a:rPr sz="1050" b="0" i="0">
                <a:solidFill>
                  <a:srgbClr val="C084FC"/>
                </a:solidFill>
                <a:latin typeface="Consolas"/>
                <a:cs typeface="Consolas"/>
              </a:rPr>
              <a:t>range</a:t>
            </a:r>
            <a:r>
              <a:rPr sz="1050" b="0" i="0">
                <a:solidFill>
                  <a:srgbClr val="AEB6D8"/>
                </a:solidFill>
                <a:latin typeface="Consolas"/>
                <a:cs typeface="Consolas"/>
              </a:rPr>
              <a:t>(</a:t>
            </a:r>
            <a:r>
              <a:rPr sz="1050" b="0" i="0">
                <a:solidFill>
                  <a:srgbClr val="FBBF24"/>
                </a:solidFill>
                <a:latin typeface="Consolas"/>
                <a:cs typeface="Consolas"/>
              </a:rPr>
              <a:t>1</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n</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FBBF24"/>
                </a:solidFill>
                <a:latin typeface="Consolas"/>
                <a:cs typeface="Consolas"/>
              </a:rPr>
              <a:t>1</a:t>
            </a:r>
            <a:r>
              <a:rPr sz="1050" b="0" i="0">
                <a:solidFill>
                  <a:srgbClr val="AEB6D8"/>
                </a:solidFill>
                <a:latin typeface="Consolas"/>
                <a:cs typeface="Consolas"/>
              </a:rPr>
              <a:t>)</a:t>
            </a:r>
            <a:r>
              <a:rPr sz="1050" b="0" i="0">
                <a:solidFill>
                  <a:srgbClr val="AEB6D8"/>
                </a:solidFill>
                <a:latin typeface="Consolas"/>
                <a:cs typeface="Consolas"/>
              </a:rPr>
              <a:t>:</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pos</a:t>
            </a:r>
            <a:r>
              <a:rPr sz="1050" b="0" i="0">
                <a:solidFill>
                  <a:srgbClr val="AEB6D8"/>
                </a:solidFill>
                <a:latin typeface="Consolas"/>
                <a:cs typeface="Consolas"/>
              </a:rPr>
              <a:t>[</a:t>
            </a:r>
            <a:r>
              <a:rPr sz="1050" b="0" i="0">
                <a:solidFill>
                  <a:srgbClr val="D7DCF0"/>
                </a:solidFill>
                <a:latin typeface="Consolas"/>
                <a:cs typeface="Consolas"/>
              </a:rPr>
              <a:t>walkers</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axis</a:t>
            </a:r>
            <a:r>
              <a:rPr sz="1050" b="0" i="0">
                <a:solidFill>
                  <a:srgbClr val="AEB6D8"/>
                </a:solidFill>
                <a:latin typeface="Consolas"/>
                <a:cs typeface="Consolas"/>
              </a:rPr>
              <a:t>[</a:t>
            </a:r>
            <a:r>
              <a:rPr sz="1050" b="0" i="0">
                <a:solidFill>
                  <a:srgbClr val="D7DCF0"/>
                </a:solidFill>
                <a:latin typeface="Consolas"/>
                <a:cs typeface="Consolas"/>
              </a:rPr>
              <a:t>t</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sign</a:t>
            </a:r>
            <a:r>
              <a:rPr sz="1050" b="0" i="0">
                <a:solidFill>
                  <a:srgbClr val="AEB6D8"/>
                </a:solidFill>
                <a:latin typeface="Consolas"/>
                <a:cs typeface="Consolas"/>
              </a:rPr>
              <a:t>[</a:t>
            </a:r>
            <a:r>
              <a:rPr sz="1050" b="0" i="0">
                <a:solidFill>
                  <a:srgbClr val="D7DCF0"/>
                </a:solidFill>
                <a:latin typeface="Consolas"/>
                <a:cs typeface="Consolas"/>
              </a:rPr>
              <a:t>t</a:t>
            </a:r>
            <a:r>
              <a:rPr sz="1050" b="0" i="0">
                <a:solidFill>
                  <a:srgbClr val="AEB6D8"/>
                </a:solidFill>
                <a:latin typeface="Consolas"/>
                <a:cs typeface="Consolas"/>
              </a:rPr>
              <a:t>]</a:t>
            </a:r>
          </a:p>
          <a:p>
            <a:pPr algn="l">
              <a:lnSpc>
                <a:spcPct val="112000"/>
              </a:lnSpc>
              <a:spcAft>
                <a:spcPts val="0"/>
              </a:spcAft>
            </a:pPr>
            <a:r>
              <a:rPr sz="1050" b="0" i="0">
                <a:solidFill>
                  <a:srgbClr val="AEB6D8"/>
                </a:solidFill>
                <a:latin typeface="Consolas"/>
                <a:cs typeface="Consolas"/>
              </a:rPr>
              <a:t>    </a:t>
            </a:r>
            <a:r>
              <a:rPr sz="1050" b="0" i="0">
                <a:solidFill>
                  <a:srgbClr val="D7DCF0"/>
                </a:solidFill>
                <a:latin typeface="Consolas"/>
                <a:cs typeface="Consolas"/>
              </a:rPr>
              <a:t>returns</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C084FC"/>
                </a:solidFill>
                <a:latin typeface="Consolas"/>
                <a:cs typeface="Consolas"/>
              </a:rPr>
              <a:t>all</a:t>
            </a:r>
            <a:r>
              <a:rPr sz="1050" b="0" i="0">
                <a:solidFill>
                  <a:srgbClr val="AEB6D8"/>
                </a:solidFill>
                <a:latin typeface="Consolas"/>
                <a:cs typeface="Consolas"/>
              </a:rPr>
              <a:t>(</a:t>
            </a:r>
            <a:r>
              <a:rPr sz="1050" b="0" i="0">
                <a:solidFill>
                  <a:srgbClr val="D7DCF0"/>
                </a:solidFill>
                <a:latin typeface="Consolas"/>
                <a:cs typeface="Consolas"/>
              </a:rPr>
              <a:t>pos</a:t>
            </a:r>
            <a:r>
              <a:rPr sz="1050" b="0" i="0">
                <a:solidFill>
                  <a:srgbClr val="AEB6D8"/>
                </a:solidFill>
                <a:latin typeface="Consolas"/>
                <a:cs typeface="Consolas"/>
              </a:rPr>
              <a:t> </a:t>
            </a:r>
            <a:r>
              <a:rPr sz="1050" b="0" i="0">
                <a:solidFill>
                  <a:srgbClr val="AEB6D8"/>
                </a:solidFill>
                <a:latin typeface="Consolas"/>
                <a:cs typeface="Consolas"/>
              </a:rPr>
              <a:t>=</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FBBF24"/>
                </a:solidFill>
                <a:latin typeface="Consolas"/>
                <a:cs typeface="Consolas"/>
              </a:rPr>
              <a:t>0</a:t>
            </a:r>
            <a:r>
              <a:rPr sz="1050" b="0" i="0">
                <a:solidFill>
                  <a:srgbClr val="AEB6D8"/>
                </a:solidFill>
                <a:latin typeface="Consolas"/>
                <a:cs typeface="Consolas"/>
              </a:rPr>
              <a:t>,</a:t>
            </a:r>
            <a:r>
              <a:rPr sz="1050" b="0" i="0">
                <a:solidFill>
                  <a:srgbClr val="AEB6D8"/>
                </a:solidFill>
                <a:latin typeface="Consolas"/>
                <a:cs typeface="Consolas"/>
              </a:rPr>
              <a:t> </a:t>
            </a:r>
            <a:r>
              <a:rPr sz="1050" b="0" i="0">
                <a:solidFill>
                  <a:srgbClr val="D7DCF0"/>
                </a:solidFill>
                <a:latin typeface="Consolas"/>
                <a:cs typeface="Consolas"/>
              </a:rPr>
              <a:t>axis</a:t>
            </a:r>
            <a:r>
              <a:rPr sz="1050" b="0" i="0">
                <a:solidFill>
                  <a:srgbClr val="AEB6D8"/>
                </a:solidFill>
                <a:latin typeface="Consolas"/>
                <a:cs typeface="Consolas"/>
              </a:rPr>
              <a:t>=</a:t>
            </a:r>
            <a:r>
              <a:rPr sz="1050" b="0" i="0">
                <a:solidFill>
                  <a:srgbClr val="FBBF24"/>
                </a:solidFill>
                <a:latin typeface="Consolas"/>
                <a:cs typeface="Consolas"/>
              </a:rPr>
              <a:t>1</a:t>
            </a:r>
            <a:r>
              <a:rPr sz="1050" b="0" i="0">
                <a:solidFill>
                  <a:srgbClr val="AEB6D8"/>
                </a:solidFill>
                <a:latin typeface="Consolas"/>
                <a:cs typeface="Consolas"/>
              </a:rPr>
              <a:t>)</a:t>
            </a:r>
            <a:r>
              <a:rPr sz="1050" b="0" i="0">
                <a:solidFill>
                  <a:srgbClr val="AEB6D8"/>
                </a:solidFill>
                <a:latin typeface="Consolas"/>
                <a:cs typeface="Consolas"/>
              </a:rPr>
              <a:t>           </a:t>
            </a:r>
            <a:r>
              <a:rPr sz="1050" b="0" i="1">
                <a:solidFill>
                  <a:srgbClr val="6E7BA8"/>
                </a:solidFill>
                <a:latin typeface="Consolas"/>
                <a:cs typeface="Consolas"/>
              </a:rPr>
              <a:t># Polya check</a:t>
            </a:r>
          </a:p>
        </p:txBody>
      </p:sp>
      <p:sp>
        <p:nvSpPr>
          <p:cNvPr id="40" name="Rounded Rectangle 39"/>
          <p:cNvSpPr/>
          <p:nvPr/>
        </p:nvSpPr>
        <p:spPr>
          <a:xfrm>
            <a:off x="6446520" y="2852928"/>
            <a:ext cx="5193792" cy="3419856"/>
          </a:xfrm>
          <a:prstGeom prst="roundRect">
            <a:avLst>
              <a:gd name="adj" fmla="val 374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6675120" y="3072384"/>
            <a:ext cx="5486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30568" y="3008376"/>
            <a:ext cx="4645152"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Estimators &amp; statistical tests</a:t>
            </a:r>
          </a:p>
        </p:txBody>
      </p:sp>
      <p:pic>
        <p:nvPicPr>
          <p:cNvPr id="43" name="Picture 42" descr="eq_est.png"/>
          <p:cNvPicPr>
            <a:picLocks noChangeAspect="1"/>
          </p:cNvPicPr>
          <p:nvPr/>
        </p:nvPicPr>
        <p:blipFill>
          <a:blip r:embed="rId2"/>
          <a:stretch>
            <a:fillRect/>
          </a:stretch>
        </p:blipFill>
        <p:spPr>
          <a:xfrm>
            <a:off x="6702552" y="3364992"/>
            <a:ext cx="4585716" cy="521207"/>
          </a:xfrm>
          <a:prstGeom prst="rect">
            <a:avLst/>
          </a:prstGeom>
        </p:spPr>
      </p:pic>
      <p:pic>
        <p:nvPicPr>
          <p:cNvPr id="44" name="Picture 43" descr="eq_fit.png"/>
          <p:cNvPicPr>
            <a:picLocks noChangeAspect="1"/>
          </p:cNvPicPr>
          <p:nvPr/>
        </p:nvPicPr>
        <p:blipFill>
          <a:blip r:embed="rId3"/>
          <a:stretch>
            <a:fillRect/>
          </a:stretch>
        </p:blipFill>
        <p:spPr>
          <a:xfrm>
            <a:off x="6702552" y="3840480"/>
            <a:ext cx="2810256" cy="243840"/>
          </a:xfrm>
          <a:prstGeom prst="rect">
            <a:avLst/>
          </a:prstGeom>
        </p:spPr>
      </p:pic>
      <p:pic>
        <p:nvPicPr>
          <p:cNvPr id="45" name="Picture 44" descr="eq_ks.png"/>
          <p:cNvPicPr>
            <a:picLocks noChangeAspect="1"/>
          </p:cNvPicPr>
          <p:nvPr/>
        </p:nvPicPr>
        <p:blipFill>
          <a:blip r:embed="rId4"/>
          <a:stretch>
            <a:fillRect/>
          </a:stretch>
        </p:blipFill>
        <p:spPr>
          <a:xfrm>
            <a:off x="6702552" y="4224528"/>
            <a:ext cx="2109216" cy="284988"/>
          </a:xfrm>
          <a:prstGeom prst="rect">
            <a:avLst/>
          </a:prstGeom>
        </p:spPr>
      </p:pic>
      <p:sp>
        <p:nvSpPr>
          <p:cNvPr id="46" name="TextBox 45"/>
          <p:cNvSpPr txBox="1"/>
          <p:nvPr/>
        </p:nvSpPr>
        <p:spPr>
          <a:xfrm>
            <a:off x="9281160" y="4261104"/>
            <a:ext cx="2286000" cy="320040"/>
          </a:xfrm>
          <a:prstGeom prst="rect">
            <a:avLst/>
          </a:prstGeom>
          <a:noFill/>
        </p:spPr>
        <p:txBody>
          <a:bodyPr wrap="square" lIns="0" rIns="0" tIns="0" bIns="0" anchor="t">
            <a:spAutoFit/>
          </a:bodyPr>
          <a:lstStyle/>
          <a:p>
            <a:pPr algn="l">
              <a:spcAft>
                <a:spcPts val="0"/>
              </a:spcAft>
            </a:pPr>
            <a:r>
              <a:rPr sz="900" b="0" i="0">
                <a:solidFill>
                  <a:srgbClr val="5B6690"/>
                </a:solidFill>
                <a:latin typeface="Segoe UI"/>
                <a:cs typeface="Segoe UI"/>
              </a:rPr>
              <a:t>(continuity-corrected for lattice data)</a:t>
            </a:r>
          </a:p>
        </p:txBody>
      </p:sp>
      <p:sp>
        <p:nvSpPr>
          <p:cNvPr id="47" name="TextBox 46"/>
          <p:cNvSpPr txBox="1"/>
          <p:nvPr/>
        </p:nvSpPr>
        <p:spPr>
          <a:xfrm>
            <a:off x="6702552" y="4681728"/>
            <a:ext cx="4800600" cy="1554480"/>
          </a:xfrm>
          <a:prstGeom prst="rect">
            <a:avLst/>
          </a:prstGeom>
          <a:noFill/>
        </p:spPr>
        <p:txBody>
          <a:bodyPr wrap="square" lIns="0" rIns="0" tIns="0" bIns="0" anchor="t">
            <a:spAutoFit/>
          </a:bodyPr>
          <a:lstStyle/>
          <a:p>
            <a:pPr algn="l">
              <a:lnSpc>
                <a:spcPct val="105000"/>
              </a:lnSpc>
              <a:spcAft>
                <a:spcPts val="400"/>
              </a:spcAft>
            </a:pPr>
            <a:r>
              <a:rPr sz="1050" b="0" i="0">
                <a:solidFill>
                  <a:srgbClr val="FBBF24"/>
                </a:solidFill>
                <a:latin typeface="Segoe UI"/>
                <a:cs typeface="Segoe UI"/>
              </a:rPr>
              <a:t>▸  </a:t>
            </a:r>
            <a:r>
              <a:rPr sz="1050" b="0" i="0">
                <a:solidFill>
                  <a:srgbClr val="9AA3C7"/>
                </a:solidFill>
                <a:latin typeface="Segoe UI"/>
                <a:cs typeface="Segoe UI"/>
              </a:rPr>
              <a:t>Distinct sites </a:t>
            </a:r>
            <a:r>
              <a:rPr sz="1050" b="0" i="0">
                <a:solidFill>
                  <a:srgbClr val="9AA3C7"/>
                </a:solidFill>
                <a:latin typeface="Cambria Math"/>
                <a:cs typeface="Cambria Math"/>
              </a:rPr>
              <a:t>Sₙ</a:t>
            </a:r>
            <a:r>
              <a:rPr sz="1050" b="0" i="0">
                <a:solidFill>
                  <a:srgbClr val="9AA3C7"/>
                </a:solidFill>
                <a:latin typeface="Segoe UI"/>
                <a:cs typeface="Segoe UI"/>
              </a:rPr>
              <a:t> via a hash set of visited points; first-passage times with right-censoring</a:t>
            </a:r>
          </a:p>
          <a:p>
            <a:pPr algn="l">
              <a:lnSpc>
                <a:spcPct val="105000"/>
              </a:lnSpc>
              <a:spcAft>
                <a:spcPts val="400"/>
              </a:spcAft>
            </a:pPr>
            <a:r>
              <a:rPr sz="1050" b="0" i="0">
                <a:solidFill>
                  <a:srgbClr val="FBBF24"/>
                </a:solidFill>
                <a:latin typeface="Segoe UI"/>
                <a:cs typeface="Segoe UI"/>
              </a:rPr>
              <a:t>▸  </a:t>
            </a:r>
            <a:r>
              <a:rPr sz="1050" b="0" i="0">
                <a:solidFill>
                  <a:srgbClr val="9AA3C7"/>
                </a:solidFill>
                <a:latin typeface="Segoe UI"/>
                <a:cs typeface="Segoe UI"/>
              </a:rPr>
              <a:t>Fixed seeds ⇒ reproducible; memory </a:t>
            </a:r>
            <a:r>
              <a:rPr sz="1050" b="0" i="0">
                <a:solidFill>
                  <a:srgbClr val="9AA3C7"/>
                </a:solidFill>
                <a:latin typeface="Cambria Math"/>
                <a:cs typeface="Cambria Math"/>
              </a:rPr>
              <a:t>O(N·d)</a:t>
            </a:r>
            <a:r>
              <a:rPr sz="1050" b="0" i="0">
                <a:solidFill>
                  <a:srgbClr val="9AA3C7"/>
                </a:solidFill>
                <a:latin typeface="Segoe UI"/>
                <a:cs typeface="Segoe UI"/>
              </a:rPr>
              <a:t> by streaming statistics</a:t>
            </a:r>
          </a:p>
          <a:p>
            <a:pPr algn="l">
              <a:lnSpc>
                <a:spcPct val="105000"/>
              </a:lnSpc>
              <a:spcAft>
                <a:spcPts val="400"/>
              </a:spcAft>
            </a:pPr>
            <a:r>
              <a:rPr sz="1050" b="0" i="0">
                <a:solidFill>
                  <a:srgbClr val="FBBF24"/>
                </a:solidFill>
                <a:latin typeface="Segoe UI"/>
                <a:cs typeface="Segoe UI"/>
              </a:rPr>
              <a:t>▸  </a:t>
            </a:r>
            <a:r>
              <a:rPr sz="1050" b="0" i="0">
                <a:solidFill>
                  <a:srgbClr val="E6E9F5"/>
                </a:solidFill>
                <a:latin typeface="Segoe UI Semibold"/>
                <a:cs typeface="Segoe UI Semibold"/>
              </a:rPr>
              <a:t>94 automated tests</a:t>
            </a:r>
            <a:r>
              <a:rPr sz="1050" b="0" i="0">
                <a:solidFill>
                  <a:srgbClr val="9AA3C7"/>
                </a:solidFill>
                <a:latin typeface="Segoe UI"/>
                <a:cs typeface="Segoe UI"/>
              </a:rPr>
              <a:t>: one axis per step, uniform axis choice, </a:t>
            </a:r>
            <a:r>
              <a:rPr sz="1050" b="0" i="0">
                <a:solidFill>
                  <a:srgbClr val="9AA3C7"/>
                </a:solidFill>
                <a:latin typeface="Cambria Math"/>
                <a:cs typeface="Cambria Math"/>
              </a:rPr>
              <a:t>Var = n/d</a:t>
            </a:r>
            <a:r>
              <a:rPr sz="1050" b="0" i="0">
                <a:solidFill>
                  <a:srgbClr val="9AA3C7"/>
                </a:solidFill>
                <a:latin typeface="Segoe UI"/>
                <a:cs typeface="Segoe UI"/>
              </a:rPr>
              <a:t>, </a:t>
            </a:r>
            <a:r>
              <a:rPr sz="1050" b="0" i="0">
                <a:solidFill>
                  <a:srgbClr val="9AA3C7"/>
                </a:solidFill>
                <a:latin typeface="Cambria Math"/>
                <a:cs typeface="Cambria Math"/>
              </a:rPr>
              <a:t>E|X|² = n</a:t>
            </a:r>
            <a:r>
              <a:rPr sz="1050" b="0" i="0">
                <a:solidFill>
                  <a:srgbClr val="9AA3C7"/>
                </a:solidFill>
                <a:latin typeface="Segoe UI"/>
                <a:cs typeface="Segoe UI"/>
              </a:rPr>
              <a:t>, seeds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1879092"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1879092"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05  ·  RESULT I</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Mean squared displacement: E|Xₙ|² = n in every dimension</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06</a:t>
            </a:r>
            <a:r>
              <a:rPr sz="900" b="0" i="0">
                <a:solidFill>
                  <a:srgbClr val="5B6690"/>
                </a:solidFill>
                <a:latin typeface="Segoe UI Semibold"/>
                <a:cs typeface="Segoe UI Semibold"/>
              </a:rPr>
              <a:t>  /  10</a:t>
            </a:r>
          </a:p>
        </p:txBody>
      </p:sp>
      <p:sp>
        <p:nvSpPr>
          <p:cNvPr id="12" name="Rounded Rectangle 11"/>
          <p:cNvSpPr/>
          <p:nvPr/>
        </p:nvSpPr>
        <p:spPr>
          <a:xfrm>
            <a:off x="548640" y="1554480"/>
            <a:ext cx="7452360" cy="3154680"/>
          </a:xfrm>
          <a:prstGeom prst="roundRect">
            <a:avLst>
              <a:gd name="adj" fmla="val 4057"/>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msd_scaling.png"/>
          <p:cNvPicPr>
            <a:picLocks noChangeAspect="1"/>
          </p:cNvPicPr>
          <p:nvPr/>
        </p:nvPicPr>
        <p:blipFill>
          <a:blip r:embed="rId2"/>
          <a:stretch>
            <a:fillRect/>
          </a:stretch>
        </p:blipFill>
        <p:spPr>
          <a:xfrm>
            <a:off x="658368" y="1783203"/>
            <a:ext cx="7223760" cy="2697232"/>
          </a:xfrm>
          <a:prstGeom prst="rect">
            <a:avLst/>
          </a:prstGeom>
        </p:spPr>
      </p:pic>
      <p:sp>
        <p:nvSpPr>
          <p:cNvPr id="14" name="Rounded Rectangle 13"/>
          <p:cNvSpPr/>
          <p:nvPr/>
        </p:nvSpPr>
        <p:spPr>
          <a:xfrm>
            <a:off x="8138160" y="1554480"/>
            <a:ext cx="3502152" cy="3154680"/>
          </a:xfrm>
          <a:prstGeom prst="roundRect">
            <a:avLst>
              <a:gd name="adj" fmla="val 4057"/>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66760" y="1773936"/>
            <a:ext cx="54864" cy="237744"/>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22208" y="1709928"/>
            <a:ext cx="2953512" cy="36576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Semibold"/>
                <a:cs typeface="Segoe UI Semibold"/>
              </a:rPr>
              <a:t>n = 2,000  ·  N = 2,000 walkers</a:t>
            </a:r>
          </a:p>
        </p:txBody>
      </p:sp>
      <p:sp>
        <p:nvSpPr>
          <p:cNvPr id="17" name="TextBox 16"/>
          <p:cNvSpPr txBox="1"/>
          <p:nvPr/>
        </p:nvSpPr>
        <p:spPr>
          <a:xfrm>
            <a:off x="8366760" y="2057400"/>
            <a:ext cx="1371600" cy="274320"/>
          </a:xfrm>
          <a:prstGeom prst="rect">
            <a:avLst/>
          </a:prstGeom>
          <a:noFill/>
        </p:spPr>
        <p:txBody>
          <a:bodyPr wrap="square" lIns="0" rIns="0" tIns="0" bIns="0" anchor="t">
            <a:spAutoFit/>
          </a:bodyPr>
          <a:lstStyle/>
          <a:p>
            <a:pPr algn="l">
              <a:spcAft>
                <a:spcPts val="0"/>
              </a:spcAft>
            </a:pPr>
            <a:r>
              <a:rPr sz="1050" b="0" i="0">
                <a:solidFill>
                  <a:srgbClr val="5B6690"/>
                </a:solidFill>
                <a:latin typeface="Segoe UI Semibold"/>
                <a:cs typeface="Segoe UI Semibold"/>
              </a:rPr>
              <a:t>d</a:t>
            </a:r>
          </a:p>
        </p:txBody>
      </p:sp>
      <p:sp>
        <p:nvSpPr>
          <p:cNvPr id="18" name="TextBox 17"/>
          <p:cNvSpPr txBox="1"/>
          <p:nvPr/>
        </p:nvSpPr>
        <p:spPr>
          <a:xfrm>
            <a:off x="8732520" y="2057400"/>
            <a:ext cx="1371600" cy="274320"/>
          </a:xfrm>
          <a:prstGeom prst="rect">
            <a:avLst/>
          </a:prstGeom>
          <a:noFill/>
        </p:spPr>
        <p:txBody>
          <a:bodyPr wrap="square" lIns="0" rIns="0" tIns="0" bIns="0" anchor="t">
            <a:spAutoFit/>
          </a:bodyPr>
          <a:lstStyle/>
          <a:p>
            <a:pPr algn="l">
              <a:spcAft>
                <a:spcPts val="0"/>
              </a:spcAft>
            </a:pPr>
            <a:r>
              <a:rPr sz="1050" b="0" i="0">
                <a:solidFill>
                  <a:srgbClr val="5B6690"/>
                </a:solidFill>
                <a:latin typeface="Segoe UI Semibold"/>
                <a:cs typeface="Segoe UI Semibold"/>
              </a:rPr>
              <a:t>⟨|X|²⟩ ± SE</a:t>
            </a:r>
          </a:p>
        </p:txBody>
      </p:sp>
      <p:sp>
        <p:nvSpPr>
          <p:cNvPr id="19" name="TextBox 18"/>
          <p:cNvSpPr txBox="1"/>
          <p:nvPr/>
        </p:nvSpPr>
        <p:spPr>
          <a:xfrm>
            <a:off x="10104120" y="2057400"/>
            <a:ext cx="1371600" cy="274320"/>
          </a:xfrm>
          <a:prstGeom prst="rect">
            <a:avLst/>
          </a:prstGeom>
          <a:noFill/>
        </p:spPr>
        <p:txBody>
          <a:bodyPr wrap="square" lIns="0" rIns="0" tIns="0" bIns="0" anchor="t">
            <a:spAutoFit/>
          </a:bodyPr>
          <a:lstStyle/>
          <a:p>
            <a:pPr algn="l">
              <a:spcAft>
                <a:spcPts val="0"/>
              </a:spcAft>
            </a:pPr>
            <a:r>
              <a:rPr sz="1050" b="0" i="0">
                <a:solidFill>
                  <a:srgbClr val="5B6690"/>
                </a:solidFill>
                <a:latin typeface="Segoe UI Semibold"/>
                <a:cs typeface="Segoe UI Semibold"/>
              </a:rPr>
              <a:t>error</a:t>
            </a:r>
          </a:p>
        </p:txBody>
      </p:sp>
      <p:sp>
        <p:nvSpPr>
          <p:cNvPr id="20" name="TextBox 19"/>
          <p:cNvSpPr txBox="1"/>
          <p:nvPr/>
        </p:nvSpPr>
        <p:spPr>
          <a:xfrm>
            <a:off x="10835640" y="2057400"/>
            <a:ext cx="1371600" cy="274320"/>
          </a:xfrm>
          <a:prstGeom prst="rect">
            <a:avLst/>
          </a:prstGeom>
          <a:noFill/>
        </p:spPr>
        <p:txBody>
          <a:bodyPr wrap="square" lIns="0" rIns="0" tIns="0" bIns="0" anchor="t">
            <a:spAutoFit/>
          </a:bodyPr>
          <a:lstStyle/>
          <a:p>
            <a:pPr algn="l">
              <a:spcAft>
                <a:spcPts val="0"/>
              </a:spcAft>
            </a:pPr>
            <a:r>
              <a:rPr sz="1050" b="0" i="0">
                <a:solidFill>
                  <a:srgbClr val="5B6690"/>
                </a:solidFill>
                <a:latin typeface="Segoe UI Semibold"/>
                <a:cs typeface="Segoe UI Semibold"/>
              </a:rPr>
              <a:t>α̂</a:t>
            </a:r>
          </a:p>
        </p:txBody>
      </p:sp>
      <p:sp>
        <p:nvSpPr>
          <p:cNvPr id="21" name="Rectangle 20"/>
          <p:cNvSpPr/>
          <p:nvPr/>
        </p:nvSpPr>
        <p:spPr>
          <a:xfrm>
            <a:off x="8339327" y="2350008"/>
            <a:ext cx="3108960" cy="13716"/>
          </a:xfrm>
          <a:prstGeom prst="rect">
            <a:avLst/>
          </a:prstGeom>
          <a:solidFill>
            <a:srgbClr val="1F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66760" y="2450592"/>
            <a:ext cx="365760" cy="274320"/>
          </a:xfrm>
          <a:prstGeom prst="rect">
            <a:avLst/>
          </a:prstGeom>
          <a:noFill/>
        </p:spPr>
        <p:txBody>
          <a:bodyPr wrap="square" lIns="0" rIns="0" tIns="0" bIns="0" anchor="t">
            <a:spAutoFit/>
          </a:bodyPr>
          <a:lstStyle/>
          <a:p>
            <a:pPr algn="l">
              <a:spcAft>
                <a:spcPts val="0"/>
              </a:spcAft>
            </a:pPr>
            <a:r>
              <a:rPr sz="1200" b="0" i="0">
                <a:solidFill>
                  <a:srgbClr val="22D3EE"/>
                </a:solidFill>
                <a:latin typeface="Segoe UI Semibold"/>
                <a:cs typeface="Segoe UI Semibold"/>
              </a:rPr>
              <a:t>1D</a:t>
            </a:r>
          </a:p>
        </p:txBody>
      </p:sp>
      <p:sp>
        <p:nvSpPr>
          <p:cNvPr id="23" name="TextBox 22"/>
          <p:cNvSpPr txBox="1"/>
          <p:nvPr/>
        </p:nvSpPr>
        <p:spPr>
          <a:xfrm>
            <a:off x="8732520" y="2450592"/>
            <a:ext cx="146304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1968</a:t>
            </a:r>
            <a:r>
              <a:rPr sz="1200" b="0" i="0">
                <a:solidFill>
                  <a:srgbClr val="9AA3C7"/>
                </a:solidFill>
                <a:latin typeface="Cambria Math"/>
                <a:cs typeface="Cambria Math"/>
              </a:rPr>
              <a:t> ± 62</a:t>
            </a:r>
          </a:p>
        </p:txBody>
      </p:sp>
      <p:sp>
        <p:nvSpPr>
          <p:cNvPr id="24" name="TextBox 23"/>
          <p:cNvSpPr txBox="1"/>
          <p:nvPr/>
        </p:nvSpPr>
        <p:spPr>
          <a:xfrm>
            <a:off x="10104120" y="245059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a:cs typeface="Segoe UI"/>
              </a:rPr>
              <a:t>1.6 %</a:t>
            </a:r>
          </a:p>
        </p:txBody>
      </p:sp>
      <p:sp>
        <p:nvSpPr>
          <p:cNvPr id="25" name="TextBox 24"/>
          <p:cNvSpPr txBox="1"/>
          <p:nvPr/>
        </p:nvSpPr>
        <p:spPr>
          <a:xfrm>
            <a:off x="10835640" y="245059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0.505</a:t>
            </a:r>
          </a:p>
        </p:txBody>
      </p:sp>
      <p:sp>
        <p:nvSpPr>
          <p:cNvPr id="26" name="TextBox 25"/>
          <p:cNvSpPr txBox="1"/>
          <p:nvPr/>
        </p:nvSpPr>
        <p:spPr>
          <a:xfrm>
            <a:off x="8366760" y="2816352"/>
            <a:ext cx="365760" cy="274320"/>
          </a:xfrm>
          <a:prstGeom prst="rect">
            <a:avLst/>
          </a:prstGeom>
          <a:noFill/>
        </p:spPr>
        <p:txBody>
          <a:bodyPr wrap="square" lIns="0" rIns="0" tIns="0" bIns="0" anchor="t">
            <a:spAutoFit/>
          </a:bodyPr>
          <a:lstStyle/>
          <a:p>
            <a:pPr algn="l">
              <a:spcAft>
                <a:spcPts val="0"/>
              </a:spcAft>
            </a:pPr>
            <a:r>
              <a:rPr sz="1200" b="0" i="0">
                <a:solidFill>
                  <a:srgbClr val="818CF8"/>
                </a:solidFill>
                <a:latin typeface="Segoe UI Semibold"/>
                <a:cs typeface="Segoe UI Semibold"/>
              </a:rPr>
              <a:t>2D</a:t>
            </a:r>
          </a:p>
        </p:txBody>
      </p:sp>
      <p:sp>
        <p:nvSpPr>
          <p:cNvPr id="27" name="TextBox 26"/>
          <p:cNvSpPr txBox="1"/>
          <p:nvPr/>
        </p:nvSpPr>
        <p:spPr>
          <a:xfrm>
            <a:off x="8732520" y="2816352"/>
            <a:ext cx="146304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1989</a:t>
            </a:r>
            <a:r>
              <a:rPr sz="1200" b="0" i="0">
                <a:solidFill>
                  <a:srgbClr val="9AA3C7"/>
                </a:solidFill>
                <a:latin typeface="Cambria Math"/>
                <a:cs typeface="Cambria Math"/>
              </a:rPr>
              <a:t> ± 44</a:t>
            </a:r>
          </a:p>
        </p:txBody>
      </p:sp>
      <p:sp>
        <p:nvSpPr>
          <p:cNvPr id="28" name="TextBox 27"/>
          <p:cNvSpPr txBox="1"/>
          <p:nvPr/>
        </p:nvSpPr>
        <p:spPr>
          <a:xfrm>
            <a:off x="10104120" y="281635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a:cs typeface="Segoe UI"/>
              </a:rPr>
              <a:t>0.5 %</a:t>
            </a:r>
          </a:p>
        </p:txBody>
      </p:sp>
      <p:sp>
        <p:nvSpPr>
          <p:cNvPr id="29" name="TextBox 28"/>
          <p:cNvSpPr txBox="1"/>
          <p:nvPr/>
        </p:nvSpPr>
        <p:spPr>
          <a:xfrm>
            <a:off x="10835640" y="281635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0.502</a:t>
            </a:r>
          </a:p>
        </p:txBody>
      </p:sp>
      <p:sp>
        <p:nvSpPr>
          <p:cNvPr id="30" name="TextBox 29"/>
          <p:cNvSpPr txBox="1"/>
          <p:nvPr/>
        </p:nvSpPr>
        <p:spPr>
          <a:xfrm>
            <a:off x="8366760" y="3182112"/>
            <a:ext cx="365760" cy="274320"/>
          </a:xfrm>
          <a:prstGeom prst="rect">
            <a:avLst/>
          </a:prstGeom>
          <a:noFill/>
        </p:spPr>
        <p:txBody>
          <a:bodyPr wrap="square" lIns="0" rIns="0" tIns="0" bIns="0" anchor="t">
            <a:spAutoFit/>
          </a:bodyPr>
          <a:lstStyle/>
          <a:p>
            <a:pPr algn="l">
              <a:spcAft>
                <a:spcPts val="0"/>
              </a:spcAft>
            </a:pPr>
            <a:r>
              <a:rPr sz="1200" b="0" i="0">
                <a:solidFill>
                  <a:srgbClr val="F472B6"/>
                </a:solidFill>
                <a:latin typeface="Segoe UI Semibold"/>
                <a:cs typeface="Segoe UI Semibold"/>
              </a:rPr>
              <a:t>3D</a:t>
            </a:r>
          </a:p>
        </p:txBody>
      </p:sp>
      <p:sp>
        <p:nvSpPr>
          <p:cNvPr id="31" name="TextBox 30"/>
          <p:cNvSpPr txBox="1"/>
          <p:nvPr/>
        </p:nvSpPr>
        <p:spPr>
          <a:xfrm>
            <a:off x="8732520" y="3182112"/>
            <a:ext cx="146304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1995</a:t>
            </a:r>
            <a:r>
              <a:rPr sz="1200" b="0" i="0">
                <a:solidFill>
                  <a:srgbClr val="9AA3C7"/>
                </a:solidFill>
                <a:latin typeface="Cambria Math"/>
                <a:cs typeface="Cambria Math"/>
              </a:rPr>
              <a:t> ± 36</a:t>
            </a:r>
          </a:p>
        </p:txBody>
      </p:sp>
      <p:sp>
        <p:nvSpPr>
          <p:cNvPr id="32" name="TextBox 31"/>
          <p:cNvSpPr txBox="1"/>
          <p:nvPr/>
        </p:nvSpPr>
        <p:spPr>
          <a:xfrm>
            <a:off x="10104120" y="318211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a:cs typeface="Segoe UI"/>
              </a:rPr>
              <a:t>0.2 %</a:t>
            </a:r>
          </a:p>
        </p:txBody>
      </p:sp>
      <p:sp>
        <p:nvSpPr>
          <p:cNvPr id="33" name="TextBox 32"/>
          <p:cNvSpPr txBox="1"/>
          <p:nvPr/>
        </p:nvSpPr>
        <p:spPr>
          <a:xfrm>
            <a:off x="10835640" y="318211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0.498</a:t>
            </a:r>
          </a:p>
        </p:txBody>
      </p:sp>
      <p:sp>
        <p:nvSpPr>
          <p:cNvPr id="34" name="TextBox 33"/>
          <p:cNvSpPr txBox="1"/>
          <p:nvPr/>
        </p:nvSpPr>
        <p:spPr>
          <a:xfrm>
            <a:off x="8366760" y="3547872"/>
            <a:ext cx="365760" cy="274320"/>
          </a:xfrm>
          <a:prstGeom prst="rect">
            <a:avLst/>
          </a:prstGeom>
          <a:noFill/>
        </p:spPr>
        <p:txBody>
          <a:bodyPr wrap="square" lIns="0" rIns="0" tIns="0" bIns="0" anchor="t">
            <a:spAutoFit/>
          </a:bodyPr>
          <a:lstStyle/>
          <a:p>
            <a:pPr algn="l">
              <a:spcAft>
                <a:spcPts val="0"/>
              </a:spcAft>
            </a:pPr>
            <a:r>
              <a:rPr sz="1200" b="0" i="0">
                <a:solidFill>
                  <a:srgbClr val="FBBF24"/>
                </a:solidFill>
                <a:latin typeface="Segoe UI Semibold"/>
                <a:cs typeface="Segoe UI Semibold"/>
              </a:rPr>
              <a:t>4D</a:t>
            </a:r>
          </a:p>
        </p:txBody>
      </p:sp>
      <p:sp>
        <p:nvSpPr>
          <p:cNvPr id="35" name="TextBox 34"/>
          <p:cNvSpPr txBox="1"/>
          <p:nvPr/>
        </p:nvSpPr>
        <p:spPr>
          <a:xfrm>
            <a:off x="8732520" y="3547872"/>
            <a:ext cx="146304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1970</a:t>
            </a:r>
            <a:r>
              <a:rPr sz="1200" b="0" i="0">
                <a:solidFill>
                  <a:srgbClr val="9AA3C7"/>
                </a:solidFill>
                <a:latin typeface="Cambria Math"/>
                <a:cs typeface="Cambria Math"/>
              </a:rPr>
              <a:t> ± 30</a:t>
            </a:r>
          </a:p>
        </p:txBody>
      </p:sp>
      <p:sp>
        <p:nvSpPr>
          <p:cNvPr id="36" name="TextBox 35"/>
          <p:cNvSpPr txBox="1"/>
          <p:nvPr/>
        </p:nvSpPr>
        <p:spPr>
          <a:xfrm>
            <a:off x="10104120" y="354787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a:cs typeface="Segoe UI"/>
              </a:rPr>
              <a:t>1.5 %</a:t>
            </a:r>
          </a:p>
        </p:txBody>
      </p:sp>
      <p:sp>
        <p:nvSpPr>
          <p:cNvPr id="37" name="TextBox 36"/>
          <p:cNvSpPr txBox="1"/>
          <p:nvPr/>
        </p:nvSpPr>
        <p:spPr>
          <a:xfrm>
            <a:off x="10835640" y="354787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0.497</a:t>
            </a:r>
          </a:p>
        </p:txBody>
      </p:sp>
      <p:sp>
        <p:nvSpPr>
          <p:cNvPr id="38" name="TextBox 37"/>
          <p:cNvSpPr txBox="1"/>
          <p:nvPr/>
        </p:nvSpPr>
        <p:spPr>
          <a:xfrm>
            <a:off x="8366760" y="3913632"/>
            <a:ext cx="365760" cy="274320"/>
          </a:xfrm>
          <a:prstGeom prst="rect">
            <a:avLst/>
          </a:prstGeom>
          <a:noFill/>
        </p:spPr>
        <p:txBody>
          <a:bodyPr wrap="square" lIns="0" rIns="0" tIns="0" bIns="0" anchor="t">
            <a:spAutoFit/>
          </a:bodyPr>
          <a:lstStyle/>
          <a:p>
            <a:pPr algn="l">
              <a:spcAft>
                <a:spcPts val="0"/>
              </a:spcAft>
            </a:pPr>
            <a:r>
              <a:rPr sz="1200" b="0" i="0">
                <a:solidFill>
                  <a:srgbClr val="34D399"/>
                </a:solidFill>
                <a:latin typeface="Segoe UI Semibold"/>
                <a:cs typeface="Segoe UI Semibold"/>
              </a:rPr>
              <a:t>5D</a:t>
            </a:r>
          </a:p>
        </p:txBody>
      </p:sp>
      <p:sp>
        <p:nvSpPr>
          <p:cNvPr id="39" name="TextBox 38"/>
          <p:cNvSpPr txBox="1"/>
          <p:nvPr/>
        </p:nvSpPr>
        <p:spPr>
          <a:xfrm>
            <a:off x="8732520" y="3913632"/>
            <a:ext cx="146304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1967</a:t>
            </a:r>
            <a:r>
              <a:rPr sz="1200" b="0" i="0">
                <a:solidFill>
                  <a:srgbClr val="9AA3C7"/>
                </a:solidFill>
                <a:latin typeface="Cambria Math"/>
                <a:cs typeface="Cambria Math"/>
              </a:rPr>
              <a:t> ± 28</a:t>
            </a:r>
          </a:p>
        </p:txBody>
      </p:sp>
      <p:sp>
        <p:nvSpPr>
          <p:cNvPr id="40" name="TextBox 39"/>
          <p:cNvSpPr txBox="1"/>
          <p:nvPr/>
        </p:nvSpPr>
        <p:spPr>
          <a:xfrm>
            <a:off x="10104120" y="391363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Segoe UI"/>
                <a:cs typeface="Segoe UI"/>
              </a:rPr>
              <a:t>1.7 %</a:t>
            </a:r>
          </a:p>
        </p:txBody>
      </p:sp>
      <p:sp>
        <p:nvSpPr>
          <p:cNvPr id="41" name="TextBox 40"/>
          <p:cNvSpPr txBox="1"/>
          <p:nvPr/>
        </p:nvSpPr>
        <p:spPr>
          <a:xfrm>
            <a:off x="10835640" y="3913632"/>
            <a:ext cx="731520" cy="274320"/>
          </a:xfrm>
          <a:prstGeom prst="rect">
            <a:avLst/>
          </a:prstGeom>
          <a:noFill/>
        </p:spPr>
        <p:txBody>
          <a:bodyPr wrap="square" lIns="0" rIns="0" tIns="0" bIns="0" anchor="t">
            <a:spAutoFit/>
          </a:bodyPr>
          <a:lstStyle/>
          <a:p>
            <a:pPr algn="l">
              <a:spcAft>
                <a:spcPts val="0"/>
              </a:spcAft>
            </a:pPr>
            <a:r>
              <a:rPr sz="1200" b="0" i="0">
                <a:solidFill>
                  <a:srgbClr val="E6E9F5"/>
                </a:solidFill>
                <a:latin typeface="Cambria Math"/>
                <a:cs typeface="Cambria Math"/>
              </a:rPr>
              <a:t>0.500</a:t>
            </a:r>
          </a:p>
        </p:txBody>
      </p:sp>
      <p:sp>
        <p:nvSpPr>
          <p:cNvPr id="42" name="TextBox 41"/>
          <p:cNvSpPr txBox="1"/>
          <p:nvPr/>
        </p:nvSpPr>
        <p:spPr>
          <a:xfrm>
            <a:off x="8366760" y="4315968"/>
            <a:ext cx="3108960" cy="320040"/>
          </a:xfrm>
          <a:prstGeom prst="rect">
            <a:avLst/>
          </a:prstGeom>
          <a:noFill/>
        </p:spPr>
        <p:txBody>
          <a:bodyPr wrap="square" lIns="0" rIns="0" tIns="0" bIns="0" anchor="t">
            <a:spAutoFit/>
          </a:bodyPr>
          <a:lstStyle/>
          <a:p>
            <a:pPr algn="l">
              <a:spcAft>
                <a:spcPts val="0"/>
              </a:spcAft>
            </a:pPr>
            <a:r>
              <a:rPr sz="1000" b="0" i="0">
                <a:solidFill>
                  <a:srgbClr val="9AA3C7"/>
                </a:solidFill>
                <a:latin typeface="Segoe UI"/>
                <a:cs typeface="Segoe UI"/>
              </a:rPr>
              <a:t>theory: </a:t>
            </a:r>
            <a:r>
              <a:rPr sz="1000" b="0" i="0">
                <a:solidFill>
                  <a:srgbClr val="E6E9F5"/>
                </a:solidFill>
                <a:latin typeface="Cambria Math"/>
                <a:cs typeface="Cambria Math"/>
              </a:rPr>
              <a:t>n = 2000</a:t>
            </a:r>
            <a:r>
              <a:rPr sz="1000" b="0" i="0">
                <a:solidFill>
                  <a:srgbClr val="9AA3C7"/>
                </a:solidFill>
                <a:latin typeface="Segoe UI"/>
                <a:cs typeface="Segoe UI"/>
              </a:rPr>
              <a:t>   ·   all within 1.2 SE</a:t>
            </a:r>
          </a:p>
        </p:txBody>
      </p:sp>
      <p:sp>
        <p:nvSpPr>
          <p:cNvPr id="43" name="Rounded Rectangle 42"/>
          <p:cNvSpPr/>
          <p:nvPr/>
        </p:nvSpPr>
        <p:spPr>
          <a:xfrm>
            <a:off x="548640"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04672" y="4956048"/>
            <a:ext cx="3200400" cy="502920"/>
          </a:xfrm>
          <a:prstGeom prst="rect">
            <a:avLst/>
          </a:prstGeom>
          <a:noFill/>
        </p:spPr>
        <p:txBody>
          <a:bodyPr wrap="square" lIns="0" rIns="0" tIns="0" bIns="0" anchor="t">
            <a:spAutoFit/>
          </a:bodyPr>
          <a:lstStyle/>
          <a:p>
            <a:pPr algn="l">
              <a:spcAft>
                <a:spcPts val="0"/>
              </a:spcAft>
            </a:pPr>
            <a:r>
              <a:rPr sz="2400" b="0" i="0">
                <a:solidFill>
                  <a:srgbClr val="22D3EE"/>
                </a:solidFill>
                <a:latin typeface="Segoe UI Semibold"/>
                <a:cs typeface="Segoe UI Semibold"/>
              </a:rPr>
              <a:t>≈ 1.00</a:t>
            </a:r>
          </a:p>
        </p:txBody>
      </p:sp>
      <p:sp>
        <p:nvSpPr>
          <p:cNvPr id="45" name="TextBox 44"/>
          <p:cNvSpPr txBox="1"/>
          <p:nvPr/>
        </p:nvSpPr>
        <p:spPr>
          <a:xfrm>
            <a:off x="804672" y="5468112"/>
            <a:ext cx="3200400" cy="274320"/>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slope of MSD vs n</a:t>
            </a:r>
          </a:p>
        </p:txBody>
      </p:sp>
      <p:sp>
        <p:nvSpPr>
          <p:cNvPr id="46" name="TextBox 45"/>
          <p:cNvSpPr txBox="1"/>
          <p:nvPr/>
        </p:nvSpPr>
        <p:spPr>
          <a:xfrm>
            <a:off x="804672" y="5742432"/>
            <a:ext cx="3200400" cy="45720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fitted 0.984 – 1.004 across d = 1…5</a:t>
            </a:r>
          </a:p>
        </p:txBody>
      </p:sp>
      <p:sp>
        <p:nvSpPr>
          <p:cNvPr id="47" name="Rounded Rectangle 46"/>
          <p:cNvSpPr/>
          <p:nvPr/>
        </p:nvSpPr>
        <p:spPr>
          <a:xfrm>
            <a:off x="4293107"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49140" y="4956048"/>
            <a:ext cx="3200400" cy="502920"/>
          </a:xfrm>
          <a:prstGeom prst="rect">
            <a:avLst/>
          </a:prstGeom>
          <a:noFill/>
        </p:spPr>
        <p:txBody>
          <a:bodyPr wrap="square" lIns="0" rIns="0" tIns="0" bIns="0" anchor="t">
            <a:spAutoFit/>
          </a:bodyPr>
          <a:lstStyle/>
          <a:p>
            <a:pPr algn="l">
              <a:spcAft>
                <a:spcPts val="0"/>
              </a:spcAft>
            </a:pPr>
            <a:r>
              <a:rPr sz="2400" b="0" i="0">
                <a:solidFill>
                  <a:srgbClr val="818CF8"/>
                </a:solidFill>
                <a:latin typeface="Segoe UI Semibold"/>
                <a:cs typeface="Segoe UI Semibold"/>
              </a:rPr>
              <a:t>α̂ ≈ 0.50</a:t>
            </a:r>
          </a:p>
        </p:txBody>
      </p:sp>
      <p:sp>
        <p:nvSpPr>
          <p:cNvPr id="49" name="TextBox 48"/>
          <p:cNvSpPr txBox="1"/>
          <p:nvPr/>
        </p:nvSpPr>
        <p:spPr>
          <a:xfrm>
            <a:off x="4549140" y="5468112"/>
            <a:ext cx="3200400" cy="274320"/>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diffusive exponent</a:t>
            </a:r>
          </a:p>
        </p:txBody>
      </p:sp>
      <p:sp>
        <p:nvSpPr>
          <p:cNvPr id="50" name="TextBox 49"/>
          <p:cNvSpPr txBox="1"/>
          <p:nvPr/>
        </p:nvSpPr>
        <p:spPr>
          <a:xfrm>
            <a:off x="4549140" y="5742432"/>
            <a:ext cx="3200400" cy="45720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log–log fit: 0.497 – 0.505,  R² &gt; 0.999</a:t>
            </a:r>
          </a:p>
        </p:txBody>
      </p:sp>
      <p:sp>
        <p:nvSpPr>
          <p:cNvPr id="51" name="Rounded Rectangle 50"/>
          <p:cNvSpPr/>
          <p:nvPr/>
        </p:nvSpPr>
        <p:spPr>
          <a:xfrm>
            <a:off x="8037575"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293607" y="4956048"/>
            <a:ext cx="3200400" cy="502920"/>
          </a:xfrm>
          <a:prstGeom prst="rect">
            <a:avLst/>
          </a:prstGeom>
          <a:noFill/>
        </p:spPr>
        <p:txBody>
          <a:bodyPr wrap="square" lIns="0" rIns="0" tIns="0" bIns="0" anchor="t">
            <a:spAutoFit/>
          </a:bodyPr>
          <a:lstStyle/>
          <a:p>
            <a:pPr algn="l">
              <a:spcAft>
                <a:spcPts val="0"/>
              </a:spcAft>
            </a:pPr>
            <a:r>
              <a:rPr sz="2400" b="0" i="0">
                <a:solidFill>
                  <a:srgbClr val="F472B6"/>
                </a:solidFill>
                <a:latin typeface="Segoe UI Semibold"/>
                <a:cs typeface="Segoe UI Semibold"/>
              </a:rPr>
              <a:t>d-independent</a:t>
            </a:r>
          </a:p>
        </p:txBody>
      </p:sp>
      <p:sp>
        <p:nvSpPr>
          <p:cNvPr id="53" name="TextBox 52"/>
          <p:cNvSpPr txBox="1"/>
          <p:nvPr/>
        </p:nvSpPr>
        <p:spPr>
          <a:xfrm>
            <a:off x="8293607" y="5468112"/>
            <a:ext cx="3200400" cy="274320"/>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total spread is the same</a:t>
            </a:r>
          </a:p>
        </p:txBody>
      </p:sp>
      <p:sp>
        <p:nvSpPr>
          <p:cNvPr id="54" name="TextBox 53"/>
          <p:cNvSpPr txBox="1"/>
          <p:nvPr/>
        </p:nvSpPr>
        <p:spPr>
          <a:xfrm>
            <a:off x="8293607" y="5742432"/>
            <a:ext cx="3200400" cy="45720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Segoe UI"/>
                <a:cs typeface="Segoe UI"/>
              </a:rPr>
              <a:t>variance n/d is shared among d axes — the sum is always 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1982419"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1982419"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06  ·  RESULT II</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Distributions: the Central Limit Theorem in action</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07</a:t>
            </a:r>
            <a:r>
              <a:rPr sz="900" b="0" i="0">
                <a:solidFill>
                  <a:srgbClr val="5B6690"/>
                </a:solidFill>
                <a:latin typeface="Segoe UI Semibold"/>
                <a:cs typeface="Segoe UI Semibold"/>
              </a:rPr>
              <a:t>  /  10</a:t>
            </a:r>
          </a:p>
        </p:txBody>
      </p:sp>
      <p:sp>
        <p:nvSpPr>
          <p:cNvPr id="12" name="Rounded Rectangle 11"/>
          <p:cNvSpPr/>
          <p:nvPr/>
        </p:nvSpPr>
        <p:spPr>
          <a:xfrm>
            <a:off x="548640" y="1554480"/>
            <a:ext cx="11091672" cy="3063240"/>
          </a:xfrm>
          <a:prstGeom prst="roundRect">
            <a:avLst>
              <a:gd name="adj" fmla="val 417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stributions.png"/>
          <p:cNvPicPr>
            <a:picLocks noChangeAspect="1"/>
          </p:cNvPicPr>
          <p:nvPr/>
        </p:nvPicPr>
        <p:blipFill>
          <a:blip r:embed="rId2"/>
          <a:stretch>
            <a:fillRect/>
          </a:stretch>
        </p:blipFill>
        <p:spPr>
          <a:xfrm>
            <a:off x="685800" y="1795680"/>
            <a:ext cx="10835640" cy="2589982"/>
          </a:xfrm>
          <a:prstGeom prst="rect">
            <a:avLst/>
          </a:prstGeom>
        </p:spPr>
      </p:pic>
      <p:sp>
        <p:nvSpPr>
          <p:cNvPr id="14" name="TextBox 13"/>
          <p:cNvSpPr txBox="1"/>
          <p:nvPr/>
        </p:nvSpPr>
        <p:spPr>
          <a:xfrm>
            <a:off x="548640" y="4663440"/>
            <a:ext cx="11091672" cy="228600"/>
          </a:xfrm>
          <a:prstGeom prst="rect">
            <a:avLst/>
          </a:prstGeom>
          <a:noFill/>
        </p:spPr>
        <p:txBody>
          <a:bodyPr wrap="square" lIns="0" rIns="0" tIns="0" bIns="0" anchor="t">
            <a:spAutoFit/>
          </a:bodyPr>
          <a:lstStyle/>
          <a:p>
            <a:pPr algn="ctr">
              <a:spcAft>
                <a:spcPts val="0"/>
              </a:spcAft>
            </a:pPr>
            <a:r>
              <a:rPr sz="950" b="0" i="0">
                <a:solidFill>
                  <a:srgbClr val="5B6690"/>
                </a:solidFill>
                <a:latin typeface="Segoe UI"/>
                <a:cs typeface="Segoe UI"/>
              </a:rPr>
              <a:t>n = 1,000 steps   ·   N = 20,000 walkers   ·   white curves are exact theory, not fits</a:t>
            </a:r>
          </a:p>
        </p:txBody>
      </p:sp>
      <p:sp>
        <p:nvSpPr>
          <p:cNvPr id="15" name="Rounded Rectangle 14"/>
          <p:cNvSpPr/>
          <p:nvPr/>
        </p:nvSpPr>
        <p:spPr>
          <a:xfrm>
            <a:off x="548640" y="4956048"/>
            <a:ext cx="2670048" cy="1316736"/>
          </a:xfrm>
          <a:prstGeom prst="roundRect">
            <a:avLst>
              <a:gd name="adj" fmla="val 9722"/>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49808" y="5120640"/>
            <a:ext cx="54864" cy="219456"/>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5074920"/>
            <a:ext cx="2240280" cy="292608"/>
          </a:xfrm>
          <a:prstGeom prst="rect">
            <a:avLst/>
          </a:prstGeom>
          <a:noFill/>
        </p:spPr>
        <p:txBody>
          <a:bodyPr wrap="square" lIns="0" rIns="0" tIns="0" bIns="0" anchor="t">
            <a:spAutoFit/>
          </a:bodyPr>
          <a:lstStyle/>
          <a:p>
            <a:pPr algn="l">
              <a:spcAft>
                <a:spcPts val="0"/>
              </a:spcAft>
            </a:pPr>
            <a:r>
              <a:rPr sz="1200" b="0" i="0">
                <a:solidFill>
                  <a:srgbClr val="E6E9F5"/>
                </a:solidFill>
                <a:latin typeface="Segoe UI Semibold"/>
                <a:cs typeface="Segoe UI Semibold"/>
              </a:rPr>
              <a:t>Coordinate variance</a:t>
            </a:r>
          </a:p>
        </p:txBody>
      </p:sp>
      <p:sp>
        <p:nvSpPr>
          <p:cNvPr id="18" name="TextBox 17"/>
          <p:cNvSpPr txBox="1"/>
          <p:nvPr/>
        </p:nvSpPr>
        <p:spPr>
          <a:xfrm>
            <a:off x="768096" y="5440680"/>
            <a:ext cx="2331720" cy="777240"/>
          </a:xfrm>
          <a:prstGeom prst="rect">
            <a:avLst/>
          </a:prstGeom>
          <a:noFill/>
        </p:spPr>
        <p:txBody>
          <a:bodyPr wrap="square" lIns="0" rIns="0" tIns="0" bIns="0" anchor="t">
            <a:spAutoFit/>
          </a:bodyPr>
          <a:lstStyle/>
          <a:p>
            <a:pPr algn="l">
              <a:lnSpc>
                <a:spcPct val="102000"/>
              </a:lnSpc>
              <a:spcAft>
                <a:spcPts val="300"/>
              </a:spcAft>
            </a:pPr>
            <a:r>
              <a:rPr sz="1050" b="0" i="0">
                <a:solidFill>
                  <a:srgbClr val="9AA3C7"/>
                </a:solidFill>
                <a:latin typeface="Cambria Math"/>
                <a:cs typeface="Cambria Math"/>
              </a:rPr>
              <a:t>1D: </a:t>
            </a:r>
            <a:r>
              <a:rPr sz="1050" b="0" i="0">
                <a:solidFill>
                  <a:srgbClr val="E6E9F5"/>
                </a:solidFill>
                <a:latin typeface="Cambria Math"/>
                <a:cs typeface="Cambria Math"/>
              </a:rPr>
              <a:t>994</a:t>
            </a:r>
            <a:r>
              <a:rPr sz="1050" b="0" i="0">
                <a:solidFill>
                  <a:srgbClr val="9AA3C7"/>
                </a:solidFill>
                <a:latin typeface="Segoe UI"/>
                <a:cs typeface="Segoe UI"/>
              </a:rPr>
              <a:t>  vs  </a:t>
            </a:r>
            <a:r>
              <a:rPr sz="1050" b="0" i="0">
                <a:solidFill>
                  <a:srgbClr val="E6E9F5"/>
                </a:solidFill>
                <a:latin typeface="Cambria Math"/>
                <a:cs typeface="Cambria Math"/>
              </a:rPr>
              <a:t>n = 1000</a:t>
            </a:r>
          </a:p>
          <a:p>
            <a:pPr algn="l">
              <a:lnSpc>
                <a:spcPct val="102000"/>
              </a:lnSpc>
              <a:spcAft>
                <a:spcPts val="300"/>
              </a:spcAft>
            </a:pPr>
            <a:r>
              <a:rPr sz="1050" b="0" i="0">
                <a:solidFill>
                  <a:srgbClr val="9AA3C7"/>
                </a:solidFill>
                <a:latin typeface="Cambria Math"/>
                <a:cs typeface="Cambria Math"/>
              </a:rPr>
              <a:t>3D: </a:t>
            </a:r>
            <a:r>
              <a:rPr sz="1050" b="0" i="0">
                <a:solidFill>
                  <a:srgbClr val="E6E9F5"/>
                </a:solidFill>
                <a:latin typeface="Cambria Math"/>
                <a:cs typeface="Cambria Math"/>
              </a:rPr>
              <a:t>332.7</a:t>
            </a:r>
            <a:r>
              <a:rPr sz="1050" b="0" i="0">
                <a:solidFill>
                  <a:srgbClr val="9AA3C7"/>
                </a:solidFill>
                <a:latin typeface="Segoe UI"/>
                <a:cs typeface="Segoe UI"/>
              </a:rPr>
              <a:t>  vs  </a:t>
            </a:r>
            <a:r>
              <a:rPr sz="1050" b="0" i="0">
                <a:solidFill>
                  <a:srgbClr val="E6E9F5"/>
                </a:solidFill>
                <a:latin typeface="Cambria Math"/>
                <a:cs typeface="Cambria Math"/>
              </a:rPr>
              <a:t>n/3 = 333.3</a:t>
            </a:r>
          </a:p>
        </p:txBody>
      </p:sp>
      <p:sp>
        <p:nvSpPr>
          <p:cNvPr id="19" name="Rounded Rectangle 18"/>
          <p:cNvSpPr/>
          <p:nvPr/>
        </p:nvSpPr>
        <p:spPr>
          <a:xfrm>
            <a:off x="3355848" y="4956048"/>
            <a:ext cx="2670048" cy="1316736"/>
          </a:xfrm>
          <a:prstGeom prst="roundRect">
            <a:avLst>
              <a:gd name="adj" fmla="val 9722"/>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3557016" y="5120640"/>
            <a:ext cx="54864" cy="219456"/>
          </a:xfrm>
          <a:prstGeom prst="roundRect">
            <a:avLst>
              <a:gd name="adj" fmla="val 50000"/>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703320" y="5074920"/>
            <a:ext cx="2240280" cy="292608"/>
          </a:xfrm>
          <a:prstGeom prst="rect">
            <a:avLst/>
          </a:prstGeom>
          <a:noFill/>
        </p:spPr>
        <p:txBody>
          <a:bodyPr wrap="square" lIns="0" rIns="0" tIns="0" bIns="0" anchor="t">
            <a:spAutoFit/>
          </a:bodyPr>
          <a:lstStyle/>
          <a:p>
            <a:pPr algn="l">
              <a:spcAft>
                <a:spcPts val="0"/>
              </a:spcAft>
            </a:pPr>
            <a:r>
              <a:rPr sz="1200" b="0" i="0">
                <a:solidFill>
                  <a:srgbClr val="E6E9F5"/>
                </a:solidFill>
                <a:latin typeface="Segoe UI Semibold"/>
                <a:cs typeface="Segoe UI Semibold"/>
              </a:rPr>
              <a:t>Mean radius (Γ formula)</a:t>
            </a:r>
          </a:p>
        </p:txBody>
      </p:sp>
      <p:sp>
        <p:nvSpPr>
          <p:cNvPr id="22" name="TextBox 21"/>
          <p:cNvSpPr txBox="1"/>
          <p:nvPr/>
        </p:nvSpPr>
        <p:spPr>
          <a:xfrm>
            <a:off x="3575304" y="5440680"/>
            <a:ext cx="2331720" cy="777240"/>
          </a:xfrm>
          <a:prstGeom prst="rect">
            <a:avLst/>
          </a:prstGeom>
          <a:noFill/>
        </p:spPr>
        <p:txBody>
          <a:bodyPr wrap="square" lIns="0" rIns="0" tIns="0" bIns="0" anchor="t">
            <a:spAutoFit/>
          </a:bodyPr>
          <a:lstStyle/>
          <a:p>
            <a:pPr algn="l">
              <a:lnSpc>
                <a:spcPct val="102000"/>
              </a:lnSpc>
              <a:spcAft>
                <a:spcPts val="300"/>
              </a:spcAft>
            </a:pPr>
            <a:r>
              <a:rPr sz="1050" b="0" i="0">
                <a:solidFill>
                  <a:srgbClr val="9AA3C7"/>
                </a:solidFill>
                <a:latin typeface="Cambria Math"/>
                <a:cs typeface="Cambria Math"/>
              </a:rPr>
              <a:t>2D: </a:t>
            </a:r>
            <a:r>
              <a:rPr sz="1050" b="0" i="0">
                <a:solidFill>
                  <a:srgbClr val="E6E9F5"/>
                </a:solidFill>
                <a:latin typeface="Cambria Math"/>
                <a:cs typeface="Cambria Math"/>
              </a:rPr>
              <a:t>27.94</a:t>
            </a:r>
            <a:r>
              <a:rPr sz="1050" b="0" i="0">
                <a:solidFill>
                  <a:srgbClr val="9AA3C7"/>
                </a:solidFill>
                <a:latin typeface="Segoe UI"/>
                <a:cs typeface="Segoe UI"/>
              </a:rPr>
              <a:t>  vs  </a:t>
            </a:r>
            <a:r>
              <a:rPr sz="1050" b="0" i="0">
                <a:solidFill>
                  <a:srgbClr val="E6E9F5"/>
                </a:solidFill>
                <a:latin typeface="Cambria Math"/>
                <a:cs typeface="Cambria Math"/>
              </a:rPr>
              <a:t>28.02</a:t>
            </a:r>
          </a:p>
          <a:p>
            <a:pPr algn="l">
              <a:lnSpc>
                <a:spcPct val="102000"/>
              </a:lnSpc>
              <a:spcAft>
                <a:spcPts val="300"/>
              </a:spcAft>
            </a:pPr>
            <a:r>
              <a:rPr sz="1050" b="0" i="0">
                <a:solidFill>
                  <a:srgbClr val="9AA3C7"/>
                </a:solidFill>
                <a:latin typeface="Cambria Math"/>
                <a:cs typeface="Cambria Math"/>
              </a:rPr>
              <a:t>3D: </a:t>
            </a:r>
            <a:r>
              <a:rPr sz="1050" b="0" i="0">
                <a:solidFill>
                  <a:srgbClr val="E6E9F5"/>
                </a:solidFill>
                <a:latin typeface="Cambria Math"/>
                <a:cs typeface="Cambria Math"/>
              </a:rPr>
              <a:t>29.03</a:t>
            </a:r>
            <a:r>
              <a:rPr sz="1050" b="0" i="0">
                <a:solidFill>
                  <a:srgbClr val="9AA3C7"/>
                </a:solidFill>
                <a:latin typeface="Segoe UI"/>
                <a:cs typeface="Segoe UI"/>
              </a:rPr>
              <a:t>  vs  </a:t>
            </a:r>
            <a:r>
              <a:rPr sz="1050" b="0" i="0">
                <a:solidFill>
                  <a:srgbClr val="E6E9F5"/>
                </a:solidFill>
                <a:latin typeface="Cambria Math"/>
                <a:cs typeface="Cambria Math"/>
              </a:rPr>
              <a:t>29.13</a:t>
            </a:r>
          </a:p>
        </p:txBody>
      </p:sp>
      <p:sp>
        <p:nvSpPr>
          <p:cNvPr id="23" name="Rounded Rectangle 22"/>
          <p:cNvSpPr/>
          <p:nvPr/>
        </p:nvSpPr>
        <p:spPr>
          <a:xfrm>
            <a:off x="6163055" y="4956048"/>
            <a:ext cx="2670048" cy="1316736"/>
          </a:xfrm>
          <a:prstGeom prst="roundRect">
            <a:avLst>
              <a:gd name="adj" fmla="val 9722"/>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364223" y="5120640"/>
            <a:ext cx="54864" cy="219456"/>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10527" y="5074920"/>
            <a:ext cx="2240280" cy="292608"/>
          </a:xfrm>
          <a:prstGeom prst="rect">
            <a:avLst/>
          </a:prstGeom>
          <a:noFill/>
        </p:spPr>
        <p:txBody>
          <a:bodyPr wrap="square" lIns="0" rIns="0" tIns="0" bIns="0" anchor="t">
            <a:spAutoFit/>
          </a:bodyPr>
          <a:lstStyle/>
          <a:p>
            <a:pPr algn="l">
              <a:spcAft>
                <a:spcPts val="0"/>
              </a:spcAft>
            </a:pPr>
            <a:r>
              <a:rPr sz="1200" b="0" i="0">
                <a:solidFill>
                  <a:srgbClr val="E6E9F5"/>
                </a:solidFill>
                <a:latin typeface="Segoe UI Semibold"/>
                <a:cs typeface="Segoe UI Semibold"/>
              </a:rPr>
              <a:t>Goodness of fit</a:t>
            </a:r>
          </a:p>
        </p:txBody>
      </p:sp>
      <p:sp>
        <p:nvSpPr>
          <p:cNvPr id="26" name="TextBox 25"/>
          <p:cNvSpPr txBox="1"/>
          <p:nvPr/>
        </p:nvSpPr>
        <p:spPr>
          <a:xfrm>
            <a:off x="6382512" y="5440680"/>
            <a:ext cx="2331720" cy="777240"/>
          </a:xfrm>
          <a:prstGeom prst="rect">
            <a:avLst/>
          </a:prstGeom>
          <a:noFill/>
        </p:spPr>
        <p:txBody>
          <a:bodyPr wrap="square" lIns="0" rIns="0" tIns="0" bIns="0" anchor="t">
            <a:spAutoFit/>
          </a:bodyPr>
          <a:lstStyle/>
          <a:p>
            <a:pPr algn="l">
              <a:lnSpc>
                <a:spcPct val="102000"/>
              </a:lnSpc>
              <a:spcAft>
                <a:spcPts val="300"/>
              </a:spcAft>
            </a:pPr>
            <a:r>
              <a:rPr sz="1050" b="0" i="0">
                <a:solidFill>
                  <a:srgbClr val="9AA3C7"/>
                </a:solidFill>
                <a:latin typeface="Segoe UI"/>
                <a:cs typeface="Segoe UI"/>
              </a:rPr>
              <a:t>KS  p = </a:t>
            </a:r>
            <a:r>
              <a:rPr sz="1050" b="0" i="0">
                <a:solidFill>
                  <a:srgbClr val="E6E9F5"/>
                </a:solidFill>
                <a:latin typeface="Cambria Math"/>
                <a:cs typeface="Cambria Math"/>
              </a:rPr>
              <a:t>0.18</a:t>
            </a:r>
            <a:r>
              <a:rPr sz="1050" b="0" i="0">
                <a:solidFill>
                  <a:srgbClr val="9AA3C7"/>
                </a:solidFill>
                <a:latin typeface="Segoe UI"/>
                <a:cs typeface="Segoe UI"/>
              </a:rPr>
              <a:t> (1D), </a:t>
            </a:r>
            <a:r>
              <a:rPr sz="1050" b="0" i="0">
                <a:solidFill>
                  <a:srgbClr val="E6E9F5"/>
                </a:solidFill>
                <a:latin typeface="Cambria Math"/>
                <a:cs typeface="Cambria Math"/>
              </a:rPr>
              <a:t>0.78</a:t>
            </a:r>
            <a:r>
              <a:rPr sz="1050" b="0" i="0">
                <a:solidFill>
                  <a:srgbClr val="9AA3C7"/>
                </a:solidFill>
                <a:latin typeface="Segoe UI"/>
                <a:cs typeface="Segoe UI"/>
              </a:rPr>
              <a:t> (3D)</a:t>
            </a:r>
          </a:p>
          <a:p>
            <a:pPr algn="l">
              <a:lnSpc>
                <a:spcPct val="102000"/>
              </a:lnSpc>
              <a:spcAft>
                <a:spcPts val="300"/>
              </a:spcAft>
            </a:pPr>
            <a:r>
              <a:rPr sz="1050" b="0" i="0">
                <a:solidFill>
                  <a:srgbClr val="9AA3C7"/>
                </a:solidFill>
                <a:latin typeface="Segoe UI"/>
                <a:cs typeface="Segoe UI"/>
              </a:rPr>
              <a:t>χ²  p = </a:t>
            </a:r>
            <a:r>
              <a:rPr sz="1050" b="0" i="0">
                <a:solidFill>
                  <a:srgbClr val="E6E9F5"/>
                </a:solidFill>
                <a:latin typeface="Cambria Math"/>
                <a:cs typeface="Cambria Math"/>
              </a:rPr>
              <a:t>0.39</a:t>
            </a:r>
            <a:r>
              <a:rPr sz="1050" b="0" i="0">
                <a:solidFill>
                  <a:srgbClr val="9AA3C7"/>
                </a:solidFill>
                <a:latin typeface="Segoe UI"/>
                <a:cs typeface="Segoe UI"/>
              </a:rPr>
              <a:t>, </a:t>
            </a:r>
            <a:r>
              <a:rPr sz="1050" b="0" i="0">
                <a:solidFill>
                  <a:srgbClr val="E6E9F5"/>
                </a:solidFill>
                <a:latin typeface="Cambria Math"/>
                <a:cs typeface="Cambria Math"/>
              </a:rPr>
              <a:t>0.72</a:t>
            </a:r>
            <a:r>
              <a:rPr sz="1050" b="0" i="0">
                <a:solidFill>
                  <a:srgbClr val="9AA3C7"/>
                </a:solidFill>
                <a:latin typeface="Segoe UI"/>
                <a:cs typeface="Segoe UI"/>
              </a:rPr>
              <a:t>  → Gaussian not rejected</a:t>
            </a:r>
          </a:p>
        </p:txBody>
      </p:sp>
      <p:sp>
        <p:nvSpPr>
          <p:cNvPr id="27" name="Rounded Rectangle 26"/>
          <p:cNvSpPr/>
          <p:nvPr/>
        </p:nvSpPr>
        <p:spPr>
          <a:xfrm>
            <a:off x="8970263" y="4956048"/>
            <a:ext cx="2670048" cy="1316736"/>
          </a:xfrm>
          <a:prstGeom prst="roundRect">
            <a:avLst>
              <a:gd name="adj" fmla="val 9722"/>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9171432" y="5120640"/>
            <a:ext cx="54864" cy="219456"/>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317736" y="5074920"/>
            <a:ext cx="2240280" cy="292608"/>
          </a:xfrm>
          <a:prstGeom prst="rect">
            <a:avLst/>
          </a:prstGeom>
          <a:noFill/>
        </p:spPr>
        <p:txBody>
          <a:bodyPr wrap="square" lIns="0" rIns="0" tIns="0" bIns="0" anchor="t">
            <a:spAutoFit/>
          </a:bodyPr>
          <a:lstStyle/>
          <a:p>
            <a:pPr algn="l">
              <a:spcAft>
                <a:spcPts val="0"/>
              </a:spcAft>
            </a:pPr>
            <a:r>
              <a:rPr sz="1200" b="0" i="0">
                <a:solidFill>
                  <a:srgbClr val="E6E9F5"/>
                </a:solidFill>
                <a:latin typeface="Segoe UI Semibold"/>
                <a:cs typeface="Segoe UI Semibold"/>
              </a:rPr>
              <a:t>Lattice subtlety</a:t>
            </a:r>
          </a:p>
        </p:txBody>
      </p:sp>
      <p:sp>
        <p:nvSpPr>
          <p:cNvPr id="30" name="TextBox 29"/>
          <p:cNvSpPr txBox="1"/>
          <p:nvPr/>
        </p:nvSpPr>
        <p:spPr>
          <a:xfrm>
            <a:off x="9189719" y="5440680"/>
            <a:ext cx="2331720" cy="777240"/>
          </a:xfrm>
          <a:prstGeom prst="rect">
            <a:avLst/>
          </a:prstGeom>
          <a:noFill/>
        </p:spPr>
        <p:txBody>
          <a:bodyPr wrap="square" lIns="0" rIns="0" tIns="0" bIns="0" anchor="t">
            <a:spAutoFit/>
          </a:bodyPr>
          <a:lstStyle/>
          <a:p>
            <a:pPr algn="l">
              <a:lnSpc>
                <a:spcPct val="102000"/>
              </a:lnSpc>
              <a:spcAft>
                <a:spcPts val="300"/>
              </a:spcAft>
            </a:pPr>
            <a:r>
              <a:rPr sz="1050" b="0" i="0">
                <a:solidFill>
                  <a:srgbClr val="9AA3C7"/>
                </a:solidFill>
                <a:latin typeface="Segoe UI"/>
                <a:cs typeface="Segoe UI"/>
              </a:rPr>
              <a:t>A naive KS test rejects at large N because walk positions are integers.</a:t>
            </a:r>
          </a:p>
          <a:p>
            <a:pPr algn="l">
              <a:lnSpc>
                <a:spcPct val="102000"/>
              </a:lnSpc>
              <a:spcAft>
                <a:spcPts val="300"/>
              </a:spcAft>
            </a:pPr>
            <a:r>
              <a:rPr sz="1050" b="0" i="0">
                <a:solidFill>
                  <a:srgbClr val="9AA3C7"/>
                </a:solidFill>
                <a:latin typeface="Segoe UI"/>
                <a:cs typeface="Segoe UI"/>
              </a:rPr>
              <a:t>Correcting for the lattice step removes this artefact.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085746" cy="292608"/>
          </a:xfrm>
          <a:prstGeom prst="roundRect">
            <a:avLst>
              <a:gd name="adj" fmla="val 50000"/>
            </a:avLst>
          </a:prstGeom>
          <a:solidFill>
            <a:srgbClr val="F472B6">
              <a:alpha val="12000"/>
            </a:srgbClr>
          </a:solidFill>
          <a:ln w="11430">
            <a:solidFill>
              <a:srgbClr val="F472B6">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085746" cy="292608"/>
          </a:xfrm>
          <a:prstGeom prst="rect">
            <a:avLst/>
          </a:prstGeom>
          <a:noFill/>
        </p:spPr>
        <p:txBody>
          <a:bodyPr wrap="square" lIns="0" rIns="0" tIns="0" bIns="0" anchor="ctr">
            <a:spAutoFit/>
          </a:bodyPr>
          <a:lstStyle/>
          <a:p>
            <a:pPr algn="ctr">
              <a:spcAft>
                <a:spcPts val="0"/>
              </a:spcAft>
            </a:pPr>
            <a:r>
              <a:rPr sz="1000" b="0" i="0" spc="120">
                <a:solidFill>
                  <a:srgbClr val="F472B6"/>
                </a:solidFill>
                <a:latin typeface="Segoe UI Semibold"/>
                <a:cs typeface="Segoe UI Semibold"/>
              </a:rPr>
              <a:t>07  ·  RESULT III</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Pólya's theorem: recurrent for d ≤ 2, transient for d ≥ 3</a:t>
            </a:r>
          </a:p>
        </p:txBody>
      </p:sp>
      <p:sp>
        <p:nvSpPr>
          <p:cNvPr id="7" name="Rounded Rectangle 6"/>
          <p:cNvSpPr/>
          <p:nvPr/>
        </p:nvSpPr>
        <p:spPr>
          <a:xfrm>
            <a:off x="548640" y="1298448"/>
            <a:ext cx="777240" cy="45720"/>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08</a:t>
            </a:r>
            <a:r>
              <a:rPr sz="900" b="0" i="0">
                <a:solidFill>
                  <a:srgbClr val="5B6690"/>
                </a:solidFill>
                <a:latin typeface="Segoe UI Semibold"/>
                <a:cs typeface="Segoe UI Semibold"/>
              </a:rPr>
              <a:t>  /  10</a:t>
            </a:r>
          </a:p>
        </p:txBody>
      </p:sp>
      <p:sp>
        <p:nvSpPr>
          <p:cNvPr id="12" name="Rounded Rectangle 11"/>
          <p:cNvSpPr/>
          <p:nvPr/>
        </p:nvSpPr>
        <p:spPr>
          <a:xfrm>
            <a:off x="548640" y="1554480"/>
            <a:ext cx="4206240" cy="4709160"/>
          </a:xfrm>
          <a:prstGeom prst="roundRect">
            <a:avLst>
              <a:gd name="adj" fmla="val 3043"/>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77240" y="1773936"/>
            <a:ext cx="54864" cy="237744"/>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1709928"/>
            <a:ext cx="3657599"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Theory  ·  Pólya (1921)</a:t>
            </a:r>
          </a:p>
        </p:txBody>
      </p:sp>
      <p:sp>
        <p:nvSpPr>
          <p:cNvPr id="15" name="TextBox 14"/>
          <p:cNvSpPr txBox="1"/>
          <p:nvPr/>
        </p:nvSpPr>
        <p:spPr>
          <a:xfrm>
            <a:off x="804672" y="2011680"/>
            <a:ext cx="3749039" cy="320040"/>
          </a:xfrm>
          <a:prstGeom prst="rect">
            <a:avLst/>
          </a:prstGeom>
          <a:noFill/>
        </p:spPr>
        <p:txBody>
          <a:bodyPr wrap="square" lIns="0" rIns="0" tIns="0" bIns="0" anchor="t">
            <a:spAutoFit/>
          </a:bodyPr>
          <a:lstStyle/>
          <a:p>
            <a:pPr algn="l">
              <a:spcAft>
                <a:spcPts val="0"/>
              </a:spcAft>
            </a:pPr>
            <a:r>
              <a:rPr sz="1250" b="0" i="1">
                <a:solidFill>
                  <a:srgbClr val="E6E9F5"/>
                </a:solidFill>
                <a:latin typeface="Segoe UI"/>
                <a:cs typeface="Segoe UI"/>
              </a:rPr>
              <a:t>Will the walker ever come back to the origin?</a:t>
            </a:r>
          </a:p>
        </p:txBody>
      </p:sp>
      <p:sp>
        <p:nvSpPr>
          <p:cNvPr id="16" name="TextBox 15"/>
          <p:cNvSpPr txBox="1"/>
          <p:nvPr/>
        </p:nvSpPr>
        <p:spPr>
          <a:xfrm>
            <a:off x="804672" y="2377440"/>
            <a:ext cx="3749039" cy="45720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Cambria Math"/>
                <a:cs typeface="Cambria Math"/>
              </a:rPr>
              <a:t>P(X₂ₙ = 0) ∼ c_d n^(−d/2)</a:t>
            </a:r>
            <a:r>
              <a:rPr sz="1050" b="0" i="0">
                <a:solidFill>
                  <a:srgbClr val="9AA3C7"/>
                </a:solidFill>
                <a:latin typeface="Segoe UI"/>
                <a:cs typeface="Segoe UI"/>
              </a:rPr>
              <a:t>  since after 2n steps the walk is spread over ∼ </a:t>
            </a:r>
            <a:r>
              <a:rPr sz="1050" b="0" i="0">
                <a:solidFill>
                  <a:srgbClr val="9AA3C7"/>
                </a:solidFill>
                <a:latin typeface="Cambria Math"/>
                <a:cs typeface="Cambria Math"/>
              </a:rPr>
              <a:t>n^(d/2)</a:t>
            </a:r>
            <a:r>
              <a:rPr sz="1050" b="0" i="0">
                <a:solidFill>
                  <a:srgbClr val="9AA3C7"/>
                </a:solidFill>
                <a:latin typeface="Segoe UI"/>
                <a:cs typeface="Segoe UI"/>
              </a:rPr>
              <a:t> sites</a:t>
            </a:r>
          </a:p>
        </p:txBody>
      </p:sp>
      <p:pic>
        <p:nvPicPr>
          <p:cNvPr id="17" name="Picture 16" descr="eq_polya.png"/>
          <p:cNvPicPr>
            <a:picLocks noChangeAspect="1"/>
          </p:cNvPicPr>
          <p:nvPr/>
        </p:nvPicPr>
        <p:blipFill>
          <a:blip r:embed="rId2"/>
          <a:stretch>
            <a:fillRect/>
          </a:stretch>
        </p:blipFill>
        <p:spPr>
          <a:xfrm>
            <a:off x="804672" y="2926080"/>
            <a:ext cx="3171444" cy="396240"/>
          </a:xfrm>
          <a:prstGeom prst="rect">
            <a:avLst/>
          </a:prstGeom>
        </p:spPr>
      </p:pic>
      <p:pic>
        <p:nvPicPr>
          <p:cNvPr id="18" name="Picture 17" descr="eq_polya2.png"/>
          <p:cNvPicPr>
            <a:picLocks noChangeAspect="1"/>
          </p:cNvPicPr>
          <p:nvPr/>
        </p:nvPicPr>
        <p:blipFill>
          <a:blip r:embed="rId3"/>
          <a:stretch>
            <a:fillRect/>
          </a:stretch>
        </p:blipFill>
        <p:spPr>
          <a:xfrm>
            <a:off x="804672" y="3401568"/>
            <a:ext cx="3749039" cy="182522"/>
          </a:xfrm>
          <a:prstGeom prst="rect">
            <a:avLst/>
          </a:prstGeom>
        </p:spPr>
      </p:pic>
      <p:pic>
        <p:nvPicPr>
          <p:cNvPr id="19" name="Picture 18" descr="eq_F.png"/>
          <p:cNvPicPr>
            <a:picLocks noChangeAspect="1"/>
          </p:cNvPicPr>
          <p:nvPr/>
        </p:nvPicPr>
        <p:blipFill>
          <a:blip r:embed="rId4"/>
          <a:stretch>
            <a:fillRect/>
          </a:stretch>
        </p:blipFill>
        <p:spPr>
          <a:xfrm>
            <a:off x="804672" y="3794760"/>
            <a:ext cx="2740152" cy="377952"/>
          </a:xfrm>
          <a:prstGeom prst="rect">
            <a:avLst/>
          </a:prstGeom>
        </p:spPr>
      </p:pic>
      <p:sp>
        <p:nvSpPr>
          <p:cNvPr id="20" name="TextBox 19"/>
          <p:cNvSpPr txBox="1"/>
          <p:nvPr/>
        </p:nvSpPr>
        <p:spPr>
          <a:xfrm>
            <a:off x="804672" y="4315968"/>
            <a:ext cx="3749039" cy="457200"/>
          </a:xfrm>
          <a:prstGeom prst="rect">
            <a:avLst/>
          </a:prstGeom>
          <a:noFill/>
        </p:spPr>
        <p:txBody>
          <a:bodyPr wrap="square" lIns="0" rIns="0" tIns="0" bIns="0" anchor="t">
            <a:spAutoFit/>
          </a:bodyPr>
          <a:lstStyle/>
          <a:p>
            <a:pPr algn="l">
              <a:lnSpc>
                <a:spcPct val="103000"/>
              </a:lnSpc>
              <a:spcAft>
                <a:spcPts val="0"/>
              </a:spcAft>
            </a:pPr>
            <a:r>
              <a:rPr sz="1050" b="0" i="0">
                <a:solidFill>
                  <a:srgbClr val="9AA3C7"/>
                </a:solidFill>
                <a:latin typeface="Cambria Math"/>
                <a:cs typeface="Cambria Math"/>
              </a:rPr>
              <a:t>F_d</a:t>
            </a:r>
            <a:r>
              <a:rPr sz="1050" b="0" i="0">
                <a:solidFill>
                  <a:srgbClr val="9AA3C7"/>
                </a:solidFill>
                <a:latin typeface="Segoe UI"/>
                <a:cs typeface="Segoe UI"/>
              </a:rPr>
              <a:t> = probability of ever returning; known values </a:t>
            </a:r>
            <a:r>
              <a:rPr sz="1050" b="0" i="0">
                <a:solidFill>
                  <a:srgbClr val="9AA3C7"/>
                </a:solidFill>
                <a:latin typeface="Cambria Math"/>
                <a:cs typeface="Cambria Math"/>
              </a:rPr>
              <a:t>F₃ ≈ 0.3405, F₄ ≈ 0.1932, F₅ ≈ 0.1351</a:t>
            </a:r>
            <a:r>
              <a:rPr sz="1050" b="0" i="0">
                <a:solidFill>
                  <a:srgbClr val="9AA3C7"/>
                </a:solidFill>
                <a:latin typeface="Segoe UI"/>
                <a:cs typeface="Segoe UI"/>
              </a:rPr>
              <a:t> (Watson integrals)</a:t>
            </a:r>
          </a:p>
        </p:txBody>
      </p:sp>
      <p:sp>
        <p:nvSpPr>
          <p:cNvPr id="21" name="Rounded Rectangle 20"/>
          <p:cNvSpPr/>
          <p:nvPr/>
        </p:nvSpPr>
        <p:spPr>
          <a:xfrm>
            <a:off x="777240" y="5120640"/>
            <a:ext cx="3749039" cy="960120"/>
          </a:xfrm>
          <a:prstGeom prst="roundRect">
            <a:avLst>
              <a:gd name="adj" fmla="val 9523"/>
            </a:avLst>
          </a:prstGeom>
          <a:solidFill>
            <a:srgbClr val="FBBF24">
              <a:alpha val="7000"/>
            </a:srgbClr>
          </a:solidFill>
          <a:ln w="10160">
            <a:solidFill>
              <a:srgbClr val="FBBF2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75504"/>
            <a:ext cx="3474720" cy="868680"/>
          </a:xfrm>
          <a:prstGeom prst="rect">
            <a:avLst/>
          </a:prstGeom>
          <a:noFill/>
        </p:spPr>
        <p:txBody>
          <a:bodyPr wrap="square" lIns="0" rIns="0" tIns="0" bIns="0" anchor="ctr">
            <a:spAutoFit/>
          </a:bodyPr>
          <a:lstStyle/>
          <a:p>
            <a:pPr algn="l">
              <a:lnSpc>
                <a:spcPct val="103000"/>
              </a:lnSpc>
              <a:spcAft>
                <a:spcPts val="200"/>
              </a:spcAft>
            </a:pPr>
            <a:r>
              <a:rPr sz="1100" b="0" i="1">
                <a:solidFill>
                  <a:srgbClr val="E6E9F5"/>
                </a:solidFill>
                <a:latin typeface="Segoe UI"/>
                <a:cs typeface="Segoe UI"/>
              </a:rPr>
              <a:t>“A drunk man will find his way home, but a drunk bird may get lost forever.”</a:t>
            </a:r>
          </a:p>
          <a:p>
            <a:pPr algn="l">
              <a:lnSpc>
                <a:spcPct val="103000"/>
              </a:lnSpc>
              <a:spcAft>
                <a:spcPts val="0"/>
              </a:spcAft>
            </a:pPr>
            <a:r>
              <a:rPr sz="1000" b="0" i="0">
                <a:solidFill>
                  <a:srgbClr val="FBBF24"/>
                </a:solidFill>
                <a:latin typeface="Segoe UI Semibold"/>
                <a:cs typeface="Segoe UI Semibold"/>
              </a:rPr>
              <a:t>— Shizuo Kakutani</a:t>
            </a:r>
          </a:p>
        </p:txBody>
      </p:sp>
      <p:sp>
        <p:nvSpPr>
          <p:cNvPr id="23" name="Rounded Rectangle 22"/>
          <p:cNvSpPr/>
          <p:nvPr/>
        </p:nvSpPr>
        <p:spPr>
          <a:xfrm>
            <a:off x="4892040" y="1554480"/>
            <a:ext cx="6748272" cy="2999232"/>
          </a:xfrm>
          <a:prstGeom prst="roundRect">
            <a:avLst>
              <a:gd name="adj" fmla="val 4268"/>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ecurrence.png"/>
          <p:cNvPicPr>
            <a:picLocks noChangeAspect="1"/>
          </p:cNvPicPr>
          <p:nvPr/>
        </p:nvPicPr>
        <p:blipFill>
          <a:blip r:embed="rId5"/>
          <a:stretch>
            <a:fillRect/>
          </a:stretch>
        </p:blipFill>
        <p:spPr>
          <a:xfrm>
            <a:off x="5001767" y="1833692"/>
            <a:ext cx="6528816" cy="2440806"/>
          </a:xfrm>
          <a:prstGeom prst="rect">
            <a:avLst/>
          </a:prstGeom>
        </p:spPr>
      </p:pic>
      <p:sp>
        <p:nvSpPr>
          <p:cNvPr id="25" name="Rounded Rectangle 24"/>
          <p:cNvSpPr/>
          <p:nvPr/>
        </p:nvSpPr>
        <p:spPr>
          <a:xfrm>
            <a:off x="4892040" y="4681728"/>
            <a:ext cx="1261872" cy="1188720"/>
          </a:xfrm>
          <a:prstGeom prst="roundRect">
            <a:avLst>
              <a:gd name="adj" fmla="val 1076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92040" y="4754880"/>
            <a:ext cx="1261872" cy="274320"/>
          </a:xfrm>
          <a:prstGeom prst="rect">
            <a:avLst/>
          </a:prstGeom>
          <a:noFill/>
        </p:spPr>
        <p:txBody>
          <a:bodyPr wrap="square" lIns="0" rIns="0" tIns="0" bIns="0" anchor="t">
            <a:spAutoFit/>
          </a:bodyPr>
          <a:lstStyle/>
          <a:p>
            <a:pPr algn="ctr">
              <a:spcAft>
                <a:spcPts val="0"/>
              </a:spcAft>
            </a:pPr>
            <a:r>
              <a:rPr sz="1200" b="0" i="0">
                <a:solidFill>
                  <a:srgbClr val="22D3EE"/>
                </a:solidFill>
                <a:latin typeface="Segoe UI Semibold"/>
                <a:cs typeface="Segoe UI Semibold"/>
              </a:rPr>
              <a:t>1D</a:t>
            </a:r>
          </a:p>
        </p:txBody>
      </p:sp>
      <p:sp>
        <p:nvSpPr>
          <p:cNvPr id="27" name="TextBox 26"/>
          <p:cNvSpPr txBox="1"/>
          <p:nvPr/>
        </p:nvSpPr>
        <p:spPr>
          <a:xfrm>
            <a:off x="4892040" y="5001768"/>
            <a:ext cx="1261872" cy="384048"/>
          </a:xfrm>
          <a:prstGeom prst="rect">
            <a:avLst/>
          </a:prstGeom>
          <a:noFill/>
        </p:spPr>
        <p:txBody>
          <a:bodyPr wrap="square" lIns="0" rIns="0" tIns="0" bIns="0" anchor="t">
            <a:spAutoFit/>
          </a:bodyPr>
          <a:lstStyle/>
          <a:p>
            <a:pPr algn="ctr">
              <a:spcAft>
                <a:spcPts val="0"/>
              </a:spcAft>
            </a:pPr>
            <a:r>
              <a:rPr sz="2000" b="0" i="0">
                <a:solidFill>
                  <a:srgbClr val="E6E9F5"/>
                </a:solidFill>
                <a:latin typeface="Cambria Math"/>
                <a:cs typeface="Cambria Math"/>
              </a:rPr>
              <a:t>0.990</a:t>
            </a:r>
          </a:p>
        </p:txBody>
      </p:sp>
      <p:sp>
        <p:nvSpPr>
          <p:cNvPr id="28" name="TextBox 27"/>
          <p:cNvSpPr txBox="1"/>
          <p:nvPr/>
        </p:nvSpPr>
        <p:spPr>
          <a:xfrm>
            <a:off x="4892040" y="5394960"/>
            <a:ext cx="1261872" cy="228600"/>
          </a:xfrm>
          <a:prstGeom prst="rect">
            <a:avLst/>
          </a:prstGeom>
          <a:noFill/>
        </p:spPr>
        <p:txBody>
          <a:bodyPr wrap="square" lIns="0" rIns="0" tIns="0" bIns="0" anchor="t">
            <a:spAutoFit/>
          </a:bodyPr>
          <a:lstStyle/>
          <a:p>
            <a:pPr algn="ctr">
              <a:spcAft>
                <a:spcPts val="0"/>
              </a:spcAft>
            </a:pPr>
            <a:r>
              <a:rPr sz="950" b="0" i="0">
                <a:solidFill>
                  <a:srgbClr val="9AA3C7"/>
                </a:solidFill>
                <a:latin typeface="Segoe UI"/>
                <a:cs typeface="Segoe UI"/>
              </a:rPr>
              <a:t>theory </a:t>
            </a:r>
            <a:r>
              <a:rPr sz="950" b="0" i="0">
                <a:solidFill>
                  <a:srgbClr val="9AA3C7"/>
                </a:solidFill>
                <a:latin typeface="Cambria Math"/>
                <a:cs typeface="Cambria Math"/>
              </a:rPr>
              <a:t>1</a:t>
            </a:r>
          </a:p>
        </p:txBody>
      </p:sp>
      <p:sp>
        <p:nvSpPr>
          <p:cNvPr id="29" name="TextBox 28"/>
          <p:cNvSpPr txBox="1"/>
          <p:nvPr/>
        </p:nvSpPr>
        <p:spPr>
          <a:xfrm>
            <a:off x="4892040" y="5614416"/>
            <a:ext cx="1261872" cy="228600"/>
          </a:xfrm>
          <a:prstGeom prst="rect">
            <a:avLst/>
          </a:prstGeom>
          <a:noFill/>
        </p:spPr>
        <p:txBody>
          <a:bodyPr wrap="square" lIns="0" rIns="0" tIns="0" bIns="0" anchor="t">
            <a:spAutoFit/>
          </a:bodyPr>
          <a:lstStyle/>
          <a:p>
            <a:pPr algn="ctr">
              <a:spcAft>
                <a:spcPts val="0"/>
              </a:spcAft>
            </a:pPr>
            <a:r>
              <a:rPr sz="850" b="0" i="0" spc="100">
                <a:solidFill>
                  <a:srgbClr val="22D3EE"/>
                </a:solidFill>
                <a:latin typeface="Segoe UI Semibold"/>
                <a:cs typeface="Segoe UI Semibold"/>
              </a:rPr>
              <a:t>RECURRENT</a:t>
            </a:r>
          </a:p>
        </p:txBody>
      </p:sp>
      <p:sp>
        <p:nvSpPr>
          <p:cNvPr id="30" name="Rounded Rectangle 29"/>
          <p:cNvSpPr/>
          <p:nvPr/>
        </p:nvSpPr>
        <p:spPr>
          <a:xfrm>
            <a:off x="6263640" y="4681728"/>
            <a:ext cx="1261872" cy="1188720"/>
          </a:xfrm>
          <a:prstGeom prst="roundRect">
            <a:avLst>
              <a:gd name="adj" fmla="val 1076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263640" y="4754880"/>
            <a:ext cx="1261872" cy="274320"/>
          </a:xfrm>
          <a:prstGeom prst="rect">
            <a:avLst/>
          </a:prstGeom>
          <a:noFill/>
        </p:spPr>
        <p:txBody>
          <a:bodyPr wrap="square" lIns="0" rIns="0" tIns="0" bIns="0" anchor="t">
            <a:spAutoFit/>
          </a:bodyPr>
          <a:lstStyle/>
          <a:p>
            <a:pPr algn="ctr">
              <a:spcAft>
                <a:spcPts val="0"/>
              </a:spcAft>
            </a:pPr>
            <a:r>
              <a:rPr sz="1200" b="0" i="0">
                <a:solidFill>
                  <a:srgbClr val="818CF8"/>
                </a:solidFill>
                <a:latin typeface="Segoe UI Semibold"/>
                <a:cs typeface="Segoe UI Semibold"/>
              </a:rPr>
              <a:t>2D</a:t>
            </a:r>
          </a:p>
        </p:txBody>
      </p:sp>
      <p:sp>
        <p:nvSpPr>
          <p:cNvPr id="32" name="TextBox 31"/>
          <p:cNvSpPr txBox="1"/>
          <p:nvPr/>
        </p:nvSpPr>
        <p:spPr>
          <a:xfrm>
            <a:off x="6263640" y="5001768"/>
            <a:ext cx="1261872" cy="384048"/>
          </a:xfrm>
          <a:prstGeom prst="rect">
            <a:avLst/>
          </a:prstGeom>
          <a:noFill/>
        </p:spPr>
        <p:txBody>
          <a:bodyPr wrap="square" lIns="0" rIns="0" tIns="0" bIns="0" anchor="t">
            <a:spAutoFit/>
          </a:bodyPr>
          <a:lstStyle/>
          <a:p>
            <a:pPr algn="ctr">
              <a:spcAft>
                <a:spcPts val="0"/>
              </a:spcAft>
            </a:pPr>
            <a:r>
              <a:rPr sz="2000" b="0" i="0">
                <a:solidFill>
                  <a:srgbClr val="E6E9F5"/>
                </a:solidFill>
                <a:latin typeface="Cambria Math"/>
                <a:cs typeface="Cambria Math"/>
              </a:rPr>
              <a:t>0.736</a:t>
            </a:r>
          </a:p>
        </p:txBody>
      </p:sp>
      <p:sp>
        <p:nvSpPr>
          <p:cNvPr id="33" name="TextBox 32"/>
          <p:cNvSpPr txBox="1"/>
          <p:nvPr/>
        </p:nvSpPr>
        <p:spPr>
          <a:xfrm>
            <a:off x="6263640" y="5394960"/>
            <a:ext cx="1261872" cy="228600"/>
          </a:xfrm>
          <a:prstGeom prst="rect">
            <a:avLst/>
          </a:prstGeom>
          <a:noFill/>
        </p:spPr>
        <p:txBody>
          <a:bodyPr wrap="square" lIns="0" rIns="0" tIns="0" bIns="0" anchor="t">
            <a:spAutoFit/>
          </a:bodyPr>
          <a:lstStyle/>
          <a:p>
            <a:pPr algn="ctr">
              <a:spcAft>
                <a:spcPts val="0"/>
              </a:spcAft>
            </a:pPr>
            <a:r>
              <a:rPr sz="950" b="0" i="0">
                <a:solidFill>
                  <a:srgbClr val="9AA3C7"/>
                </a:solidFill>
                <a:latin typeface="Segoe UI"/>
                <a:cs typeface="Segoe UI"/>
              </a:rPr>
              <a:t>theory </a:t>
            </a:r>
            <a:r>
              <a:rPr sz="950" b="0" i="0">
                <a:solidFill>
                  <a:srgbClr val="9AA3C7"/>
                </a:solidFill>
                <a:latin typeface="Cambria Math"/>
                <a:cs typeface="Cambria Math"/>
              </a:rPr>
              <a:t>1</a:t>
            </a:r>
          </a:p>
        </p:txBody>
      </p:sp>
      <p:sp>
        <p:nvSpPr>
          <p:cNvPr id="34" name="TextBox 33"/>
          <p:cNvSpPr txBox="1"/>
          <p:nvPr/>
        </p:nvSpPr>
        <p:spPr>
          <a:xfrm>
            <a:off x="6263640" y="5614416"/>
            <a:ext cx="1261872" cy="228600"/>
          </a:xfrm>
          <a:prstGeom prst="rect">
            <a:avLst/>
          </a:prstGeom>
          <a:noFill/>
        </p:spPr>
        <p:txBody>
          <a:bodyPr wrap="square" lIns="0" rIns="0" tIns="0" bIns="0" anchor="t">
            <a:spAutoFit/>
          </a:bodyPr>
          <a:lstStyle/>
          <a:p>
            <a:pPr algn="ctr">
              <a:spcAft>
                <a:spcPts val="0"/>
              </a:spcAft>
            </a:pPr>
            <a:r>
              <a:rPr sz="850" b="0" i="0" spc="100">
                <a:solidFill>
                  <a:srgbClr val="22D3EE"/>
                </a:solidFill>
                <a:latin typeface="Segoe UI Semibold"/>
                <a:cs typeface="Segoe UI Semibold"/>
              </a:rPr>
              <a:t>RECURRENT</a:t>
            </a:r>
          </a:p>
        </p:txBody>
      </p:sp>
      <p:sp>
        <p:nvSpPr>
          <p:cNvPr id="35" name="Rounded Rectangle 34"/>
          <p:cNvSpPr/>
          <p:nvPr/>
        </p:nvSpPr>
        <p:spPr>
          <a:xfrm>
            <a:off x="7635240" y="4681728"/>
            <a:ext cx="1261872" cy="1188720"/>
          </a:xfrm>
          <a:prstGeom prst="roundRect">
            <a:avLst>
              <a:gd name="adj" fmla="val 1076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35240" y="4754880"/>
            <a:ext cx="1261872" cy="274320"/>
          </a:xfrm>
          <a:prstGeom prst="rect">
            <a:avLst/>
          </a:prstGeom>
          <a:noFill/>
        </p:spPr>
        <p:txBody>
          <a:bodyPr wrap="square" lIns="0" rIns="0" tIns="0" bIns="0" anchor="t">
            <a:spAutoFit/>
          </a:bodyPr>
          <a:lstStyle/>
          <a:p>
            <a:pPr algn="ctr">
              <a:spcAft>
                <a:spcPts val="0"/>
              </a:spcAft>
            </a:pPr>
            <a:r>
              <a:rPr sz="1200" b="0" i="0">
                <a:solidFill>
                  <a:srgbClr val="F472B6"/>
                </a:solidFill>
                <a:latin typeface="Segoe UI Semibold"/>
                <a:cs typeface="Segoe UI Semibold"/>
              </a:rPr>
              <a:t>3D</a:t>
            </a:r>
          </a:p>
        </p:txBody>
      </p:sp>
      <p:sp>
        <p:nvSpPr>
          <p:cNvPr id="37" name="TextBox 36"/>
          <p:cNvSpPr txBox="1"/>
          <p:nvPr/>
        </p:nvSpPr>
        <p:spPr>
          <a:xfrm>
            <a:off x="7635240" y="5001768"/>
            <a:ext cx="1261872" cy="384048"/>
          </a:xfrm>
          <a:prstGeom prst="rect">
            <a:avLst/>
          </a:prstGeom>
          <a:noFill/>
        </p:spPr>
        <p:txBody>
          <a:bodyPr wrap="square" lIns="0" rIns="0" tIns="0" bIns="0" anchor="t">
            <a:spAutoFit/>
          </a:bodyPr>
          <a:lstStyle/>
          <a:p>
            <a:pPr algn="ctr">
              <a:spcAft>
                <a:spcPts val="0"/>
              </a:spcAft>
            </a:pPr>
            <a:r>
              <a:rPr sz="2000" b="0" i="0">
                <a:solidFill>
                  <a:srgbClr val="E6E9F5"/>
                </a:solidFill>
                <a:latin typeface="Cambria Math"/>
                <a:cs typeface="Cambria Math"/>
              </a:rPr>
              <a:t>0.325</a:t>
            </a:r>
          </a:p>
        </p:txBody>
      </p:sp>
      <p:sp>
        <p:nvSpPr>
          <p:cNvPr id="38" name="TextBox 37"/>
          <p:cNvSpPr txBox="1"/>
          <p:nvPr/>
        </p:nvSpPr>
        <p:spPr>
          <a:xfrm>
            <a:off x="7635240" y="5394960"/>
            <a:ext cx="1261872" cy="228600"/>
          </a:xfrm>
          <a:prstGeom prst="rect">
            <a:avLst/>
          </a:prstGeom>
          <a:noFill/>
        </p:spPr>
        <p:txBody>
          <a:bodyPr wrap="square" lIns="0" rIns="0" tIns="0" bIns="0" anchor="t">
            <a:spAutoFit/>
          </a:bodyPr>
          <a:lstStyle/>
          <a:p>
            <a:pPr algn="ctr">
              <a:spcAft>
                <a:spcPts val="0"/>
              </a:spcAft>
            </a:pPr>
            <a:r>
              <a:rPr sz="950" b="0" i="0">
                <a:solidFill>
                  <a:srgbClr val="9AA3C7"/>
                </a:solidFill>
                <a:latin typeface="Segoe UI"/>
                <a:cs typeface="Segoe UI"/>
              </a:rPr>
              <a:t>theory </a:t>
            </a:r>
            <a:r>
              <a:rPr sz="950" b="0" i="0">
                <a:solidFill>
                  <a:srgbClr val="9AA3C7"/>
                </a:solidFill>
                <a:latin typeface="Cambria Math"/>
                <a:cs typeface="Cambria Math"/>
              </a:rPr>
              <a:t>0.3405</a:t>
            </a:r>
          </a:p>
        </p:txBody>
      </p:sp>
      <p:sp>
        <p:nvSpPr>
          <p:cNvPr id="39" name="TextBox 38"/>
          <p:cNvSpPr txBox="1"/>
          <p:nvPr/>
        </p:nvSpPr>
        <p:spPr>
          <a:xfrm>
            <a:off x="7635240" y="5614416"/>
            <a:ext cx="1261872" cy="228600"/>
          </a:xfrm>
          <a:prstGeom prst="rect">
            <a:avLst/>
          </a:prstGeom>
          <a:noFill/>
        </p:spPr>
        <p:txBody>
          <a:bodyPr wrap="square" lIns="0" rIns="0" tIns="0" bIns="0" anchor="t">
            <a:spAutoFit/>
          </a:bodyPr>
          <a:lstStyle/>
          <a:p>
            <a:pPr algn="ctr">
              <a:spcAft>
                <a:spcPts val="0"/>
              </a:spcAft>
            </a:pPr>
            <a:r>
              <a:rPr sz="850" b="0" i="0" spc="100">
                <a:solidFill>
                  <a:srgbClr val="F472B6"/>
                </a:solidFill>
                <a:latin typeface="Segoe UI Semibold"/>
                <a:cs typeface="Segoe UI Semibold"/>
              </a:rPr>
              <a:t>TRANSIENT</a:t>
            </a:r>
          </a:p>
        </p:txBody>
      </p:sp>
      <p:sp>
        <p:nvSpPr>
          <p:cNvPr id="40" name="Rounded Rectangle 39"/>
          <p:cNvSpPr/>
          <p:nvPr/>
        </p:nvSpPr>
        <p:spPr>
          <a:xfrm>
            <a:off x="9006840" y="4681728"/>
            <a:ext cx="1261872" cy="1188720"/>
          </a:xfrm>
          <a:prstGeom prst="roundRect">
            <a:avLst>
              <a:gd name="adj" fmla="val 1076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006840" y="4754880"/>
            <a:ext cx="1261872" cy="274320"/>
          </a:xfrm>
          <a:prstGeom prst="rect">
            <a:avLst/>
          </a:prstGeom>
          <a:noFill/>
        </p:spPr>
        <p:txBody>
          <a:bodyPr wrap="square" lIns="0" rIns="0" tIns="0" bIns="0" anchor="t">
            <a:spAutoFit/>
          </a:bodyPr>
          <a:lstStyle/>
          <a:p>
            <a:pPr algn="ctr">
              <a:spcAft>
                <a:spcPts val="0"/>
              </a:spcAft>
            </a:pPr>
            <a:r>
              <a:rPr sz="1200" b="0" i="0">
                <a:solidFill>
                  <a:srgbClr val="FBBF24"/>
                </a:solidFill>
                <a:latin typeface="Segoe UI Semibold"/>
                <a:cs typeface="Segoe UI Semibold"/>
              </a:rPr>
              <a:t>4D</a:t>
            </a:r>
          </a:p>
        </p:txBody>
      </p:sp>
      <p:sp>
        <p:nvSpPr>
          <p:cNvPr id="42" name="TextBox 41"/>
          <p:cNvSpPr txBox="1"/>
          <p:nvPr/>
        </p:nvSpPr>
        <p:spPr>
          <a:xfrm>
            <a:off x="9006840" y="5001768"/>
            <a:ext cx="1261872" cy="384048"/>
          </a:xfrm>
          <a:prstGeom prst="rect">
            <a:avLst/>
          </a:prstGeom>
          <a:noFill/>
        </p:spPr>
        <p:txBody>
          <a:bodyPr wrap="square" lIns="0" rIns="0" tIns="0" bIns="0" anchor="t">
            <a:spAutoFit/>
          </a:bodyPr>
          <a:lstStyle/>
          <a:p>
            <a:pPr algn="ctr">
              <a:spcAft>
                <a:spcPts val="0"/>
              </a:spcAft>
            </a:pPr>
            <a:r>
              <a:rPr sz="2000" b="0" i="0">
                <a:solidFill>
                  <a:srgbClr val="E6E9F5"/>
                </a:solidFill>
                <a:latin typeface="Cambria Math"/>
                <a:cs typeface="Cambria Math"/>
              </a:rPr>
              <a:t>0.198</a:t>
            </a:r>
          </a:p>
        </p:txBody>
      </p:sp>
      <p:sp>
        <p:nvSpPr>
          <p:cNvPr id="43" name="TextBox 42"/>
          <p:cNvSpPr txBox="1"/>
          <p:nvPr/>
        </p:nvSpPr>
        <p:spPr>
          <a:xfrm>
            <a:off x="9006840" y="5394960"/>
            <a:ext cx="1261872" cy="228600"/>
          </a:xfrm>
          <a:prstGeom prst="rect">
            <a:avLst/>
          </a:prstGeom>
          <a:noFill/>
        </p:spPr>
        <p:txBody>
          <a:bodyPr wrap="square" lIns="0" rIns="0" tIns="0" bIns="0" anchor="t">
            <a:spAutoFit/>
          </a:bodyPr>
          <a:lstStyle/>
          <a:p>
            <a:pPr algn="ctr">
              <a:spcAft>
                <a:spcPts val="0"/>
              </a:spcAft>
            </a:pPr>
            <a:r>
              <a:rPr sz="950" b="0" i="0">
                <a:solidFill>
                  <a:srgbClr val="9AA3C7"/>
                </a:solidFill>
                <a:latin typeface="Segoe UI"/>
                <a:cs typeface="Segoe UI"/>
              </a:rPr>
              <a:t>theory </a:t>
            </a:r>
            <a:r>
              <a:rPr sz="950" b="0" i="0">
                <a:solidFill>
                  <a:srgbClr val="9AA3C7"/>
                </a:solidFill>
                <a:latin typeface="Cambria Math"/>
                <a:cs typeface="Cambria Math"/>
              </a:rPr>
              <a:t>0.1932</a:t>
            </a:r>
          </a:p>
        </p:txBody>
      </p:sp>
      <p:sp>
        <p:nvSpPr>
          <p:cNvPr id="44" name="TextBox 43"/>
          <p:cNvSpPr txBox="1"/>
          <p:nvPr/>
        </p:nvSpPr>
        <p:spPr>
          <a:xfrm>
            <a:off x="9006840" y="5614416"/>
            <a:ext cx="1261872" cy="228600"/>
          </a:xfrm>
          <a:prstGeom prst="rect">
            <a:avLst/>
          </a:prstGeom>
          <a:noFill/>
        </p:spPr>
        <p:txBody>
          <a:bodyPr wrap="square" lIns="0" rIns="0" tIns="0" bIns="0" anchor="t">
            <a:spAutoFit/>
          </a:bodyPr>
          <a:lstStyle/>
          <a:p>
            <a:pPr algn="ctr">
              <a:spcAft>
                <a:spcPts val="0"/>
              </a:spcAft>
            </a:pPr>
            <a:r>
              <a:rPr sz="850" b="0" i="0" spc="100">
                <a:solidFill>
                  <a:srgbClr val="F472B6"/>
                </a:solidFill>
                <a:latin typeface="Segoe UI Semibold"/>
                <a:cs typeface="Segoe UI Semibold"/>
              </a:rPr>
              <a:t>TRANSIENT</a:t>
            </a:r>
          </a:p>
        </p:txBody>
      </p:sp>
      <p:sp>
        <p:nvSpPr>
          <p:cNvPr id="45" name="Rounded Rectangle 44"/>
          <p:cNvSpPr/>
          <p:nvPr/>
        </p:nvSpPr>
        <p:spPr>
          <a:xfrm>
            <a:off x="10378440" y="4681728"/>
            <a:ext cx="1261872" cy="1188720"/>
          </a:xfrm>
          <a:prstGeom prst="roundRect">
            <a:avLst>
              <a:gd name="adj" fmla="val 10769"/>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0378440" y="4754880"/>
            <a:ext cx="1261872" cy="274320"/>
          </a:xfrm>
          <a:prstGeom prst="rect">
            <a:avLst/>
          </a:prstGeom>
          <a:noFill/>
        </p:spPr>
        <p:txBody>
          <a:bodyPr wrap="square" lIns="0" rIns="0" tIns="0" bIns="0" anchor="t">
            <a:spAutoFit/>
          </a:bodyPr>
          <a:lstStyle/>
          <a:p>
            <a:pPr algn="ctr">
              <a:spcAft>
                <a:spcPts val="0"/>
              </a:spcAft>
            </a:pPr>
            <a:r>
              <a:rPr sz="1200" b="0" i="0">
                <a:solidFill>
                  <a:srgbClr val="34D399"/>
                </a:solidFill>
                <a:latin typeface="Segoe UI Semibold"/>
                <a:cs typeface="Segoe UI Semibold"/>
              </a:rPr>
              <a:t>5D</a:t>
            </a:r>
          </a:p>
        </p:txBody>
      </p:sp>
      <p:sp>
        <p:nvSpPr>
          <p:cNvPr id="47" name="TextBox 46"/>
          <p:cNvSpPr txBox="1"/>
          <p:nvPr/>
        </p:nvSpPr>
        <p:spPr>
          <a:xfrm>
            <a:off x="10378440" y="5001768"/>
            <a:ext cx="1261872" cy="384048"/>
          </a:xfrm>
          <a:prstGeom prst="rect">
            <a:avLst/>
          </a:prstGeom>
          <a:noFill/>
        </p:spPr>
        <p:txBody>
          <a:bodyPr wrap="square" lIns="0" rIns="0" tIns="0" bIns="0" anchor="t">
            <a:spAutoFit/>
          </a:bodyPr>
          <a:lstStyle/>
          <a:p>
            <a:pPr algn="ctr">
              <a:spcAft>
                <a:spcPts val="0"/>
              </a:spcAft>
            </a:pPr>
            <a:r>
              <a:rPr sz="2000" b="0" i="0">
                <a:solidFill>
                  <a:srgbClr val="E6E9F5"/>
                </a:solidFill>
                <a:latin typeface="Cambria Math"/>
                <a:cs typeface="Cambria Math"/>
              </a:rPr>
              <a:t>0.141</a:t>
            </a:r>
          </a:p>
        </p:txBody>
      </p:sp>
      <p:sp>
        <p:nvSpPr>
          <p:cNvPr id="48" name="TextBox 47"/>
          <p:cNvSpPr txBox="1"/>
          <p:nvPr/>
        </p:nvSpPr>
        <p:spPr>
          <a:xfrm>
            <a:off x="10378440" y="5394960"/>
            <a:ext cx="1261872" cy="228600"/>
          </a:xfrm>
          <a:prstGeom prst="rect">
            <a:avLst/>
          </a:prstGeom>
          <a:noFill/>
        </p:spPr>
        <p:txBody>
          <a:bodyPr wrap="square" lIns="0" rIns="0" tIns="0" bIns="0" anchor="t">
            <a:spAutoFit/>
          </a:bodyPr>
          <a:lstStyle/>
          <a:p>
            <a:pPr algn="ctr">
              <a:spcAft>
                <a:spcPts val="0"/>
              </a:spcAft>
            </a:pPr>
            <a:r>
              <a:rPr sz="950" b="0" i="0">
                <a:solidFill>
                  <a:srgbClr val="9AA3C7"/>
                </a:solidFill>
                <a:latin typeface="Segoe UI"/>
                <a:cs typeface="Segoe UI"/>
              </a:rPr>
              <a:t>theory </a:t>
            </a:r>
            <a:r>
              <a:rPr sz="950" b="0" i="0">
                <a:solidFill>
                  <a:srgbClr val="9AA3C7"/>
                </a:solidFill>
                <a:latin typeface="Cambria Math"/>
                <a:cs typeface="Cambria Math"/>
              </a:rPr>
              <a:t>0.1351</a:t>
            </a:r>
          </a:p>
        </p:txBody>
      </p:sp>
      <p:sp>
        <p:nvSpPr>
          <p:cNvPr id="49" name="TextBox 48"/>
          <p:cNvSpPr txBox="1"/>
          <p:nvPr/>
        </p:nvSpPr>
        <p:spPr>
          <a:xfrm>
            <a:off x="10378440" y="5614416"/>
            <a:ext cx="1261872" cy="228600"/>
          </a:xfrm>
          <a:prstGeom prst="rect">
            <a:avLst/>
          </a:prstGeom>
          <a:noFill/>
        </p:spPr>
        <p:txBody>
          <a:bodyPr wrap="square" lIns="0" rIns="0" tIns="0" bIns="0" anchor="t">
            <a:spAutoFit/>
          </a:bodyPr>
          <a:lstStyle/>
          <a:p>
            <a:pPr algn="ctr">
              <a:spcAft>
                <a:spcPts val="0"/>
              </a:spcAft>
            </a:pPr>
            <a:r>
              <a:rPr sz="850" b="0" i="0" spc="100">
                <a:solidFill>
                  <a:srgbClr val="F472B6"/>
                </a:solidFill>
                <a:latin typeface="Segoe UI Semibold"/>
                <a:cs typeface="Segoe UI Semibold"/>
              </a:rPr>
              <a:t>TRANSIENT</a:t>
            </a:r>
          </a:p>
        </p:txBody>
      </p:sp>
      <p:sp>
        <p:nvSpPr>
          <p:cNvPr id="50" name="TextBox 49"/>
          <p:cNvSpPr txBox="1"/>
          <p:nvPr/>
        </p:nvSpPr>
        <p:spPr>
          <a:xfrm>
            <a:off x="4892040" y="5943600"/>
            <a:ext cx="6748272" cy="320040"/>
          </a:xfrm>
          <a:prstGeom prst="rect">
            <a:avLst/>
          </a:prstGeom>
          <a:noFill/>
        </p:spPr>
        <p:txBody>
          <a:bodyPr wrap="square" lIns="0" rIns="0" tIns="0" bIns="0" anchor="t">
            <a:spAutoFit/>
          </a:bodyPr>
          <a:lstStyle/>
          <a:p>
            <a:pPr algn="ctr">
              <a:spcAft>
                <a:spcPts val="0"/>
              </a:spcAft>
            </a:pPr>
            <a:r>
              <a:rPr sz="1000" b="0" i="0">
                <a:solidFill>
                  <a:srgbClr val="5B6690"/>
                </a:solidFill>
                <a:latin typeface="Segoe UI"/>
                <a:cs typeface="Segoe UI"/>
              </a:rPr>
              <a:t>Finite horizon </a:t>
            </a:r>
            <a:r>
              <a:rPr sz="1000" b="0" i="0">
                <a:solidFill>
                  <a:srgbClr val="5B6690"/>
                </a:solidFill>
                <a:latin typeface="Cambria Math"/>
                <a:cs typeface="Cambria Math"/>
              </a:rPr>
              <a:t>t ≤ 10⁴</a:t>
            </a:r>
            <a:r>
              <a:rPr sz="1000" b="0" i="0">
                <a:solidFill>
                  <a:srgbClr val="5B6690"/>
                </a:solidFill>
                <a:latin typeface="Segoe UI"/>
                <a:cs typeface="Segoe UI"/>
              </a:rPr>
              <a:t>: in 2D the approach to 1 is only logarithmic, </a:t>
            </a:r>
            <a:r>
              <a:rPr sz="1000" b="0" i="0">
                <a:solidFill>
                  <a:srgbClr val="5B6690"/>
                </a:solidFill>
                <a:latin typeface="Cambria Math"/>
                <a:cs typeface="Cambria Math"/>
              </a:rPr>
              <a:t>1 − P ∼ π / ln t</a:t>
            </a:r>
            <a:r>
              <a:rPr sz="1000" b="0" i="0">
                <a:solidFill>
                  <a:srgbClr val="5B6690"/>
                </a:solidFill>
                <a:latin typeface="Segoe UI"/>
                <a:cs typeface="Segoe UI"/>
              </a:rPr>
              <a:t>, so 0.74 &lt; 1 is expected.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1982419" cy="292608"/>
          </a:xfrm>
          <a:prstGeom prst="roundRect">
            <a:avLst>
              <a:gd name="adj" fmla="val 50000"/>
            </a:avLst>
          </a:prstGeom>
          <a:solidFill>
            <a:srgbClr val="22D3EE">
              <a:alpha val="12000"/>
            </a:srgbClr>
          </a:solidFill>
          <a:ln w="11430">
            <a:solidFill>
              <a:srgbClr val="22D3E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1982419" cy="292608"/>
          </a:xfrm>
          <a:prstGeom prst="rect">
            <a:avLst/>
          </a:prstGeom>
          <a:noFill/>
        </p:spPr>
        <p:txBody>
          <a:bodyPr wrap="square" lIns="0" rIns="0" tIns="0" bIns="0" anchor="ctr">
            <a:spAutoFit/>
          </a:bodyPr>
          <a:lstStyle/>
          <a:p>
            <a:pPr algn="ctr">
              <a:spcAft>
                <a:spcPts val="0"/>
              </a:spcAft>
            </a:pPr>
            <a:r>
              <a:rPr sz="1000" b="0" i="0" spc="120">
                <a:solidFill>
                  <a:srgbClr val="22D3EE"/>
                </a:solidFill>
                <a:latin typeface="Segoe UI Semibold"/>
                <a:cs typeface="Segoe UI Semibold"/>
              </a:rPr>
              <a:t>08  ·  RESULT IV</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Monte Carlo convergence, space-filling and drift</a:t>
            </a:r>
          </a:p>
        </p:txBody>
      </p:sp>
      <p:sp>
        <p:nvSpPr>
          <p:cNvPr id="7" name="Rounded Rectangle 6"/>
          <p:cNvSpPr/>
          <p:nvPr/>
        </p:nvSpPr>
        <p:spPr>
          <a:xfrm>
            <a:off x="548640" y="1298448"/>
            <a:ext cx="777240" cy="45720"/>
          </a:xfrm>
          <a:prstGeom prst="roundRect">
            <a:avLst>
              <a:gd name="adj" fmla="val 5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09</a:t>
            </a:r>
            <a:r>
              <a:rPr sz="900" b="0" i="0">
                <a:solidFill>
                  <a:srgbClr val="5B6690"/>
                </a:solidFill>
                <a:latin typeface="Segoe UI Semibold"/>
                <a:cs typeface="Segoe UI Semibold"/>
              </a:rPr>
              <a:t>  /  10</a:t>
            </a:r>
          </a:p>
        </p:txBody>
      </p:sp>
      <p:sp>
        <p:nvSpPr>
          <p:cNvPr id="12" name="Rounded Rectangle 11"/>
          <p:cNvSpPr/>
          <p:nvPr/>
        </p:nvSpPr>
        <p:spPr>
          <a:xfrm>
            <a:off x="548640" y="1554480"/>
            <a:ext cx="11091672" cy="3154680"/>
          </a:xfrm>
          <a:prstGeom prst="roundRect">
            <a:avLst>
              <a:gd name="adj" fmla="val 4057"/>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extras.png"/>
          <p:cNvPicPr>
            <a:picLocks noChangeAspect="1"/>
          </p:cNvPicPr>
          <p:nvPr/>
        </p:nvPicPr>
        <p:blipFill>
          <a:blip r:embed="rId2"/>
          <a:stretch>
            <a:fillRect/>
          </a:stretch>
        </p:blipFill>
        <p:spPr>
          <a:xfrm>
            <a:off x="685800" y="1729445"/>
            <a:ext cx="10835640" cy="2813893"/>
          </a:xfrm>
          <a:prstGeom prst="rect">
            <a:avLst/>
          </a:prstGeom>
        </p:spPr>
      </p:pic>
      <p:sp>
        <p:nvSpPr>
          <p:cNvPr id="14" name="Rounded Rectangle 13"/>
          <p:cNvSpPr/>
          <p:nvPr/>
        </p:nvSpPr>
        <p:spPr>
          <a:xfrm>
            <a:off x="548640"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49808" y="5010912"/>
            <a:ext cx="54864" cy="219456"/>
          </a:xfrm>
          <a:prstGeom prst="roundRect">
            <a:avLst>
              <a:gd name="adj" fmla="val 50000"/>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6112" y="4965192"/>
            <a:ext cx="3154680" cy="292608"/>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Monte Carlo error ∝ 1/√N</a:t>
            </a:r>
          </a:p>
        </p:txBody>
      </p:sp>
      <p:sp>
        <p:nvSpPr>
          <p:cNvPr id="17" name="TextBox 16"/>
          <p:cNvSpPr txBox="1"/>
          <p:nvPr/>
        </p:nvSpPr>
        <p:spPr>
          <a:xfrm>
            <a:off x="768096" y="5321808"/>
            <a:ext cx="3246120" cy="914400"/>
          </a:xfrm>
          <a:prstGeom prst="rect">
            <a:avLst/>
          </a:prstGeom>
          <a:noFill/>
        </p:spPr>
        <p:txBody>
          <a:bodyPr wrap="square" lIns="0" rIns="0" tIns="0" bIns="0" anchor="t">
            <a:spAutoFit/>
          </a:bodyPr>
          <a:lstStyle/>
          <a:p>
            <a:pPr algn="l">
              <a:lnSpc>
                <a:spcPct val="100000"/>
              </a:lnSpc>
              <a:spcAft>
                <a:spcPts val="300"/>
              </a:spcAft>
            </a:pPr>
            <a:r>
              <a:rPr sz="1019" b="0" i="0">
                <a:solidFill>
                  <a:srgbClr val="9AA3C7"/>
                </a:solidFill>
                <a:latin typeface="Segoe UI"/>
                <a:cs typeface="Segoe UI"/>
              </a:rPr>
              <a:t>Fitted log–log slope </a:t>
            </a:r>
            <a:r>
              <a:rPr sz="1019" b="0" i="0">
                <a:solidFill>
                  <a:srgbClr val="E6E9F5"/>
                </a:solidFill>
                <a:latin typeface="Cambria Math"/>
                <a:cs typeface="Cambria Math"/>
              </a:rPr>
              <a:t>-0.49</a:t>
            </a:r>
            <a:r>
              <a:rPr sz="1019" b="0" i="0">
                <a:solidFill>
                  <a:srgbClr val="9AA3C7"/>
                </a:solidFill>
                <a:latin typeface="Segoe UI"/>
                <a:cs typeface="Segoe UI"/>
              </a:rPr>
              <a:t>  (theory </a:t>
            </a:r>
            <a:r>
              <a:rPr sz="1019" b="0" i="0">
                <a:solidFill>
                  <a:srgbClr val="9AA3C7"/>
                </a:solidFill>
                <a:latin typeface="Cambria Math"/>
                <a:cs typeface="Cambria Math"/>
              </a:rPr>
              <a:t>−½</a:t>
            </a:r>
            <a:r>
              <a:rPr sz="1019" b="0" i="0">
                <a:solidFill>
                  <a:srgbClr val="9AA3C7"/>
                </a:solidFill>
                <a:latin typeface="Segoe UI"/>
                <a:cs typeface="Segoe UI"/>
              </a:rPr>
              <a:t>)</a:t>
            </a:r>
          </a:p>
          <a:p>
            <a:pPr algn="l">
              <a:lnSpc>
                <a:spcPct val="100000"/>
              </a:lnSpc>
              <a:spcAft>
                <a:spcPts val="300"/>
              </a:spcAft>
            </a:pPr>
            <a:r>
              <a:rPr sz="1019" b="0" i="0">
                <a:solidFill>
                  <a:srgbClr val="9AA3C7"/>
                </a:solidFill>
                <a:latin typeface="Segoe UI"/>
                <a:cs typeface="Segoe UI"/>
              </a:rPr>
              <a:t>Error </a:t>
            </a:r>
            <a:r>
              <a:rPr sz="1019" b="0" i="0">
                <a:solidFill>
                  <a:srgbClr val="E6E9F5"/>
                </a:solidFill>
                <a:latin typeface="Cambria Math"/>
                <a:cs typeface="Cambria Math"/>
              </a:rPr>
              <a:t>28 %</a:t>
            </a:r>
            <a:r>
              <a:rPr sz="1019" b="0" i="0">
                <a:solidFill>
                  <a:srgbClr val="9AA3C7"/>
                </a:solidFill>
                <a:latin typeface="Segoe UI"/>
                <a:cs typeface="Segoe UI"/>
              </a:rPr>
              <a:t> at </a:t>
            </a:r>
            <a:r>
              <a:rPr sz="1019" b="0" i="0">
                <a:solidFill>
                  <a:srgbClr val="9AA3C7"/>
                </a:solidFill>
                <a:latin typeface="Cambria Math"/>
                <a:cs typeface="Cambria Math"/>
              </a:rPr>
              <a:t>N = 10</a:t>
            </a:r>
            <a:r>
              <a:rPr sz="1019" b="0" i="0">
                <a:solidFill>
                  <a:srgbClr val="9AA3C7"/>
                </a:solidFill>
                <a:latin typeface="Segoe UI"/>
                <a:cs typeface="Segoe UI"/>
              </a:rPr>
              <a:t>  →  </a:t>
            </a:r>
            <a:r>
              <a:rPr sz="1019" b="0" i="0">
                <a:solidFill>
                  <a:srgbClr val="E6E9F5"/>
                </a:solidFill>
                <a:latin typeface="Cambria Math"/>
                <a:cs typeface="Cambria Math"/>
              </a:rPr>
              <a:t>0.56 %</a:t>
            </a:r>
            <a:r>
              <a:rPr sz="1019" b="0" i="0">
                <a:solidFill>
                  <a:srgbClr val="9AA3C7"/>
                </a:solidFill>
                <a:latin typeface="Segoe UI"/>
                <a:cs typeface="Segoe UI"/>
              </a:rPr>
              <a:t> at </a:t>
            </a:r>
            <a:r>
              <a:rPr sz="1019" b="0" i="0">
                <a:solidFill>
                  <a:srgbClr val="9AA3C7"/>
                </a:solidFill>
                <a:latin typeface="Cambria Math"/>
                <a:cs typeface="Cambria Math"/>
              </a:rPr>
              <a:t>N = 20,000</a:t>
            </a:r>
          </a:p>
          <a:p>
            <a:pPr algn="l">
              <a:lnSpc>
                <a:spcPct val="100000"/>
              </a:lnSpc>
              <a:spcAft>
                <a:spcPts val="300"/>
              </a:spcAft>
            </a:pPr>
            <a:r>
              <a:rPr sz="1019" b="0" i="0">
                <a:solidFill>
                  <a:srgbClr val="9AA3C7"/>
                </a:solidFill>
                <a:latin typeface="Segoe UI"/>
                <a:cs typeface="Segoe UI"/>
              </a:rPr>
              <a:t>100× more walkers  ⇒  10× smaller error</a:t>
            </a:r>
          </a:p>
        </p:txBody>
      </p:sp>
      <p:sp>
        <p:nvSpPr>
          <p:cNvPr id="18" name="Rounded Rectangle 17"/>
          <p:cNvSpPr/>
          <p:nvPr/>
        </p:nvSpPr>
        <p:spPr>
          <a:xfrm>
            <a:off x="4293107"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494275" y="5010912"/>
            <a:ext cx="54864" cy="219456"/>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40579" y="4965192"/>
            <a:ext cx="3154680" cy="292608"/>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Distinct sites visited  Sₙ</a:t>
            </a:r>
          </a:p>
        </p:txBody>
      </p:sp>
      <p:sp>
        <p:nvSpPr>
          <p:cNvPr id="21" name="TextBox 20"/>
          <p:cNvSpPr txBox="1"/>
          <p:nvPr/>
        </p:nvSpPr>
        <p:spPr>
          <a:xfrm>
            <a:off x="4512564" y="5321808"/>
            <a:ext cx="3246120" cy="914400"/>
          </a:xfrm>
          <a:prstGeom prst="rect">
            <a:avLst/>
          </a:prstGeom>
          <a:noFill/>
        </p:spPr>
        <p:txBody>
          <a:bodyPr wrap="square" lIns="0" rIns="0" tIns="0" bIns="0" anchor="t">
            <a:spAutoFit/>
          </a:bodyPr>
          <a:lstStyle/>
          <a:p>
            <a:pPr algn="l">
              <a:lnSpc>
                <a:spcPct val="100000"/>
              </a:lnSpc>
              <a:spcAft>
                <a:spcPts val="300"/>
              </a:spcAft>
            </a:pPr>
            <a:r>
              <a:rPr sz="1019" b="0" i="0">
                <a:solidFill>
                  <a:srgbClr val="9AA3C7"/>
                </a:solidFill>
                <a:latin typeface="Segoe UI"/>
                <a:cs typeface="Segoe UI"/>
              </a:rPr>
              <a:t>d ≥ 3: </a:t>
            </a:r>
            <a:r>
              <a:rPr sz="1019" b="0" i="0">
                <a:solidFill>
                  <a:srgbClr val="E6E9F5"/>
                </a:solidFill>
                <a:latin typeface="Cambria Math"/>
                <a:cs typeface="Cambria Math"/>
              </a:rPr>
              <a:t>Sₙ ≈ (1 − F_d) n</a:t>
            </a:r>
            <a:r>
              <a:rPr sz="1019" b="0" i="0">
                <a:solidFill>
                  <a:srgbClr val="9AA3C7"/>
                </a:solidFill>
                <a:latin typeface="Segoe UI"/>
                <a:cs typeface="Segoe UI"/>
              </a:rPr>
              <a:t> — transience ⇒ few revisits</a:t>
            </a:r>
          </a:p>
          <a:p>
            <a:pPr algn="l">
              <a:lnSpc>
                <a:spcPct val="100000"/>
              </a:lnSpc>
              <a:spcAft>
                <a:spcPts val="300"/>
              </a:spcAft>
            </a:pPr>
            <a:r>
              <a:rPr sz="1019" b="0" i="0">
                <a:solidFill>
                  <a:srgbClr val="E6E9F5"/>
                </a:solidFill>
                <a:latin typeface="Cambria Math"/>
                <a:cs typeface="Cambria Math"/>
              </a:rPr>
              <a:t>3D 3336 vs 3298  ·  4D 4024 vs 4034  ·  5D 4323 vs 4324</a:t>
            </a:r>
          </a:p>
          <a:p>
            <a:pPr algn="l">
              <a:lnSpc>
                <a:spcPct val="100000"/>
              </a:lnSpc>
              <a:spcAft>
                <a:spcPts val="300"/>
              </a:spcAft>
            </a:pPr>
            <a:r>
              <a:rPr sz="1019" b="0" i="0">
                <a:solidFill>
                  <a:srgbClr val="9AA3C7"/>
                </a:solidFill>
                <a:latin typeface="Segoe UI"/>
                <a:cs typeface="Segoe UI"/>
              </a:rPr>
              <a:t>1D: </a:t>
            </a:r>
            <a:r>
              <a:rPr sz="1019" b="0" i="0">
                <a:solidFill>
                  <a:srgbClr val="9AA3C7"/>
                </a:solidFill>
                <a:latin typeface="Cambria Math"/>
                <a:cs typeface="Cambria Math"/>
              </a:rPr>
              <a:t>115</a:t>
            </a:r>
            <a:r>
              <a:rPr sz="1019" b="0" i="0">
                <a:solidFill>
                  <a:srgbClr val="9AA3C7"/>
                </a:solidFill>
                <a:latin typeface="Segoe UI"/>
                <a:cs typeface="Segoe UI"/>
              </a:rPr>
              <a:t> vs </a:t>
            </a:r>
            <a:r>
              <a:rPr sz="1019" b="0" i="0">
                <a:solidFill>
                  <a:srgbClr val="9AA3C7"/>
                </a:solidFill>
                <a:latin typeface="Cambria Math"/>
                <a:cs typeface="Cambria Math"/>
              </a:rPr>
              <a:t>√(8n/π) = 113</a:t>
            </a:r>
            <a:r>
              <a:rPr sz="1019" b="0" i="0">
                <a:solidFill>
                  <a:srgbClr val="9AA3C7"/>
                </a:solidFill>
                <a:latin typeface="Segoe UI"/>
                <a:cs typeface="Segoe UI"/>
              </a:rPr>
              <a:t>; 2D grows like </a:t>
            </a:r>
            <a:r>
              <a:rPr sz="1019" b="0" i="0">
                <a:solidFill>
                  <a:srgbClr val="9AA3C7"/>
                </a:solidFill>
                <a:latin typeface="Cambria Math"/>
                <a:cs typeface="Cambria Math"/>
              </a:rPr>
              <a:t>n / ln n</a:t>
            </a:r>
          </a:p>
        </p:txBody>
      </p:sp>
      <p:sp>
        <p:nvSpPr>
          <p:cNvPr id="22" name="Rounded Rectangle 21"/>
          <p:cNvSpPr/>
          <p:nvPr/>
        </p:nvSpPr>
        <p:spPr>
          <a:xfrm>
            <a:off x="8037575" y="4846320"/>
            <a:ext cx="3602736" cy="1426464"/>
          </a:xfrm>
          <a:prstGeom prst="roundRect">
            <a:avLst>
              <a:gd name="adj" fmla="val 897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238744" y="5010912"/>
            <a:ext cx="54864" cy="219456"/>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85048" y="4965192"/>
            <a:ext cx="3154680" cy="292608"/>
          </a:xfrm>
          <a:prstGeom prst="rect">
            <a:avLst/>
          </a:prstGeom>
          <a:noFill/>
        </p:spPr>
        <p:txBody>
          <a:bodyPr wrap="square" lIns="0" rIns="0" tIns="0" bIns="0" anchor="t">
            <a:spAutoFit/>
          </a:bodyPr>
          <a:lstStyle/>
          <a:p>
            <a:pPr algn="l">
              <a:spcAft>
                <a:spcPts val="0"/>
              </a:spcAft>
            </a:pPr>
            <a:r>
              <a:rPr sz="1250" b="0" i="0">
                <a:solidFill>
                  <a:srgbClr val="E6E9F5"/>
                </a:solidFill>
                <a:latin typeface="Segoe UI Semibold"/>
                <a:cs typeface="Segoe UI Semibold"/>
              </a:rPr>
              <a:t>Biased walk  p = 0.55</a:t>
            </a:r>
          </a:p>
        </p:txBody>
      </p:sp>
      <p:sp>
        <p:nvSpPr>
          <p:cNvPr id="25" name="TextBox 24"/>
          <p:cNvSpPr txBox="1"/>
          <p:nvPr/>
        </p:nvSpPr>
        <p:spPr>
          <a:xfrm>
            <a:off x="8257031" y="5321808"/>
            <a:ext cx="3246120" cy="914400"/>
          </a:xfrm>
          <a:prstGeom prst="rect">
            <a:avLst/>
          </a:prstGeom>
          <a:noFill/>
        </p:spPr>
        <p:txBody>
          <a:bodyPr wrap="square" lIns="0" rIns="0" tIns="0" bIns="0" anchor="t">
            <a:spAutoFit/>
          </a:bodyPr>
          <a:lstStyle/>
          <a:p>
            <a:pPr algn="l">
              <a:lnSpc>
                <a:spcPct val="100000"/>
              </a:lnSpc>
              <a:spcAft>
                <a:spcPts val="300"/>
              </a:spcAft>
            </a:pPr>
            <a:r>
              <a:rPr sz="1019" b="0" i="0">
                <a:solidFill>
                  <a:srgbClr val="9AA3C7"/>
                </a:solidFill>
                <a:latin typeface="Segoe UI"/>
                <a:cs typeface="Segoe UI"/>
              </a:rPr>
              <a:t>Mean </a:t>
            </a:r>
            <a:r>
              <a:rPr sz="1019" b="0" i="0">
                <a:solidFill>
                  <a:srgbClr val="E6E9F5"/>
                </a:solidFill>
                <a:latin typeface="Cambria Math"/>
                <a:cs typeface="Cambria Math"/>
              </a:rPr>
              <a:t>198.8</a:t>
            </a:r>
            <a:r>
              <a:rPr sz="1019" b="0" i="0">
                <a:solidFill>
                  <a:srgbClr val="9AA3C7"/>
                </a:solidFill>
                <a:latin typeface="Segoe UI"/>
                <a:cs typeface="Segoe UI"/>
              </a:rPr>
              <a:t>  vs  </a:t>
            </a:r>
            <a:r>
              <a:rPr sz="1019" b="0" i="0">
                <a:solidFill>
                  <a:srgbClr val="E6E9F5"/>
                </a:solidFill>
                <a:latin typeface="Cambria Math"/>
                <a:cs typeface="Cambria Math"/>
              </a:rPr>
              <a:t>n(2p−1)/d = 200</a:t>
            </a:r>
          </a:p>
          <a:p>
            <a:pPr algn="l">
              <a:lnSpc>
                <a:spcPct val="100000"/>
              </a:lnSpc>
              <a:spcAft>
                <a:spcPts val="300"/>
              </a:spcAft>
            </a:pPr>
            <a:r>
              <a:rPr sz="1019" b="0" i="0">
                <a:solidFill>
                  <a:srgbClr val="9AA3C7"/>
                </a:solidFill>
                <a:latin typeface="Segoe UI"/>
                <a:cs typeface="Segoe UI"/>
              </a:rPr>
              <a:t>Variance </a:t>
            </a:r>
            <a:r>
              <a:rPr sz="1019" b="0" i="0">
                <a:solidFill>
                  <a:srgbClr val="E6E9F5"/>
                </a:solidFill>
                <a:latin typeface="Cambria Math"/>
                <a:cs typeface="Cambria Math"/>
              </a:rPr>
              <a:t>1999</a:t>
            </a:r>
            <a:r>
              <a:rPr sz="1019" b="0" i="0">
                <a:solidFill>
                  <a:srgbClr val="9AA3C7"/>
                </a:solidFill>
                <a:latin typeface="Segoe UI"/>
                <a:cs typeface="Segoe UI"/>
              </a:rPr>
              <a:t>  vs  </a:t>
            </a:r>
            <a:r>
              <a:rPr sz="1019" b="0" i="0">
                <a:solidFill>
                  <a:srgbClr val="E6E9F5"/>
                </a:solidFill>
                <a:latin typeface="Cambria Math"/>
                <a:cs typeface="Cambria Math"/>
              </a:rPr>
              <a:t>4np(1−p) = 1980</a:t>
            </a:r>
          </a:p>
          <a:p>
            <a:pPr algn="l">
              <a:lnSpc>
                <a:spcPct val="100000"/>
              </a:lnSpc>
              <a:spcAft>
                <a:spcPts val="300"/>
              </a:spcAft>
            </a:pPr>
            <a:r>
              <a:rPr sz="1019" b="0" i="0">
                <a:solidFill>
                  <a:srgbClr val="9AA3C7"/>
                </a:solidFill>
                <a:latin typeface="Segoe UI"/>
                <a:cs typeface="Segoe UI"/>
              </a:rPr>
              <a:t>Drift </a:t>
            </a:r>
            <a:r>
              <a:rPr sz="1019" b="0" i="0">
                <a:solidFill>
                  <a:srgbClr val="9AA3C7"/>
                </a:solidFill>
                <a:latin typeface="Cambria Math"/>
                <a:cs typeface="Cambria Math"/>
              </a:rPr>
              <a:t>∝ n</a:t>
            </a:r>
            <a:r>
              <a:rPr sz="1019" b="0" i="0">
                <a:solidFill>
                  <a:srgbClr val="9AA3C7"/>
                </a:solidFill>
                <a:latin typeface="Segoe UI"/>
                <a:cs typeface="Segoe UI"/>
              </a:rPr>
              <a:t> overtakes diffusion </a:t>
            </a:r>
            <a:r>
              <a:rPr sz="1019" b="0" i="0">
                <a:solidFill>
                  <a:srgbClr val="9AA3C7"/>
                </a:solidFill>
                <a:latin typeface="Cambria Math"/>
                <a:cs typeface="Cambria Math"/>
              </a:rPr>
              <a:t>∝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B1A"/>
        </a:solidFill>
        <a:effectLst/>
      </p:bgPr>
    </p:bg>
    <p:spTree>
      <p:nvGrpSpPr>
        <p:cNvPr id="1" name=""/>
        <p:cNvGrpSpPr/>
        <p:nvPr/>
      </p:nvGrpSpPr>
      <p:grpSpPr/>
      <p:sp>
        <p:nvSpPr>
          <p:cNvPr id="2" name="Oval 1"/>
          <p:cNvSpPr/>
          <p:nvPr/>
        </p:nvSpPr>
        <p:spPr>
          <a:xfrm>
            <a:off x="9144000" y="-2194560"/>
            <a:ext cx="4754880" cy="4754880"/>
          </a:xfrm>
          <a:prstGeom prst="ellipse">
            <a:avLst/>
          </a:prstGeom>
          <a:solidFill>
            <a:srgbClr val="818CF8">
              <a:alpha val="16000"/>
            </a:srgbClr>
          </a:solidFill>
          <a:ln>
            <a:noFill/>
          </a:ln>
          <a:effectLst>
            <a:softEdge rad="2258568"/>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828800" y="4754880"/>
            <a:ext cx="4023360" cy="4023360"/>
          </a:xfrm>
          <a:prstGeom prst="ellipse">
            <a:avLst/>
          </a:prstGeom>
          <a:solidFill>
            <a:srgbClr val="22D3EE">
              <a:alpha val="9000"/>
            </a:srgbClr>
          </a:solidFill>
          <a:ln>
            <a:noFill/>
          </a:ln>
          <a:effectLst>
            <a:softEdge rad="1911095"/>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347472"/>
            <a:ext cx="2189073" cy="292608"/>
          </a:xfrm>
          <a:prstGeom prst="roundRect">
            <a:avLst>
              <a:gd name="adj" fmla="val 50000"/>
            </a:avLst>
          </a:prstGeom>
          <a:solidFill>
            <a:srgbClr val="34D399">
              <a:alpha val="12000"/>
            </a:srgbClr>
          </a:solidFill>
          <a:ln w="11430">
            <a:solidFill>
              <a:srgbClr val="34D399">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347472"/>
            <a:ext cx="2189073" cy="292608"/>
          </a:xfrm>
          <a:prstGeom prst="rect">
            <a:avLst/>
          </a:prstGeom>
          <a:noFill/>
        </p:spPr>
        <p:txBody>
          <a:bodyPr wrap="square" lIns="0" rIns="0" tIns="0" bIns="0" anchor="ctr">
            <a:spAutoFit/>
          </a:bodyPr>
          <a:lstStyle/>
          <a:p>
            <a:pPr algn="ctr">
              <a:spcAft>
                <a:spcPts val="0"/>
              </a:spcAft>
            </a:pPr>
            <a:r>
              <a:rPr sz="1000" b="0" i="0" spc="120">
                <a:solidFill>
                  <a:srgbClr val="34D399"/>
                </a:solidFill>
                <a:latin typeface="Segoe UI Semibold"/>
                <a:cs typeface="Segoe UI Semibold"/>
              </a:rPr>
              <a:t>09  ·  CONCLUSIONS</a:t>
            </a:r>
          </a:p>
        </p:txBody>
      </p:sp>
      <p:sp>
        <p:nvSpPr>
          <p:cNvPr id="6" name="TextBox 5"/>
          <p:cNvSpPr txBox="1"/>
          <p:nvPr/>
        </p:nvSpPr>
        <p:spPr>
          <a:xfrm>
            <a:off x="548640" y="713232"/>
            <a:ext cx="11064240" cy="566928"/>
          </a:xfrm>
          <a:prstGeom prst="rect">
            <a:avLst/>
          </a:prstGeom>
          <a:noFill/>
        </p:spPr>
        <p:txBody>
          <a:bodyPr wrap="square" lIns="0" rIns="0" tIns="0" bIns="0" anchor="t">
            <a:spAutoFit/>
          </a:bodyPr>
          <a:lstStyle/>
          <a:p>
            <a:pPr algn="l">
              <a:spcAft>
                <a:spcPts val="0"/>
              </a:spcAft>
            </a:pPr>
            <a:r>
              <a:rPr sz="2800" b="0" i="0">
                <a:solidFill>
                  <a:srgbClr val="E6E9F5"/>
                </a:solidFill>
                <a:latin typeface="Segoe UI Semibold"/>
                <a:cs typeface="Segoe UI Semibold"/>
              </a:rPr>
              <a:t>What we established</a:t>
            </a:r>
          </a:p>
        </p:txBody>
      </p:sp>
      <p:sp>
        <p:nvSpPr>
          <p:cNvPr id="7" name="Rounded Rectangle 6"/>
          <p:cNvSpPr/>
          <p:nvPr/>
        </p:nvSpPr>
        <p:spPr>
          <a:xfrm>
            <a:off x="548640" y="1298448"/>
            <a:ext cx="777240" cy="45720"/>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371600" y="1298448"/>
            <a:ext cx="274320" cy="45720"/>
          </a:xfrm>
          <a:prstGeom prst="roundRect">
            <a:avLst>
              <a:gd name="adj" fmla="val 50000"/>
            </a:avLst>
          </a:prstGeom>
          <a:solidFill>
            <a:srgbClr val="818C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691640" y="1298448"/>
            <a:ext cx="109728" cy="45720"/>
          </a:xfrm>
          <a:prstGeom prst="roundRect">
            <a:avLst>
              <a:gd name="adj" fmla="val 50000"/>
            </a:avLst>
          </a:prstGeom>
          <a:solidFill>
            <a:srgbClr val="F472B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6446520"/>
            <a:ext cx="7315200" cy="228600"/>
          </a:xfrm>
          <a:prstGeom prst="rect">
            <a:avLst/>
          </a:prstGeom>
          <a:noFill/>
        </p:spPr>
        <p:txBody>
          <a:bodyPr wrap="square" lIns="0" rIns="0" tIns="0" bIns="0" anchor="t">
            <a:spAutoFit/>
          </a:bodyPr>
          <a:lstStyle/>
          <a:p>
            <a:pPr algn="l">
              <a:spcAft>
                <a:spcPts val="0"/>
              </a:spcAft>
            </a:pPr>
            <a:r>
              <a:rPr sz="850" b="0" i="0" spc="150">
                <a:solidFill>
                  <a:srgbClr val="5B6690"/>
                </a:solidFill>
                <a:latin typeface="Segoe UI Semibold"/>
                <a:cs typeface="Segoe UI Semibold"/>
              </a:rPr>
              <a:t>RANDOM WALK LABORATORY   ·   IDC612   ·   IIT KANPUR</a:t>
            </a:r>
          </a:p>
        </p:txBody>
      </p:sp>
      <p:sp>
        <p:nvSpPr>
          <p:cNvPr id="11" name="TextBox 10"/>
          <p:cNvSpPr txBox="1"/>
          <p:nvPr/>
        </p:nvSpPr>
        <p:spPr>
          <a:xfrm>
            <a:off x="10241280" y="6446520"/>
            <a:ext cx="1399032" cy="228600"/>
          </a:xfrm>
          <a:prstGeom prst="rect">
            <a:avLst/>
          </a:prstGeom>
          <a:noFill/>
        </p:spPr>
        <p:txBody>
          <a:bodyPr wrap="square" lIns="0" rIns="0" tIns="0" bIns="0" anchor="t">
            <a:spAutoFit/>
          </a:bodyPr>
          <a:lstStyle/>
          <a:p>
            <a:pPr algn="r">
              <a:spcAft>
                <a:spcPts val="0"/>
              </a:spcAft>
            </a:pPr>
            <a:r>
              <a:rPr sz="900" b="0" i="0">
                <a:solidFill>
                  <a:srgbClr val="9AA3C7"/>
                </a:solidFill>
                <a:latin typeface="Segoe UI Semibold"/>
                <a:cs typeface="Segoe UI Semibold"/>
              </a:rPr>
              <a:t>10</a:t>
            </a:r>
            <a:r>
              <a:rPr sz="900" b="0" i="0">
                <a:solidFill>
                  <a:srgbClr val="5B6690"/>
                </a:solidFill>
                <a:latin typeface="Segoe UI Semibold"/>
                <a:cs typeface="Segoe UI Semibold"/>
              </a:rPr>
              <a:t>  /  10</a:t>
            </a:r>
          </a:p>
        </p:txBody>
      </p:sp>
      <p:sp>
        <p:nvSpPr>
          <p:cNvPr id="12" name="Rounded Rectangle 11"/>
          <p:cNvSpPr/>
          <p:nvPr/>
        </p:nvSpPr>
        <p:spPr>
          <a:xfrm>
            <a:off x="548640" y="1554480"/>
            <a:ext cx="6035040" cy="4096512"/>
          </a:xfrm>
          <a:prstGeom prst="roundRect">
            <a:avLst>
              <a:gd name="adj" fmla="val 3125"/>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777240" y="1773936"/>
            <a:ext cx="54864" cy="237744"/>
          </a:xfrm>
          <a:prstGeom prst="roundRect">
            <a:avLst>
              <a:gd name="adj" fmla="val 500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1709928"/>
            <a:ext cx="5486400"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Key findings</a:t>
            </a:r>
          </a:p>
        </p:txBody>
      </p:sp>
      <p:sp>
        <p:nvSpPr>
          <p:cNvPr id="15" name="Oval 14"/>
          <p:cNvSpPr/>
          <p:nvPr/>
        </p:nvSpPr>
        <p:spPr>
          <a:xfrm>
            <a:off x="804672" y="2103120"/>
            <a:ext cx="329184" cy="329184"/>
          </a:xfrm>
          <a:prstGeom prst="ellipse">
            <a:avLst/>
          </a:prstGeom>
          <a:solidFill>
            <a:srgbClr val="22D3EE">
              <a:alpha val="18000"/>
            </a:srgbClr>
          </a:solidFill>
          <a:ln w="12700">
            <a:solidFill>
              <a:srgbClr val="22D3EE">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 y="2103120"/>
            <a:ext cx="329184" cy="329184"/>
          </a:xfrm>
          <a:prstGeom prst="rect">
            <a:avLst/>
          </a:prstGeom>
          <a:noFill/>
        </p:spPr>
        <p:txBody>
          <a:bodyPr wrap="square" lIns="0" rIns="0" tIns="0" bIns="0" anchor="ctr">
            <a:spAutoFit/>
          </a:bodyPr>
          <a:lstStyle/>
          <a:p>
            <a:pPr algn="ctr">
              <a:spcAft>
                <a:spcPts val="0"/>
              </a:spcAft>
            </a:pPr>
            <a:r>
              <a:rPr sz="1200" b="0" i="0">
                <a:solidFill>
                  <a:srgbClr val="22D3EE"/>
                </a:solidFill>
                <a:latin typeface="Segoe UI Semibold"/>
                <a:cs typeface="Segoe UI Semibold"/>
              </a:rPr>
              <a:t>✓</a:t>
            </a:r>
          </a:p>
        </p:txBody>
      </p:sp>
      <p:sp>
        <p:nvSpPr>
          <p:cNvPr id="17" name="TextBox 16"/>
          <p:cNvSpPr txBox="1"/>
          <p:nvPr/>
        </p:nvSpPr>
        <p:spPr>
          <a:xfrm>
            <a:off x="1298448" y="2048256"/>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Cambria Math"/>
                <a:cs typeface="Cambria Math"/>
              </a:rPr>
              <a:t>E|Xₙ|² = n</a:t>
            </a:r>
            <a:r>
              <a:rPr sz="1350" b="0" i="0">
                <a:solidFill>
                  <a:srgbClr val="E6E9F5"/>
                </a:solidFill>
                <a:latin typeface="Segoe UI Semibold"/>
                <a:cs typeface="Segoe UI Semibold"/>
              </a:rPr>
              <a:t> holds for every d = 1…5</a:t>
            </a:r>
          </a:p>
        </p:txBody>
      </p:sp>
      <p:sp>
        <p:nvSpPr>
          <p:cNvPr id="18" name="TextBox 17"/>
          <p:cNvSpPr txBox="1"/>
          <p:nvPr/>
        </p:nvSpPr>
        <p:spPr>
          <a:xfrm>
            <a:off x="1298448" y="2331720"/>
            <a:ext cx="5120640" cy="274320"/>
          </a:xfrm>
          <a:prstGeom prst="rect">
            <a:avLst/>
          </a:prstGeom>
          <a:noFill/>
        </p:spPr>
        <p:txBody>
          <a:bodyPr wrap="square" lIns="0" rIns="0" tIns="0" bIns="0" anchor="t">
            <a:spAutoFit/>
          </a:bodyPr>
          <a:lstStyle/>
          <a:p>
            <a:pPr algn="l">
              <a:spcAft>
                <a:spcPts val="0"/>
              </a:spcAft>
            </a:pPr>
            <a:r>
              <a:rPr sz="1050" b="0" i="0">
                <a:solidFill>
                  <a:srgbClr val="9AA3C7"/>
                </a:solidFill>
                <a:latin typeface="Segoe UI"/>
                <a:cs typeface="Segoe UI"/>
              </a:rPr>
              <a:t>errors ≤ 1.7 %, all within 1.2 standard errors</a:t>
            </a:r>
          </a:p>
        </p:txBody>
      </p:sp>
      <p:sp>
        <p:nvSpPr>
          <p:cNvPr id="19" name="Oval 18"/>
          <p:cNvSpPr/>
          <p:nvPr/>
        </p:nvSpPr>
        <p:spPr>
          <a:xfrm>
            <a:off x="804672" y="2798063"/>
            <a:ext cx="329184" cy="329184"/>
          </a:xfrm>
          <a:prstGeom prst="ellipse">
            <a:avLst/>
          </a:prstGeom>
          <a:solidFill>
            <a:srgbClr val="818CF8">
              <a:alpha val="18000"/>
            </a:srgbClr>
          </a:solidFill>
          <a:ln w="12700">
            <a:solidFill>
              <a:srgbClr val="818CF8">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 y="2798063"/>
            <a:ext cx="329184" cy="329184"/>
          </a:xfrm>
          <a:prstGeom prst="rect">
            <a:avLst/>
          </a:prstGeom>
          <a:noFill/>
        </p:spPr>
        <p:txBody>
          <a:bodyPr wrap="square" lIns="0" rIns="0" tIns="0" bIns="0" anchor="ctr">
            <a:spAutoFit/>
          </a:bodyPr>
          <a:lstStyle/>
          <a:p>
            <a:pPr algn="ctr">
              <a:spcAft>
                <a:spcPts val="0"/>
              </a:spcAft>
            </a:pPr>
            <a:r>
              <a:rPr sz="1200" b="0" i="0">
                <a:solidFill>
                  <a:srgbClr val="818CF8"/>
                </a:solidFill>
                <a:latin typeface="Segoe UI Semibold"/>
                <a:cs typeface="Segoe UI Semibold"/>
              </a:rPr>
              <a:t>✓</a:t>
            </a:r>
          </a:p>
        </p:txBody>
      </p:sp>
      <p:sp>
        <p:nvSpPr>
          <p:cNvPr id="21" name="TextBox 20"/>
          <p:cNvSpPr txBox="1"/>
          <p:nvPr/>
        </p:nvSpPr>
        <p:spPr>
          <a:xfrm>
            <a:off x="1298448" y="2743200"/>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Diffusive scaling </a:t>
            </a:r>
            <a:r>
              <a:rPr sz="1350" b="0" i="0">
                <a:solidFill>
                  <a:srgbClr val="E6E9F5"/>
                </a:solidFill>
                <a:latin typeface="Cambria Math"/>
                <a:cs typeface="Cambria Math"/>
              </a:rPr>
              <a:t>R ∼ n^½</a:t>
            </a:r>
          </a:p>
        </p:txBody>
      </p:sp>
      <p:sp>
        <p:nvSpPr>
          <p:cNvPr id="22" name="TextBox 21"/>
          <p:cNvSpPr txBox="1"/>
          <p:nvPr/>
        </p:nvSpPr>
        <p:spPr>
          <a:xfrm>
            <a:off x="1298448" y="3026663"/>
            <a:ext cx="5120640" cy="274320"/>
          </a:xfrm>
          <a:prstGeom prst="rect">
            <a:avLst/>
          </a:prstGeom>
          <a:noFill/>
        </p:spPr>
        <p:txBody>
          <a:bodyPr wrap="square" lIns="0" rIns="0" tIns="0" bIns="0" anchor="t">
            <a:spAutoFit/>
          </a:bodyPr>
          <a:lstStyle/>
          <a:p>
            <a:pPr algn="l">
              <a:spcAft>
                <a:spcPts val="0"/>
              </a:spcAft>
            </a:pPr>
            <a:r>
              <a:rPr sz="1050" b="0" i="0">
                <a:solidFill>
                  <a:srgbClr val="9AA3C7"/>
                </a:solidFill>
                <a:latin typeface="Segoe UI"/>
                <a:cs typeface="Segoe UI"/>
              </a:rPr>
              <a:t>fitted α̂ = 0.497 – 0.505</a:t>
            </a:r>
          </a:p>
        </p:txBody>
      </p:sp>
      <p:sp>
        <p:nvSpPr>
          <p:cNvPr id="23" name="Oval 22"/>
          <p:cNvSpPr/>
          <p:nvPr/>
        </p:nvSpPr>
        <p:spPr>
          <a:xfrm>
            <a:off x="804672" y="3493007"/>
            <a:ext cx="329184" cy="329184"/>
          </a:xfrm>
          <a:prstGeom prst="ellipse">
            <a:avLst/>
          </a:prstGeom>
          <a:solidFill>
            <a:srgbClr val="FBBF24">
              <a:alpha val="18000"/>
            </a:srgbClr>
          </a:solidFill>
          <a:ln w="12700">
            <a:solidFill>
              <a:srgbClr val="FBBF24">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 y="3493007"/>
            <a:ext cx="329184" cy="329184"/>
          </a:xfrm>
          <a:prstGeom prst="rect">
            <a:avLst/>
          </a:prstGeom>
          <a:noFill/>
        </p:spPr>
        <p:txBody>
          <a:bodyPr wrap="square" lIns="0" rIns="0" tIns="0" bIns="0" anchor="ctr">
            <a:spAutoFit/>
          </a:bodyPr>
          <a:lstStyle/>
          <a:p>
            <a:pPr algn="ctr">
              <a:spcAft>
                <a:spcPts val="0"/>
              </a:spcAft>
            </a:pPr>
            <a:r>
              <a:rPr sz="1200" b="0" i="0">
                <a:solidFill>
                  <a:srgbClr val="FBBF24"/>
                </a:solidFill>
                <a:latin typeface="Segoe UI Semibold"/>
                <a:cs typeface="Segoe UI Semibold"/>
              </a:rPr>
              <a:t>✓</a:t>
            </a:r>
          </a:p>
        </p:txBody>
      </p:sp>
      <p:sp>
        <p:nvSpPr>
          <p:cNvPr id="25" name="TextBox 24"/>
          <p:cNvSpPr txBox="1"/>
          <p:nvPr/>
        </p:nvSpPr>
        <p:spPr>
          <a:xfrm>
            <a:off x="1298448" y="3438144"/>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CLT shapes confirmed</a:t>
            </a:r>
          </a:p>
        </p:txBody>
      </p:sp>
      <p:sp>
        <p:nvSpPr>
          <p:cNvPr id="26" name="TextBox 25"/>
          <p:cNvSpPr txBox="1"/>
          <p:nvPr/>
        </p:nvSpPr>
        <p:spPr>
          <a:xfrm>
            <a:off x="1298448" y="3721607"/>
            <a:ext cx="5120640" cy="274320"/>
          </a:xfrm>
          <a:prstGeom prst="rect">
            <a:avLst/>
          </a:prstGeom>
          <a:noFill/>
        </p:spPr>
        <p:txBody>
          <a:bodyPr wrap="square" lIns="0" rIns="0" tIns="0" bIns="0" anchor="t">
            <a:spAutoFit/>
          </a:bodyPr>
          <a:lstStyle/>
          <a:p>
            <a:pPr algn="l">
              <a:spcAft>
                <a:spcPts val="0"/>
              </a:spcAft>
            </a:pPr>
            <a:r>
              <a:rPr sz="1050" b="0" i="0">
                <a:solidFill>
                  <a:srgbClr val="9AA3C7"/>
                </a:solidFill>
                <a:latin typeface="Segoe UI"/>
                <a:cs typeface="Segoe UI"/>
              </a:rPr>
              <a:t>Gaussian coordinates N(0, n/d); χ_d radii (Rayleigh, Maxwell)</a:t>
            </a:r>
          </a:p>
        </p:txBody>
      </p:sp>
      <p:sp>
        <p:nvSpPr>
          <p:cNvPr id="27" name="Oval 26"/>
          <p:cNvSpPr/>
          <p:nvPr/>
        </p:nvSpPr>
        <p:spPr>
          <a:xfrm>
            <a:off x="804672" y="4187951"/>
            <a:ext cx="329184" cy="329184"/>
          </a:xfrm>
          <a:prstGeom prst="ellipse">
            <a:avLst/>
          </a:prstGeom>
          <a:solidFill>
            <a:srgbClr val="F472B6">
              <a:alpha val="18000"/>
            </a:srgbClr>
          </a:solidFill>
          <a:ln w="12700">
            <a:solidFill>
              <a:srgbClr val="F472B6">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4672" y="4187951"/>
            <a:ext cx="329184" cy="329184"/>
          </a:xfrm>
          <a:prstGeom prst="rect">
            <a:avLst/>
          </a:prstGeom>
          <a:noFill/>
        </p:spPr>
        <p:txBody>
          <a:bodyPr wrap="square" lIns="0" rIns="0" tIns="0" bIns="0" anchor="ctr">
            <a:spAutoFit/>
          </a:bodyPr>
          <a:lstStyle/>
          <a:p>
            <a:pPr algn="ctr">
              <a:spcAft>
                <a:spcPts val="0"/>
              </a:spcAft>
            </a:pPr>
            <a:r>
              <a:rPr sz="1200" b="0" i="0">
                <a:solidFill>
                  <a:srgbClr val="F472B6"/>
                </a:solidFill>
                <a:latin typeface="Segoe UI Semibold"/>
                <a:cs typeface="Segoe UI Semibold"/>
              </a:rPr>
              <a:t>✓</a:t>
            </a:r>
          </a:p>
        </p:txBody>
      </p:sp>
      <p:sp>
        <p:nvSpPr>
          <p:cNvPr id="29" name="TextBox 28"/>
          <p:cNvSpPr txBox="1"/>
          <p:nvPr/>
        </p:nvSpPr>
        <p:spPr>
          <a:xfrm>
            <a:off x="1298448" y="4133087"/>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Pólya transition at </a:t>
            </a:r>
            <a:r>
              <a:rPr sz="1350" b="0" i="0">
                <a:solidFill>
                  <a:srgbClr val="E6E9F5"/>
                </a:solidFill>
                <a:latin typeface="Cambria Math"/>
                <a:cs typeface="Cambria Math"/>
              </a:rPr>
              <a:t>d = 3</a:t>
            </a:r>
          </a:p>
        </p:txBody>
      </p:sp>
      <p:sp>
        <p:nvSpPr>
          <p:cNvPr id="30" name="TextBox 29"/>
          <p:cNvSpPr txBox="1"/>
          <p:nvPr/>
        </p:nvSpPr>
        <p:spPr>
          <a:xfrm>
            <a:off x="1298448" y="4416551"/>
            <a:ext cx="5120640" cy="274320"/>
          </a:xfrm>
          <a:prstGeom prst="rect">
            <a:avLst/>
          </a:prstGeom>
          <a:noFill/>
        </p:spPr>
        <p:txBody>
          <a:bodyPr wrap="square" lIns="0" rIns="0" tIns="0" bIns="0" anchor="t">
            <a:spAutoFit/>
          </a:bodyPr>
          <a:lstStyle/>
          <a:p>
            <a:pPr algn="l">
              <a:spcAft>
                <a:spcPts val="0"/>
              </a:spcAft>
            </a:pPr>
            <a:r>
              <a:rPr sz="1050" b="0" i="0">
                <a:solidFill>
                  <a:srgbClr val="9AA3C7"/>
                </a:solidFill>
                <a:latin typeface="Segoe UI"/>
                <a:cs typeface="Segoe UI"/>
              </a:rPr>
              <a:t>3D return 0.325 vs 0.3405; 1D/2D keep climbing towards 1</a:t>
            </a:r>
          </a:p>
        </p:txBody>
      </p:sp>
      <p:sp>
        <p:nvSpPr>
          <p:cNvPr id="31" name="Oval 30"/>
          <p:cNvSpPr/>
          <p:nvPr/>
        </p:nvSpPr>
        <p:spPr>
          <a:xfrm>
            <a:off x="804672" y="4882895"/>
            <a:ext cx="329184" cy="329184"/>
          </a:xfrm>
          <a:prstGeom prst="ellipse">
            <a:avLst/>
          </a:prstGeom>
          <a:solidFill>
            <a:srgbClr val="34D399">
              <a:alpha val="18000"/>
            </a:srgbClr>
          </a:solidFill>
          <a:ln w="12700">
            <a:solidFill>
              <a:srgbClr val="34D399">
                <a:alpha val="8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4672" y="4882895"/>
            <a:ext cx="329184" cy="329184"/>
          </a:xfrm>
          <a:prstGeom prst="rect">
            <a:avLst/>
          </a:prstGeom>
          <a:noFill/>
        </p:spPr>
        <p:txBody>
          <a:bodyPr wrap="square" lIns="0" rIns="0" tIns="0" bIns="0" anchor="ctr">
            <a:spAutoFit/>
          </a:bodyPr>
          <a:lstStyle/>
          <a:p>
            <a:pPr algn="ctr">
              <a:spcAft>
                <a:spcPts val="0"/>
              </a:spcAft>
            </a:pPr>
            <a:r>
              <a:rPr sz="1200" b="0" i="0">
                <a:solidFill>
                  <a:srgbClr val="34D399"/>
                </a:solidFill>
                <a:latin typeface="Segoe UI Semibold"/>
                <a:cs typeface="Segoe UI Semibold"/>
              </a:rPr>
              <a:t>✓</a:t>
            </a:r>
          </a:p>
        </p:txBody>
      </p:sp>
      <p:sp>
        <p:nvSpPr>
          <p:cNvPr id="33" name="TextBox 32"/>
          <p:cNvSpPr txBox="1"/>
          <p:nvPr/>
        </p:nvSpPr>
        <p:spPr>
          <a:xfrm>
            <a:off x="1298448" y="4828031"/>
            <a:ext cx="5120640" cy="292608"/>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Monte Carlo error </a:t>
            </a:r>
            <a:r>
              <a:rPr sz="1350" b="0" i="0">
                <a:solidFill>
                  <a:srgbClr val="E6E9F5"/>
                </a:solidFill>
                <a:latin typeface="Cambria Math"/>
                <a:cs typeface="Cambria Math"/>
              </a:rPr>
              <a:t>∝ 1/√N</a:t>
            </a:r>
          </a:p>
        </p:txBody>
      </p:sp>
      <p:sp>
        <p:nvSpPr>
          <p:cNvPr id="34" name="TextBox 33"/>
          <p:cNvSpPr txBox="1"/>
          <p:nvPr/>
        </p:nvSpPr>
        <p:spPr>
          <a:xfrm>
            <a:off x="1298448" y="5111495"/>
            <a:ext cx="5120640" cy="274320"/>
          </a:xfrm>
          <a:prstGeom prst="rect">
            <a:avLst/>
          </a:prstGeom>
          <a:noFill/>
        </p:spPr>
        <p:txBody>
          <a:bodyPr wrap="square" lIns="0" rIns="0" tIns="0" bIns="0" anchor="t">
            <a:spAutoFit/>
          </a:bodyPr>
          <a:lstStyle/>
          <a:p>
            <a:pPr algn="l">
              <a:spcAft>
                <a:spcPts val="0"/>
              </a:spcAft>
            </a:pPr>
            <a:r>
              <a:rPr sz="1050" b="0" i="0">
                <a:solidFill>
                  <a:srgbClr val="9AA3C7"/>
                </a:solidFill>
                <a:latin typeface="Segoe UI"/>
                <a:cs typeface="Segoe UI"/>
              </a:rPr>
              <a:t>measured slope -0.49</a:t>
            </a:r>
          </a:p>
        </p:txBody>
      </p:sp>
      <p:sp>
        <p:nvSpPr>
          <p:cNvPr id="35" name="Rounded Rectangle 34"/>
          <p:cNvSpPr/>
          <p:nvPr/>
        </p:nvSpPr>
        <p:spPr>
          <a:xfrm>
            <a:off x="548640" y="5760720"/>
            <a:ext cx="6035040" cy="512064"/>
          </a:xfrm>
          <a:prstGeom prst="roundRect">
            <a:avLst>
              <a:gd name="adj" fmla="val 25000"/>
            </a:avLst>
          </a:prstGeom>
          <a:solidFill>
            <a:srgbClr val="121C3D"/>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5760720"/>
            <a:ext cx="6035040" cy="512064"/>
          </a:xfrm>
          <a:prstGeom prst="rect">
            <a:avLst/>
          </a:prstGeom>
          <a:noFill/>
        </p:spPr>
        <p:txBody>
          <a:bodyPr wrap="square" lIns="0" rIns="0" tIns="0" bIns="0" anchor="ctr">
            <a:spAutoFit/>
          </a:bodyPr>
          <a:lstStyle/>
          <a:p>
            <a:pPr algn="ctr">
              <a:spcAft>
                <a:spcPts val="0"/>
              </a:spcAft>
            </a:pPr>
            <a:r>
              <a:rPr sz="1300" b="0" i="0">
                <a:solidFill>
                  <a:srgbClr val="E6E9F5"/>
                </a:solidFill>
                <a:latin typeface="Segoe UI"/>
                <a:cs typeface="Segoe UI"/>
              </a:rPr>
              <a:t>Simple microscopic randomness  →  </a:t>
            </a:r>
            <a:r>
              <a:rPr sz="1300" b="0" i="0">
                <a:solidFill>
                  <a:srgbClr val="34D399"/>
                </a:solidFill>
                <a:latin typeface="Segoe UI Semibold"/>
                <a:cs typeface="Segoe UI Semibold"/>
              </a:rPr>
              <a:t>precise, predictable macroscopic laws</a:t>
            </a:r>
          </a:p>
        </p:txBody>
      </p:sp>
      <p:sp>
        <p:nvSpPr>
          <p:cNvPr id="37" name="Rounded Rectangle 36"/>
          <p:cNvSpPr/>
          <p:nvPr/>
        </p:nvSpPr>
        <p:spPr>
          <a:xfrm>
            <a:off x="6720840" y="1554480"/>
            <a:ext cx="4919472" cy="2148840"/>
          </a:xfrm>
          <a:prstGeom prst="roundRect">
            <a:avLst>
              <a:gd name="adj" fmla="val 5957"/>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949440" y="1773936"/>
            <a:ext cx="54864" cy="237744"/>
          </a:xfrm>
          <a:prstGeom prst="roundRect">
            <a:avLst>
              <a:gd name="adj" fmla="val 50000"/>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04888" y="1709928"/>
            <a:ext cx="4370832"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Limitations</a:t>
            </a:r>
          </a:p>
        </p:txBody>
      </p:sp>
      <p:sp>
        <p:nvSpPr>
          <p:cNvPr id="40" name="TextBox 39"/>
          <p:cNvSpPr txBox="1"/>
          <p:nvPr/>
        </p:nvSpPr>
        <p:spPr>
          <a:xfrm>
            <a:off x="6967728" y="2011680"/>
            <a:ext cx="4526280" cy="1645920"/>
          </a:xfrm>
          <a:prstGeom prst="rect">
            <a:avLst/>
          </a:prstGeom>
          <a:noFill/>
        </p:spPr>
        <p:txBody>
          <a:bodyPr wrap="square" lIns="0" rIns="0" tIns="0" bIns="0" anchor="t">
            <a:spAutoFit/>
          </a:bodyPr>
          <a:lstStyle/>
          <a:p>
            <a:pPr algn="l">
              <a:lnSpc>
                <a:spcPct val="105000"/>
              </a:lnSpc>
              <a:spcAft>
                <a:spcPts val="300"/>
              </a:spcAft>
            </a:pPr>
            <a:r>
              <a:rPr sz="1050" b="0" i="0">
                <a:solidFill>
                  <a:srgbClr val="F472B6"/>
                </a:solidFill>
                <a:latin typeface="Segoe UI"/>
                <a:cs typeface="Segoe UI"/>
              </a:rPr>
              <a:t>▸  </a:t>
            </a:r>
            <a:r>
              <a:rPr sz="1050" b="0" i="0">
                <a:solidFill>
                  <a:srgbClr val="9AA3C7"/>
                </a:solidFill>
                <a:latin typeface="Segoe UI"/>
                <a:cs typeface="Segoe UI"/>
              </a:rPr>
              <a:t>A finite simulation can estimate, but never prove, infinite-time theorems</a:t>
            </a:r>
          </a:p>
          <a:p>
            <a:pPr algn="l">
              <a:lnSpc>
                <a:spcPct val="105000"/>
              </a:lnSpc>
              <a:spcAft>
                <a:spcPts val="300"/>
              </a:spcAft>
            </a:pPr>
            <a:r>
              <a:rPr sz="1050" b="0" i="0">
                <a:solidFill>
                  <a:srgbClr val="F472B6"/>
                </a:solidFill>
                <a:latin typeface="Segoe UI"/>
                <a:cs typeface="Segoe UI"/>
              </a:rPr>
              <a:t>▸  </a:t>
            </a:r>
            <a:r>
              <a:rPr sz="1050" b="0" i="0">
                <a:solidFill>
                  <a:srgbClr val="9AA3C7"/>
                </a:solidFill>
                <a:latin typeface="Segoe UI"/>
                <a:cs typeface="Segoe UI"/>
              </a:rPr>
              <a:t>Monte Carlo noise; uncertainty shrinks only as </a:t>
            </a:r>
            <a:r>
              <a:rPr sz="1050" b="0" i="0">
                <a:solidFill>
                  <a:srgbClr val="9AA3C7"/>
                </a:solidFill>
                <a:latin typeface="Cambria Math"/>
                <a:cs typeface="Cambria Math"/>
              </a:rPr>
              <a:t>1/√N</a:t>
            </a:r>
          </a:p>
          <a:p>
            <a:pPr algn="l">
              <a:lnSpc>
                <a:spcPct val="105000"/>
              </a:lnSpc>
              <a:spcAft>
                <a:spcPts val="300"/>
              </a:spcAft>
            </a:pPr>
            <a:r>
              <a:rPr sz="1050" b="0" i="0">
                <a:solidFill>
                  <a:srgbClr val="F472B6"/>
                </a:solidFill>
                <a:latin typeface="Segoe UI"/>
                <a:cs typeface="Segoe UI"/>
              </a:rPr>
              <a:t>▸  </a:t>
            </a:r>
            <a:r>
              <a:rPr sz="1050" b="0" i="0">
                <a:solidFill>
                  <a:srgbClr val="9AA3C7"/>
                </a:solidFill>
                <a:latin typeface="Segoe UI"/>
                <a:cs typeface="Segoe UI"/>
              </a:rPr>
              <a:t>4D / 5D can only be visualised through 2-D projections</a:t>
            </a:r>
          </a:p>
          <a:p>
            <a:pPr algn="l">
              <a:lnSpc>
                <a:spcPct val="105000"/>
              </a:lnSpc>
              <a:spcAft>
                <a:spcPts val="300"/>
              </a:spcAft>
            </a:pPr>
            <a:r>
              <a:rPr sz="1050" b="0" i="0">
                <a:solidFill>
                  <a:srgbClr val="F472B6"/>
                </a:solidFill>
                <a:latin typeface="Segoe UI"/>
                <a:cs typeface="Segoe UI"/>
              </a:rPr>
              <a:t>▸  </a:t>
            </a:r>
            <a:r>
              <a:rPr sz="1050" b="0" i="0">
                <a:solidFill>
                  <a:srgbClr val="9AA3C7"/>
                </a:solidFill>
                <a:latin typeface="Segoe UI"/>
                <a:cs typeface="Segoe UI"/>
              </a:rPr>
              <a:t>CLT is asymptotic: finite-n and lattice corrections remain</a:t>
            </a:r>
          </a:p>
        </p:txBody>
      </p:sp>
      <p:sp>
        <p:nvSpPr>
          <p:cNvPr id="41" name="Rounded Rectangle 40"/>
          <p:cNvSpPr/>
          <p:nvPr/>
        </p:nvSpPr>
        <p:spPr>
          <a:xfrm>
            <a:off x="6720840" y="3822191"/>
            <a:ext cx="4919472" cy="1243584"/>
          </a:xfrm>
          <a:prstGeom prst="roundRect">
            <a:avLst>
              <a:gd name="adj" fmla="val 1029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6949440" y="4041648"/>
            <a:ext cx="54864" cy="237744"/>
          </a:xfrm>
          <a:prstGeom prst="roundRect">
            <a:avLst>
              <a:gd name="adj" fmla="val 50000"/>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104888" y="3977639"/>
            <a:ext cx="4370832" cy="365760"/>
          </a:xfrm>
          <a:prstGeom prst="rect">
            <a:avLst/>
          </a:prstGeom>
          <a:noFill/>
        </p:spPr>
        <p:txBody>
          <a:bodyPr wrap="square" lIns="0" rIns="0" tIns="0" bIns="0" anchor="t">
            <a:spAutoFit/>
          </a:bodyPr>
          <a:lstStyle/>
          <a:p>
            <a:pPr algn="l">
              <a:spcAft>
                <a:spcPts val="0"/>
              </a:spcAft>
            </a:pPr>
            <a:r>
              <a:rPr sz="1350" b="0" i="0">
                <a:solidFill>
                  <a:srgbClr val="E6E9F5"/>
                </a:solidFill>
                <a:latin typeface="Segoe UI Semibold"/>
                <a:cs typeface="Segoe UI Semibold"/>
              </a:rPr>
              <a:t>Future work</a:t>
            </a:r>
          </a:p>
        </p:txBody>
      </p:sp>
      <p:sp>
        <p:nvSpPr>
          <p:cNvPr id="44" name="TextBox 43"/>
          <p:cNvSpPr txBox="1"/>
          <p:nvPr/>
        </p:nvSpPr>
        <p:spPr>
          <a:xfrm>
            <a:off x="6967728" y="4261104"/>
            <a:ext cx="4526280" cy="777240"/>
          </a:xfrm>
          <a:prstGeom prst="rect">
            <a:avLst/>
          </a:prstGeom>
          <a:noFill/>
        </p:spPr>
        <p:txBody>
          <a:bodyPr wrap="square" lIns="0" rIns="0" tIns="0" bIns="0" anchor="t">
            <a:spAutoFit/>
          </a:bodyPr>
          <a:lstStyle/>
          <a:p>
            <a:pPr algn="l">
              <a:lnSpc>
                <a:spcPct val="108000"/>
              </a:lnSpc>
              <a:spcAft>
                <a:spcPts val="0"/>
              </a:spcAft>
            </a:pPr>
            <a:r>
              <a:rPr sz="1050" b="0" i="0">
                <a:solidFill>
                  <a:srgbClr val="9AA3C7"/>
                </a:solidFill>
                <a:latin typeface="Segoe UI"/>
                <a:cs typeface="Segoe UI"/>
              </a:rPr>
              <a:t>Self-avoiding walks  ·  Lévy flights (</a:t>
            </a:r>
            <a:r>
              <a:rPr sz="1050" b="0" i="0">
                <a:solidFill>
                  <a:srgbClr val="9AA3C7"/>
                </a:solidFill>
                <a:latin typeface="Cambria Math"/>
                <a:cs typeface="Cambria Math"/>
              </a:rPr>
              <a:t>α ≠ ½</a:t>
            </a:r>
            <a:r>
              <a:rPr sz="1050" b="0" i="0">
                <a:solidFill>
                  <a:srgbClr val="9AA3C7"/>
                </a:solidFill>
                <a:latin typeface="Segoe UI"/>
                <a:cs typeface="Segoe UI"/>
              </a:rPr>
              <a:t>)  ·  walks on graphs and networks  ·  exact return probabilities via Green's functions</a:t>
            </a:r>
          </a:p>
        </p:txBody>
      </p:sp>
      <p:sp>
        <p:nvSpPr>
          <p:cNvPr id="45" name="Rounded Rectangle 44"/>
          <p:cNvSpPr/>
          <p:nvPr/>
        </p:nvSpPr>
        <p:spPr>
          <a:xfrm>
            <a:off x="6720840" y="5184648"/>
            <a:ext cx="4919472" cy="1088136"/>
          </a:xfrm>
          <a:prstGeom prst="roundRect">
            <a:avLst>
              <a:gd name="adj" fmla="val 11764"/>
            </a:avLst>
          </a:prstGeom>
          <a:solidFill>
            <a:srgbClr val="0F1630"/>
          </a:solidFill>
          <a:ln w="9525">
            <a:solidFill>
              <a:srgbClr val="1F2A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6949440" y="5404104"/>
            <a:ext cx="54864" cy="237744"/>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104888" y="5340096"/>
            <a:ext cx="4370832" cy="365760"/>
          </a:xfrm>
          <a:prstGeom prst="rect">
            <a:avLst/>
          </a:prstGeom>
          <a:noFill/>
        </p:spPr>
        <p:txBody>
          <a:bodyPr wrap="square" lIns="0" rIns="0" tIns="0" bIns="0" anchor="t">
            <a:spAutoFit/>
          </a:bodyPr>
          <a:lstStyle/>
          <a:p>
            <a:pPr algn="l">
              <a:spcAft>
                <a:spcPts val="0"/>
              </a:spcAft>
            </a:pPr>
            <a:r>
              <a:rPr sz="1150" b="0" i="0">
                <a:solidFill>
                  <a:srgbClr val="E6E9F5"/>
                </a:solidFill>
                <a:latin typeface="Segoe UI Semibold"/>
                <a:cs typeface="Segoe UI Semibold"/>
              </a:rPr>
              <a:t>References</a:t>
            </a:r>
          </a:p>
        </p:txBody>
      </p:sp>
      <p:sp>
        <p:nvSpPr>
          <p:cNvPr id="48" name="TextBox 47"/>
          <p:cNvSpPr txBox="1"/>
          <p:nvPr/>
        </p:nvSpPr>
        <p:spPr>
          <a:xfrm>
            <a:off x="6967728" y="5559552"/>
            <a:ext cx="4572000" cy="731520"/>
          </a:xfrm>
          <a:prstGeom prst="rect">
            <a:avLst/>
          </a:prstGeom>
          <a:noFill/>
        </p:spPr>
        <p:txBody>
          <a:bodyPr wrap="square" lIns="0" rIns="0" tIns="0" bIns="0" anchor="t">
            <a:spAutoFit/>
          </a:bodyPr>
          <a:lstStyle/>
          <a:p>
            <a:pPr algn="l">
              <a:spcAft>
                <a:spcPts val="100"/>
              </a:spcAft>
            </a:pPr>
            <a:r>
              <a:rPr sz="900" b="0" i="0">
                <a:solidFill>
                  <a:srgbClr val="5B6690"/>
                </a:solidFill>
                <a:latin typeface="Segoe UI"/>
                <a:cs typeface="Segoe UI"/>
              </a:rPr>
              <a:t>Pólya (1921) Math. Ann. 84  ·  Watson (1939) Q. J. Math. 10</a:t>
            </a:r>
          </a:p>
          <a:p>
            <a:pPr algn="l">
              <a:spcAft>
                <a:spcPts val="100"/>
              </a:spcAft>
            </a:pPr>
            <a:r>
              <a:rPr sz="900" b="0" i="0">
                <a:solidFill>
                  <a:srgbClr val="5B6690"/>
                </a:solidFill>
                <a:latin typeface="Segoe UI"/>
                <a:cs typeface="Segoe UI"/>
              </a:rPr>
              <a:t>Feller (1968) Probability Theory, Vol. 1  ·  Spitzer (1964)</a:t>
            </a:r>
          </a:p>
          <a:p>
            <a:pPr algn="l">
              <a:spcAft>
                <a:spcPts val="0"/>
              </a:spcAft>
            </a:pPr>
            <a:r>
              <a:rPr sz="900" b="0" i="0">
                <a:solidFill>
                  <a:srgbClr val="5B6690"/>
                </a:solidFill>
                <a:latin typeface="Segoe UI"/>
                <a:cs typeface="Segoe UI"/>
              </a:rPr>
              <a:t>Lawler &amp; Limic (2010) Random Walk: A Modern Introduction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